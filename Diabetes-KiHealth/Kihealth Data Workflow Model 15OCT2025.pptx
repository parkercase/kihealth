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4"/>
  </p:notesMasterIdLst>
  <p:sldIdLst>
    <p:sldId id="277" r:id="rId2"/>
    <p:sldId id="263" r:id="rId3"/>
    <p:sldId id="275" r:id="rId4"/>
    <p:sldId id="276" r:id="rId5"/>
    <p:sldId id="274" r:id="rId6"/>
    <p:sldId id="273" r:id="rId7"/>
    <p:sldId id="265" r:id="rId8"/>
    <p:sldId id="266" r:id="rId9"/>
    <p:sldId id="267" r:id="rId10"/>
    <p:sldId id="268" r:id="rId11"/>
    <p:sldId id="269" r:id="rId12"/>
    <p:sldId id="270" r:id="rId13"/>
    <p:sldId id="271" r:id="rId14"/>
    <p:sldId id="272" r:id="rId15"/>
    <p:sldId id="264" r:id="rId16"/>
    <p:sldId id="256" r:id="rId17"/>
    <p:sldId id="257" r:id="rId18"/>
    <p:sldId id="258" r:id="rId19"/>
    <p:sldId id="259" r:id="rId20"/>
    <p:sldId id="260" r:id="rId21"/>
    <p:sldId id="261" r:id="rId22"/>
    <p:sldId id="262" r:id="rId23"/>
    <p:sldId id="278" r:id="rId30"/>
    <p:sldId id="279" r:id="rId31"/>
    <p:sldId id="280" r:id="rId32"/>
    <p:sldId id="281" r:id="rId3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432">
          <p15:clr>
            <a:srgbClr val="747775"/>
          </p15:clr>
        </p15:guide>
        <p15:guide id="2" orient="horz" pos="162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arshall Jaroch" initials="" lastIdx="15" clrIdx="0"/>
  <p:cmAuthor id="1" name="Ioan C" initials="" lastIdx="13"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85F696"/>
    <a:srgbClr val="FF7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853"/>
    <p:restoredTop sz="94716"/>
  </p:normalViewPr>
  <p:slideViewPr>
    <p:cSldViewPr snapToGrid="0">
      <p:cViewPr varScale="1">
        <p:scale>
          <a:sx n="218" d="100"/>
          <a:sy n="218" d="100"/>
        </p:scale>
        <p:origin x="600" y="192"/>
      </p:cViewPr>
      <p:guideLst>
        <p:guide pos="432"/>
        <p:guide orient="horz" pos="16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commentAuthors" Target="commentAuthors.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4-12-11T19:56:21.821" idx="1">
    <p:pos x="89" y="1056"/>
    <p:text>Do you Aliquote the Patient samples after receiving and use the aliquotes later or do you just take the 500uL when you run the extraction?</p:text>
  </p:cm>
  <p:cm authorId="0" dt="2024-12-11T20:05:20.428" idx="1">
    <p:pos x="89" y="1056"/>
    <p:text>We will need to decide on relevant info to retain on the aliquot tubes. I have been using patient name, intended use of sample (e.g. "cfDNA Sample"), Sample type (serum/plasma and blood specimen tube type), sample volume, and date prepared (aliquoted).</p:text>
  </p:cm>
  <p:cm authorId="0" dt="2024-12-11T20:05:20.428" idx="2">
    <p:pos x="89" y="1056"/>
    <p:text>I aliquot the plasma/serum and use as needed. Each aliquot contains 500 ul and I have been reezing them after I get two good cfDNA extracts. f</p:text>
  </p:cm>
</p:cmLst>
</file>

<file path=ppt/comments/comment2.xml><?xml version="1.0" encoding="utf-8"?>
<p:cmLst xmlns:a="http://schemas.openxmlformats.org/drawingml/2006/main" xmlns:r="http://schemas.openxmlformats.org/officeDocument/2006/relationships" xmlns:p="http://schemas.openxmlformats.org/presentationml/2006/main">
  <p:cm authorId="0" dt="2024-12-09T01:05:15.591" idx="3">
    <p:pos x="121" y="834"/>
    <p:text>Here is the plate map I have been using for the cfDNA extraction and for storage https://docs.google.com/document/d/1zlURGToVVKnw2BwGcBSa9Z_i9c_yUP_JkKsqblcuiKw/edit?usp=drive_link</p:text>
  </p:cm>
</p:cmLst>
</file>

<file path=ppt/comments/comment3.xml><?xml version="1.0" encoding="utf-8"?>
<p:cmLst xmlns:a="http://schemas.openxmlformats.org/drawingml/2006/main" xmlns:r="http://schemas.openxmlformats.org/officeDocument/2006/relationships" xmlns:p="http://schemas.openxmlformats.org/presentationml/2006/main">
  <p:cm authorId="0" dt="2024-12-09T01:11:10.244" idx="4">
    <p:pos x="100" y="1052"/>
    <p:text>We can use the "KiID-Sample" numbers assigned in the TR for tube labels. The analyst will manually enter this identifier when they are reading each tube on the DS-11.</p:text>
  </p:cm>
</p:cmLst>
</file>

<file path=ppt/comments/comment4.xml><?xml version="1.0" encoding="utf-8"?>
<p:cmLst xmlns:a="http://schemas.openxmlformats.org/drawingml/2006/main" xmlns:r="http://schemas.openxmlformats.org/officeDocument/2006/relationships" xmlns:p="http://schemas.openxmlformats.org/presentationml/2006/main">
  <p:cm authorId="1" dt="2024-12-22T13:23:52.834" idx="2">
    <p:pos x="89" y="1056"/>
    <p:text>Marshall, can you populate the plate above with samples for a typical production run? Would you have first column MSRE+ samples 1 through 8 and second column MSRE- samples 1 through 8 and so on, for a max total of 48 samples / plate?</p:text>
  </p:cm>
  <p:cm authorId="0" dt="2024-12-22T13:45:20.550" idx="6">
    <p:pos x="89" y="1056"/>
    <p:text>I like to load the samples horizontally in the rows so that I can transfer the samples to the ddPCR plate with the 12 channel  pipette. I filled a second map underneath your map.</p:text>
  </p:cm>
  <p:cm authorId="1" dt="2024-12-22T13:57:20.683" idx="3">
    <p:pos x="89" y="1056"/>
    <p:text>Perfect! Cornel needs to have exactly these maps configurations so that he can code them.</p:text>
  </p:cm>
  <p:cm authorId="1" dt="2024-12-22T13:58:28.378" idx="4">
    <p:pos x="89" y="1056"/>
    <p:text>Then for the ddPCR, can I use the plate map that you populated in the combined SOP?</p:text>
  </p:cm>
  <p:cm authorId="1" dt="2024-12-22T14:04:37.409" idx="5">
    <p:pos x="89" y="1056"/>
    <p:text>Also, I see that you populated PC+ and PC- in the fist column of the HpaII Digestion Plate. Remind me, are these controls for the digestion step? If yes, what volume of those controls do we add?</p:text>
  </p:cm>
  <p:cm authorId="0" dt="2024-12-22T14:24:37.203" idx="7">
    <p:pos x="89" y="1056"/>
    <p:text>I have been using the Endoc-BH5 gDNA as a positive control.  It functions as a ddPCR control (ins and ttc5 amplification) and as a control for HpaII. I use 17 uL of a 2ng/uL working stock I prepare fresh for each assay.</p:text>
  </p:cm>
  <p:cm authorId="1" dt="2024-12-22T14:55:15.610" idx="6">
    <p:pos x="89" y="1056"/>
    <p:text>Perfect, thanks a lot</p:text>
  </p:cm>
  <p:cm authorId="1" dt="2024-12-22T14:57:43.553" idx="7">
    <p:pos x="89" y="1056"/>
    <p:text>Also, can you take a look at calculations spreadsheet and let me know for each mix where we have n reactions, how much extra volume do you add in that mix so that we give Cornel the exact number (e.g., 1, 2, 5 extra reactions depending on how small are the volumes loaded?)</p:text>
  </p:cm>
  <p:cm authorId="1" dt="2024-12-22T15:09:59.659" idx="8">
    <p:pos x="89" y="1056"/>
    <p:text>One more question about the Positive control mentioned above (sorry for the confusion). So we have Endoc-BH5 gDNA as a positive control going through the HpaII Digestion and ddPCR. The PC+ and PC- labeling is the Endoc-BH5 gDNA either treated with MSRE (+) or not treated with MSRE (-), correct?</p:text>
  </p:cm>
  <p:cm authorId="0" dt="2024-12-22T15:16:59.935" idx="8">
    <p:pos x="89" y="1056"/>
    <p:text>Correct. PC takes up less space lol. I will get to the calculations spreadsheet when I get home today.</p:text>
  </p:cm>
  <p:cm authorId="0" dt="2024-12-22T15:29:49.441" idx="5">
    <p:pos x="89" y="1056"/>
    <p:text>I have been preparing the HpaII digestions in a non-skirted PCR plate to facilitate ddPCR loading by mutlichannel and to utilize a thermocycler for the digestion. Here is the map I use for those plates. https://docs.google.com/document/d/1R1nV5Ws0Z5PKII4x1A-IQSbJugQJvxwd28Evm0OoTaY/edit?usp=drive_link</p:text>
  </p:cm>
  <p:cm authorId="1" dt="2024-12-22T15:29:49.441" idx="9">
    <p:pos x="89" y="1056"/>
    <p:text>Thank you Marshall, not a problems. I didn’t even expect that you will reply so quick on a Sunday morning, much appreciated!</p:text>
  </p:cm>
</p:cmLst>
</file>

<file path=ppt/comments/comment5.xml><?xml version="1.0" encoding="utf-8"?>
<p:cmLst xmlns:a="http://schemas.openxmlformats.org/drawingml/2006/main" xmlns:r="http://schemas.openxmlformats.org/officeDocument/2006/relationships" xmlns:p="http://schemas.openxmlformats.org/presentationml/2006/main">
  <p:cm authorId="0" dt="2024-12-09T01:19:51.528" idx="14">
    <p:pos x="143" y="1210"/>
    <p:text>There is an example ddPCR plate shown in the SOP but there is a separate attachment plate map the analyst should fill out for each ddPCR plate prepared.
https://docs.google.com/document/d/173hxiI6G_87jJ8yfB_XGspvxU_PjxQJC4LZCfr3KyJU/edit?usp=drive_link</p:text>
  </p:cm>
  <p:cm authorId="0" dt="2024-12-09T01:21:36.915" idx="13">
    <p:pos x="1131" y="1210"/>
    <p:text>There are two ways about this, we can either make a table that walks the analyst through the process or we can hard code volumes for 3, 6, 9, 12, etc... columns.</p:text>
  </p:cm>
  <p:cm authorId="1" dt="2024-12-11T19:35:52.456" idx="10">
    <p:pos x="2589" y="1210"/>
    <p:text>Event count droplets represents the "Accepted Droplets" tab in the QX200 spreadsheet, correct?</p:text>
  </p:cm>
  <p:cm authorId="1" dt="2024-12-11T19:38:12.186" idx="11">
    <p:pos x="2589" y="1210"/>
    <p:text>The amplitude of positive droplets does not seem to be represented in the QX200 spreadsheet. Is that something that is being evaluated on the software before generating the spreadsheet?</p:text>
  </p:cm>
  <p:cm authorId="0" dt="2024-12-11T19:50:20.160" idx="10">
    <p:pos x="2589" y="1210"/>
    <p:text>We can either do it qualitatively by the analyst or we can enable the average positive droplet amplitude data column on the data export. It's a nice metric to keep track of.</p:text>
  </p:cm>
  <p:cm authorId="0" dt="2024-12-11T19:50:58.644" idx="11">
    <p:pos x="2589" y="1210"/>
    <p:text>Yes, accepted droplets is total number of events.</p:text>
  </p:cm>
  <p:cm authorId="1" dt="2024-12-11T20:28:17.167" idx="12">
    <p:pos x="2589" y="1210"/>
    <p:text>I'd like to add this data to data export so that we can keep track and build the decision tree.</p:text>
  </p:cm>
  <p:cm authorId="0" dt="2024-12-11T20:35:15.578" idx="12">
    <p:pos x="2589" y="1210"/>
    <p:text>Sure, when I get back to the lab I will list all the options we can select for export.</p:text>
  </p:cm>
  <p:cm authorId="0" dt="2024-12-11T20:40:49.369" idx="9">
    <p:pos x="2589" y="1210"/>
    <p:text>ddPCR acceptance criteria:
Event counts (droplets) &gt;10000 per well
Amplitudes of positive droplets should be within expected values based on trending data.</p:text>
  </p:cm>
  <p:cm authorId="1" dt="2024-12-11T20:40:49.369" idx="13">
    <p:pos x="2589" y="1210"/>
    <p:text>Perfect</p:text>
  </p:cm>
</p:cmLst>
</file>

<file path=ppt/comments/comment6.xml><?xml version="1.0" encoding="utf-8"?>
<p:cmLst xmlns:a="http://schemas.openxmlformats.org/drawingml/2006/main" xmlns:r="http://schemas.openxmlformats.org/officeDocument/2006/relationships" xmlns:p="http://schemas.openxmlformats.org/presentationml/2006/main">
  <p:cm authorId="0" dt="2024-12-09T02:28:33.949" idx="15">
    <p:pos x="2589" y="1146"/>
    <p:text>We need to decide on a limit for negative control wells. Typically, some value lower than the LOQ for the assay.
The positive control should have acceptance criteria based on the expected copies of INS and TTC5 (monitoring ddPCR assay performance) and %Unmethylated INS (to control for HpaII activity)</p:text>
  </p:cm>
</p: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085953D-5707-4E21-BE33-041E1976ABF0}" type="doc">
      <dgm:prSet loTypeId="urn:microsoft.com/office/officeart/2005/8/layout/hChevron3" loCatId="process" qsTypeId="urn:microsoft.com/office/officeart/2005/8/quickstyle/simple1" qsCatId="simple" csTypeId="urn:microsoft.com/office/officeart/2005/8/colors/accent1_2" csCatId="accent1" phldr="1"/>
      <dgm:spPr/>
    </dgm:pt>
    <dgm:pt modelId="{5783DC9B-DE17-41F6-A65C-0FE69B596323}">
      <dgm:prSet phldrT="[Text]"/>
      <dgm:spPr>
        <a:solidFill>
          <a:srgbClr val="00B050"/>
        </a:solidFill>
      </dgm:spPr>
      <dgm:t>
        <a:bodyPr/>
        <a:lstStyle/>
        <a:p>
          <a:r>
            <a:rPr lang="en-US" dirty="0"/>
            <a:t>Sample registration</a:t>
          </a:r>
        </a:p>
      </dgm:t>
    </dgm:pt>
    <dgm:pt modelId="{ED80C0A9-763D-4ACC-9F50-4C03A3844655}" type="parTrans" cxnId="{CA5949A8-3B71-4281-8E85-BA54A0BA32AA}">
      <dgm:prSet/>
      <dgm:spPr/>
      <dgm:t>
        <a:bodyPr/>
        <a:lstStyle/>
        <a:p>
          <a:endParaRPr lang="en-US"/>
        </a:p>
      </dgm:t>
    </dgm:pt>
    <dgm:pt modelId="{25FB9107-F674-419A-B451-668B2458AE3E}" type="sibTrans" cxnId="{CA5949A8-3B71-4281-8E85-BA54A0BA32AA}">
      <dgm:prSet/>
      <dgm:spPr/>
      <dgm:t>
        <a:bodyPr/>
        <a:lstStyle/>
        <a:p>
          <a:endParaRPr lang="en-US"/>
        </a:p>
      </dgm:t>
    </dgm:pt>
    <dgm:pt modelId="{DE38C539-41A9-4E07-81AC-BEB92589C108}">
      <dgm:prSet phldrT="[Text]"/>
      <dgm:spPr/>
      <dgm:t>
        <a:bodyPr/>
        <a:lstStyle/>
        <a:p>
          <a:r>
            <a:rPr lang="en-US" dirty="0"/>
            <a:t>Sample Collection</a:t>
          </a:r>
        </a:p>
      </dgm:t>
    </dgm:pt>
    <dgm:pt modelId="{0915026C-9848-48A5-81A8-E6C9D3DB28FC}" type="parTrans" cxnId="{3465EC98-82EB-4FC4-B8BC-F1E848456BE0}">
      <dgm:prSet/>
      <dgm:spPr/>
      <dgm:t>
        <a:bodyPr/>
        <a:lstStyle/>
        <a:p>
          <a:endParaRPr lang="en-US"/>
        </a:p>
      </dgm:t>
    </dgm:pt>
    <dgm:pt modelId="{F6EDBD7B-0772-4C1A-AFDB-0B9A717CF845}" type="sibTrans" cxnId="{3465EC98-82EB-4FC4-B8BC-F1E848456BE0}">
      <dgm:prSet/>
      <dgm:spPr/>
      <dgm:t>
        <a:bodyPr/>
        <a:lstStyle/>
        <a:p>
          <a:endParaRPr lang="en-US"/>
        </a:p>
      </dgm:t>
    </dgm:pt>
    <dgm:pt modelId="{83FD66CD-0EFC-4B14-97FD-BB1261AA766E}">
      <dgm:prSet phldrT="[Text]"/>
      <dgm:spPr/>
      <dgm:t>
        <a:bodyPr/>
        <a:lstStyle/>
        <a:p>
          <a:r>
            <a:rPr lang="en-US" dirty="0"/>
            <a:t>Accessioning</a:t>
          </a:r>
        </a:p>
      </dgm:t>
    </dgm:pt>
    <dgm:pt modelId="{068DC544-C879-499A-AF7C-22156E57179F}" type="parTrans" cxnId="{5612C1A3-AD00-45D3-9F35-21372AAF0E60}">
      <dgm:prSet/>
      <dgm:spPr/>
      <dgm:t>
        <a:bodyPr/>
        <a:lstStyle/>
        <a:p>
          <a:endParaRPr lang="en-US"/>
        </a:p>
      </dgm:t>
    </dgm:pt>
    <dgm:pt modelId="{E94ED2B4-5985-48A1-9753-06F8A9F33384}" type="sibTrans" cxnId="{5612C1A3-AD00-45D3-9F35-21372AAF0E60}">
      <dgm:prSet/>
      <dgm:spPr/>
      <dgm:t>
        <a:bodyPr/>
        <a:lstStyle/>
        <a:p>
          <a:endParaRPr lang="en-US"/>
        </a:p>
      </dgm:t>
    </dgm:pt>
    <dgm:pt modelId="{8F68D21A-4524-40A1-8C5A-9B0ACA5B8F0D}">
      <dgm:prSet phldrT="[Text]"/>
      <dgm:spPr/>
      <dgm:t>
        <a:bodyPr/>
        <a:lstStyle/>
        <a:p>
          <a:r>
            <a:rPr lang="en-US" dirty="0"/>
            <a:t>Interpretation</a:t>
          </a:r>
        </a:p>
      </dgm:t>
    </dgm:pt>
    <dgm:pt modelId="{0B083E9D-E5FF-4E88-8E20-229CB8B1EE39}" type="parTrans" cxnId="{49902246-C0B5-4E2C-9F93-C038D4CC6D2B}">
      <dgm:prSet/>
      <dgm:spPr/>
      <dgm:t>
        <a:bodyPr/>
        <a:lstStyle/>
        <a:p>
          <a:endParaRPr lang="en-US"/>
        </a:p>
      </dgm:t>
    </dgm:pt>
    <dgm:pt modelId="{26D8BAE3-6F27-401D-B758-33FBA22B582E}" type="sibTrans" cxnId="{49902246-C0B5-4E2C-9F93-C038D4CC6D2B}">
      <dgm:prSet/>
      <dgm:spPr/>
      <dgm:t>
        <a:bodyPr/>
        <a:lstStyle/>
        <a:p>
          <a:endParaRPr lang="en-US"/>
        </a:p>
      </dgm:t>
    </dgm:pt>
    <dgm:pt modelId="{92378E4F-C3B1-43FC-9134-279D37C118C6}">
      <dgm:prSet phldrT="[Text]"/>
      <dgm:spPr/>
      <dgm:t>
        <a:bodyPr/>
        <a:lstStyle/>
        <a:p>
          <a:r>
            <a:rPr lang="en-US" dirty="0"/>
            <a:t>Testing</a:t>
          </a:r>
        </a:p>
      </dgm:t>
    </dgm:pt>
    <dgm:pt modelId="{2DCAEDE5-699C-4920-98F0-FA703565A9EC}" type="parTrans" cxnId="{ED20D0FF-B759-4FA9-89DE-2F8B3AF203DF}">
      <dgm:prSet/>
      <dgm:spPr/>
      <dgm:t>
        <a:bodyPr/>
        <a:lstStyle/>
        <a:p>
          <a:endParaRPr lang="en-US"/>
        </a:p>
      </dgm:t>
    </dgm:pt>
    <dgm:pt modelId="{299B0D2A-0D9F-4FF8-9C57-677E226A89DC}" type="sibTrans" cxnId="{ED20D0FF-B759-4FA9-89DE-2F8B3AF203DF}">
      <dgm:prSet/>
      <dgm:spPr/>
      <dgm:t>
        <a:bodyPr/>
        <a:lstStyle/>
        <a:p>
          <a:endParaRPr lang="en-US"/>
        </a:p>
      </dgm:t>
    </dgm:pt>
    <dgm:pt modelId="{6E883797-E544-4E13-B3A1-7A96FC6CA78F}">
      <dgm:prSet phldrT="[Text]"/>
      <dgm:spPr/>
      <dgm:t>
        <a:bodyPr/>
        <a:lstStyle/>
        <a:p>
          <a:r>
            <a:rPr lang="en-US" dirty="0"/>
            <a:t>Result</a:t>
          </a:r>
        </a:p>
      </dgm:t>
    </dgm:pt>
    <dgm:pt modelId="{00A85005-96FC-43C4-BFEC-1F2A4F503DE1}" type="parTrans" cxnId="{A97FED32-6D81-4D4C-90D1-5E56CD63C90D}">
      <dgm:prSet/>
      <dgm:spPr/>
      <dgm:t>
        <a:bodyPr/>
        <a:lstStyle/>
        <a:p>
          <a:endParaRPr lang="en-US"/>
        </a:p>
      </dgm:t>
    </dgm:pt>
    <dgm:pt modelId="{9B2859BF-EB42-4DB6-9F45-9B97B6FA5243}" type="sibTrans" cxnId="{A97FED32-6D81-4D4C-90D1-5E56CD63C90D}">
      <dgm:prSet/>
      <dgm:spPr/>
      <dgm:t>
        <a:bodyPr/>
        <a:lstStyle/>
        <a:p>
          <a:endParaRPr lang="en-US"/>
        </a:p>
      </dgm:t>
    </dgm:pt>
    <dgm:pt modelId="{86569564-DC94-4CF6-9506-85507740BB6A}">
      <dgm:prSet phldrT="[Text]"/>
      <dgm:spPr/>
      <dgm:t>
        <a:bodyPr/>
        <a:lstStyle/>
        <a:p>
          <a:r>
            <a:rPr lang="en-US" dirty="0"/>
            <a:t>Reporting</a:t>
          </a:r>
        </a:p>
      </dgm:t>
    </dgm:pt>
    <dgm:pt modelId="{EC3B1AC6-F4F5-457A-9AF4-547E51169F04}" type="parTrans" cxnId="{1B2BBFCD-A099-426D-8D32-4F05A95A76F5}">
      <dgm:prSet/>
      <dgm:spPr/>
      <dgm:t>
        <a:bodyPr/>
        <a:lstStyle/>
        <a:p>
          <a:endParaRPr lang="en-US"/>
        </a:p>
      </dgm:t>
    </dgm:pt>
    <dgm:pt modelId="{0ACD890B-D95D-4D7A-A8C9-5A39EE6C706C}" type="sibTrans" cxnId="{1B2BBFCD-A099-426D-8D32-4F05A95A76F5}">
      <dgm:prSet/>
      <dgm:spPr/>
      <dgm:t>
        <a:bodyPr/>
        <a:lstStyle/>
        <a:p>
          <a:endParaRPr lang="en-US"/>
        </a:p>
      </dgm:t>
    </dgm:pt>
    <dgm:pt modelId="{602C7772-EB5F-4646-AE50-A48A5880EF07}">
      <dgm:prSet phldrT="[Text]"/>
      <dgm:spPr/>
      <dgm:t>
        <a:bodyPr/>
        <a:lstStyle/>
        <a:p>
          <a:r>
            <a:rPr lang="en-US" dirty="0"/>
            <a:t>Completed</a:t>
          </a:r>
        </a:p>
      </dgm:t>
    </dgm:pt>
    <dgm:pt modelId="{0E5D93CB-FCA2-4C45-ADC7-D2EAB1826998}" type="parTrans" cxnId="{E6439A79-ECF5-4A04-B922-9D0F57ED189F}">
      <dgm:prSet/>
      <dgm:spPr/>
      <dgm:t>
        <a:bodyPr/>
        <a:lstStyle/>
        <a:p>
          <a:endParaRPr lang="en-US"/>
        </a:p>
      </dgm:t>
    </dgm:pt>
    <dgm:pt modelId="{311A4CB3-E75E-4005-BCBC-162ADA776F8F}" type="sibTrans" cxnId="{E6439A79-ECF5-4A04-B922-9D0F57ED189F}">
      <dgm:prSet/>
      <dgm:spPr/>
      <dgm:t>
        <a:bodyPr/>
        <a:lstStyle/>
        <a:p>
          <a:endParaRPr lang="en-US"/>
        </a:p>
      </dgm:t>
    </dgm:pt>
    <dgm:pt modelId="{5E6E4992-CF45-43C7-B989-A7E8AFD2B7BA}" type="pres">
      <dgm:prSet presAssocID="{7085953D-5707-4E21-BE33-041E1976ABF0}" presName="Name0" presStyleCnt="0">
        <dgm:presLayoutVars>
          <dgm:dir/>
          <dgm:resizeHandles val="exact"/>
        </dgm:presLayoutVars>
      </dgm:prSet>
      <dgm:spPr/>
    </dgm:pt>
    <dgm:pt modelId="{C1161168-84CB-4F7B-B64F-1D08B29AED19}" type="pres">
      <dgm:prSet presAssocID="{5783DC9B-DE17-41F6-A65C-0FE69B596323}" presName="parTxOnly" presStyleLbl="node1" presStyleIdx="0" presStyleCnt="8">
        <dgm:presLayoutVars>
          <dgm:bulletEnabled val="1"/>
        </dgm:presLayoutVars>
      </dgm:prSet>
      <dgm:spPr/>
    </dgm:pt>
    <dgm:pt modelId="{097D5831-7865-4C2B-83B1-3C69F9AE2558}" type="pres">
      <dgm:prSet presAssocID="{25FB9107-F674-419A-B451-668B2458AE3E}" presName="parSpace" presStyleCnt="0"/>
      <dgm:spPr/>
    </dgm:pt>
    <dgm:pt modelId="{5FAE45F5-6A05-40BC-BF62-F53B837430DC}" type="pres">
      <dgm:prSet presAssocID="{DE38C539-41A9-4E07-81AC-BEB92589C108}" presName="parTxOnly" presStyleLbl="node1" presStyleIdx="1" presStyleCnt="8">
        <dgm:presLayoutVars>
          <dgm:bulletEnabled val="1"/>
        </dgm:presLayoutVars>
      </dgm:prSet>
      <dgm:spPr/>
    </dgm:pt>
    <dgm:pt modelId="{8F7D4400-4A5C-4E75-A7D3-9BECC7DA9E9B}" type="pres">
      <dgm:prSet presAssocID="{F6EDBD7B-0772-4C1A-AFDB-0B9A717CF845}" presName="parSpace" presStyleCnt="0"/>
      <dgm:spPr/>
    </dgm:pt>
    <dgm:pt modelId="{40C9B2DF-57F2-4D7A-A8F3-7310629EB107}" type="pres">
      <dgm:prSet presAssocID="{83FD66CD-0EFC-4B14-97FD-BB1261AA766E}" presName="parTxOnly" presStyleLbl="node1" presStyleIdx="2" presStyleCnt="8">
        <dgm:presLayoutVars>
          <dgm:bulletEnabled val="1"/>
        </dgm:presLayoutVars>
      </dgm:prSet>
      <dgm:spPr/>
    </dgm:pt>
    <dgm:pt modelId="{BDC7F5FF-4582-482F-A8B8-D6345182CAC7}" type="pres">
      <dgm:prSet presAssocID="{E94ED2B4-5985-48A1-9753-06F8A9F33384}" presName="parSpace" presStyleCnt="0"/>
      <dgm:spPr/>
    </dgm:pt>
    <dgm:pt modelId="{F5E38D07-E7BF-40B8-A6F8-D9B6ED7C70AB}" type="pres">
      <dgm:prSet presAssocID="{92378E4F-C3B1-43FC-9134-279D37C118C6}" presName="parTxOnly" presStyleLbl="node1" presStyleIdx="3" presStyleCnt="8">
        <dgm:presLayoutVars>
          <dgm:bulletEnabled val="1"/>
        </dgm:presLayoutVars>
      </dgm:prSet>
      <dgm:spPr/>
    </dgm:pt>
    <dgm:pt modelId="{15BB239E-5876-4374-B5BE-BD7ED7A0E75B}" type="pres">
      <dgm:prSet presAssocID="{299B0D2A-0D9F-4FF8-9C57-677E226A89DC}" presName="parSpace" presStyleCnt="0"/>
      <dgm:spPr/>
    </dgm:pt>
    <dgm:pt modelId="{1A45DC18-65BA-46E4-AA32-5AF455E30B02}" type="pres">
      <dgm:prSet presAssocID="{6E883797-E544-4E13-B3A1-7A96FC6CA78F}" presName="parTxOnly" presStyleLbl="node1" presStyleIdx="4" presStyleCnt="8">
        <dgm:presLayoutVars>
          <dgm:bulletEnabled val="1"/>
        </dgm:presLayoutVars>
      </dgm:prSet>
      <dgm:spPr/>
    </dgm:pt>
    <dgm:pt modelId="{53593CDB-7458-4D3C-ADE3-AE06E4354500}" type="pres">
      <dgm:prSet presAssocID="{9B2859BF-EB42-4DB6-9F45-9B97B6FA5243}" presName="parSpace" presStyleCnt="0"/>
      <dgm:spPr/>
    </dgm:pt>
    <dgm:pt modelId="{054A696B-C371-4853-A90B-861864E61580}" type="pres">
      <dgm:prSet presAssocID="{8F68D21A-4524-40A1-8C5A-9B0ACA5B8F0D}" presName="parTxOnly" presStyleLbl="node1" presStyleIdx="5" presStyleCnt="8">
        <dgm:presLayoutVars>
          <dgm:bulletEnabled val="1"/>
        </dgm:presLayoutVars>
      </dgm:prSet>
      <dgm:spPr/>
    </dgm:pt>
    <dgm:pt modelId="{E55F57F8-6EE9-4438-87BB-E48EB9C1805E}" type="pres">
      <dgm:prSet presAssocID="{26D8BAE3-6F27-401D-B758-33FBA22B582E}" presName="parSpace" presStyleCnt="0"/>
      <dgm:spPr/>
    </dgm:pt>
    <dgm:pt modelId="{6F752C57-479F-490B-B872-867672885E37}" type="pres">
      <dgm:prSet presAssocID="{86569564-DC94-4CF6-9506-85507740BB6A}" presName="parTxOnly" presStyleLbl="node1" presStyleIdx="6" presStyleCnt="8">
        <dgm:presLayoutVars>
          <dgm:bulletEnabled val="1"/>
        </dgm:presLayoutVars>
      </dgm:prSet>
      <dgm:spPr/>
    </dgm:pt>
    <dgm:pt modelId="{30819881-A78E-478E-A341-310411FB33CB}" type="pres">
      <dgm:prSet presAssocID="{0ACD890B-D95D-4D7A-A8C9-5A39EE6C706C}" presName="parSpace" presStyleCnt="0"/>
      <dgm:spPr/>
    </dgm:pt>
    <dgm:pt modelId="{55090AA7-C529-4260-8AA7-90D844F8F4CD}" type="pres">
      <dgm:prSet presAssocID="{602C7772-EB5F-4646-AE50-A48A5880EF07}" presName="parTxOnly" presStyleLbl="node1" presStyleIdx="7" presStyleCnt="8">
        <dgm:presLayoutVars>
          <dgm:bulletEnabled val="1"/>
        </dgm:presLayoutVars>
      </dgm:prSet>
      <dgm:spPr/>
    </dgm:pt>
  </dgm:ptLst>
  <dgm:cxnLst>
    <dgm:cxn modelId="{08E6CA17-0E68-454E-9B83-F5EDCCF0ECD1}" type="presOf" srcId="{7085953D-5707-4E21-BE33-041E1976ABF0}" destId="{5E6E4992-CF45-43C7-B989-A7E8AFD2B7BA}" srcOrd="0" destOrd="0" presId="urn:microsoft.com/office/officeart/2005/8/layout/hChevron3"/>
    <dgm:cxn modelId="{A97FED32-6D81-4D4C-90D1-5E56CD63C90D}" srcId="{7085953D-5707-4E21-BE33-041E1976ABF0}" destId="{6E883797-E544-4E13-B3A1-7A96FC6CA78F}" srcOrd="4" destOrd="0" parTransId="{00A85005-96FC-43C4-BFEC-1F2A4F503DE1}" sibTransId="{9B2859BF-EB42-4DB6-9F45-9B97B6FA5243}"/>
    <dgm:cxn modelId="{0CC63C41-F1D0-4E4E-B8CB-7B0B66223725}" type="presOf" srcId="{8F68D21A-4524-40A1-8C5A-9B0ACA5B8F0D}" destId="{054A696B-C371-4853-A90B-861864E61580}" srcOrd="0" destOrd="0" presId="urn:microsoft.com/office/officeart/2005/8/layout/hChevron3"/>
    <dgm:cxn modelId="{49902246-C0B5-4E2C-9F93-C038D4CC6D2B}" srcId="{7085953D-5707-4E21-BE33-041E1976ABF0}" destId="{8F68D21A-4524-40A1-8C5A-9B0ACA5B8F0D}" srcOrd="5" destOrd="0" parTransId="{0B083E9D-E5FF-4E88-8E20-229CB8B1EE39}" sibTransId="{26D8BAE3-6F27-401D-B758-33FBA22B582E}"/>
    <dgm:cxn modelId="{CBE46057-3AFB-4898-8D76-648BBDA41E39}" type="presOf" srcId="{92378E4F-C3B1-43FC-9134-279D37C118C6}" destId="{F5E38D07-E7BF-40B8-A6F8-D9B6ED7C70AB}" srcOrd="0" destOrd="0" presId="urn:microsoft.com/office/officeart/2005/8/layout/hChevron3"/>
    <dgm:cxn modelId="{A4A5915C-7AD7-42F6-9FB6-E0B684254AB4}" type="presOf" srcId="{86569564-DC94-4CF6-9506-85507740BB6A}" destId="{6F752C57-479F-490B-B872-867672885E37}" srcOrd="0" destOrd="0" presId="urn:microsoft.com/office/officeart/2005/8/layout/hChevron3"/>
    <dgm:cxn modelId="{E6439A79-ECF5-4A04-B922-9D0F57ED189F}" srcId="{7085953D-5707-4E21-BE33-041E1976ABF0}" destId="{602C7772-EB5F-4646-AE50-A48A5880EF07}" srcOrd="7" destOrd="0" parTransId="{0E5D93CB-FCA2-4C45-ADC7-D2EAB1826998}" sibTransId="{311A4CB3-E75E-4005-BCBC-162ADA776F8F}"/>
    <dgm:cxn modelId="{23BE258D-FDD9-47D0-A7E5-D9D45829734F}" type="presOf" srcId="{6E883797-E544-4E13-B3A1-7A96FC6CA78F}" destId="{1A45DC18-65BA-46E4-AA32-5AF455E30B02}" srcOrd="0" destOrd="0" presId="urn:microsoft.com/office/officeart/2005/8/layout/hChevron3"/>
    <dgm:cxn modelId="{3465EC98-82EB-4FC4-B8BC-F1E848456BE0}" srcId="{7085953D-5707-4E21-BE33-041E1976ABF0}" destId="{DE38C539-41A9-4E07-81AC-BEB92589C108}" srcOrd="1" destOrd="0" parTransId="{0915026C-9848-48A5-81A8-E6C9D3DB28FC}" sibTransId="{F6EDBD7B-0772-4C1A-AFDB-0B9A717CF845}"/>
    <dgm:cxn modelId="{B33EE09A-4005-438A-BF9B-9770E1456F5C}" type="presOf" srcId="{5783DC9B-DE17-41F6-A65C-0FE69B596323}" destId="{C1161168-84CB-4F7B-B64F-1D08B29AED19}" srcOrd="0" destOrd="0" presId="urn:microsoft.com/office/officeart/2005/8/layout/hChevron3"/>
    <dgm:cxn modelId="{5612C1A3-AD00-45D3-9F35-21372AAF0E60}" srcId="{7085953D-5707-4E21-BE33-041E1976ABF0}" destId="{83FD66CD-0EFC-4B14-97FD-BB1261AA766E}" srcOrd="2" destOrd="0" parTransId="{068DC544-C879-499A-AF7C-22156E57179F}" sibTransId="{E94ED2B4-5985-48A1-9753-06F8A9F33384}"/>
    <dgm:cxn modelId="{CA5949A8-3B71-4281-8E85-BA54A0BA32AA}" srcId="{7085953D-5707-4E21-BE33-041E1976ABF0}" destId="{5783DC9B-DE17-41F6-A65C-0FE69B596323}" srcOrd="0" destOrd="0" parTransId="{ED80C0A9-763D-4ACC-9F50-4C03A3844655}" sibTransId="{25FB9107-F674-419A-B451-668B2458AE3E}"/>
    <dgm:cxn modelId="{D6A1B3AE-CEA5-4606-B61B-EE7DEAD4135B}" type="presOf" srcId="{83FD66CD-0EFC-4B14-97FD-BB1261AA766E}" destId="{40C9B2DF-57F2-4D7A-A8F3-7310629EB107}" srcOrd="0" destOrd="0" presId="urn:microsoft.com/office/officeart/2005/8/layout/hChevron3"/>
    <dgm:cxn modelId="{C30387C4-F336-42B9-9962-E1B51ED7F497}" type="presOf" srcId="{602C7772-EB5F-4646-AE50-A48A5880EF07}" destId="{55090AA7-C529-4260-8AA7-90D844F8F4CD}" srcOrd="0" destOrd="0" presId="urn:microsoft.com/office/officeart/2005/8/layout/hChevron3"/>
    <dgm:cxn modelId="{1B2BBFCD-A099-426D-8D32-4F05A95A76F5}" srcId="{7085953D-5707-4E21-BE33-041E1976ABF0}" destId="{86569564-DC94-4CF6-9506-85507740BB6A}" srcOrd="6" destOrd="0" parTransId="{EC3B1AC6-F4F5-457A-9AF4-547E51169F04}" sibTransId="{0ACD890B-D95D-4D7A-A8C9-5A39EE6C706C}"/>
    <dgm:cxn modelId="{64DCE2E7-95B4-4098-B998-D3720D3E9ED1}" type="presOf" srcId="{DE38C539-41A9-4E07-81AC-BEB92589C108}" destId="{5FAE45F5-6A05-40BC-BF62-F53B837430DC}" srcOrd="0" destOrd="0" presId="urn:microsoft.com/office/officeart/2005/8/layout/hChevron3"/>
    <dgm:cxn modelId="{ED20D0FF-B759-4FA9-89DE-2F8B3AF203DF}" srcId="{7085953D-5707-4E21-BE33-041E1976ABF0}" destId="{92378E4F-C3B1-43FC-9134-279D37C118C6}" srcOrd="3" destOrd="0" parTransId="{2DCAEDE5-699C-4920-98F0-FA703565A9EC}" sibTransId="{299B0D2A-0D9F-4FF8-9C57-677E226A89DC}"/>
    <dgm:cxn modelId="{C0D9D114-6B50-4341-AE6A-553063F0B8EC}" type="presParOf" srcId="{5E6E4992-CF45-43C7-B989-A7E8AFD2B7BA}" destId="{C1161168-84CB-4F7B-B64F-1D08B29AED19}" srcOrd="0" destOrd="0" presId="urn:microsoft.com/office/officeart/2005/8/layout/hChevron3"/>
    <dgm:cxn modelId="{7E43263F-1AED-472A-8600-8A99B7E81D95}" type="presParOf" srcId="{5E6E4992-CF45-43C7-B989-A7E8AFD2B7BA}" destId="{097D5831-7865-4C2B-83B1-3C69F9AE2558}" srcOrd="1" destOrd="0" presId="urn:microsoft.com/office/officeart/2005/8/layout/hChevron3"/>
    <dgm:cxn modelId="{060C9BD1-41F2-48AA-A6AE-5F87D154D3D2}" type="presParOf" srcId="{5E6E4992-CF45-43C7-B989-A7E8AFD2B7BA}" destId="{5FAE45F5-6A05-40BC-BF62-F53B837430DC}" srcOrd="2" destOrd="0" presId="urn:microsoft.com/office/officeart/2005/8/layout/hChevron3"/>
    <dgm:cxn modelId="{801A54E9-8EBA-4BBF-A474-AB44B1D9BEE0}" type="presParOf" srcId="{5E6E4992-CF45-43C7-B989-A7E8AFD2B7BA}" destId="{8F7D4400-4A5C-4E75-A7D3-9BECC7DA9E9B}" srcOrd="3" destOrd="0" presId="urn:microsoft.com/office/officeart/2005/8/layout/hChevron3"/>
    <dgm:cxn modelId="{9C7D4AE6-8C59-4D05-AA90-B7AA11892532}" type="presParOf" srcId="{5E6E4992-CF45-43C7-B989-A7E8AFD2B7BA}" destId="{40C9B2DF-57F2-4D7A-A8F3-7310629EB107}" srcOrd="4" destOrd="0" presId="urn:microsoft.com/office/officeart/2005/8/layout/hChevron3"/>
    <dgm:cxn modelId="{2E068194-9E8C-4E65-9687-DF5A348D4932}" type="presParOf" srcId="{5E6E4992-CF45-43C7-B989-A7E8AFD2B7BA}" destId="{BDC7F5FF-4582-482F-A8B8-D6345182CAC7}" srcOrd="5" destOrd="0" presId="urn:microsoft.com/office/officeart/2005/8/layout/hChevron3"/>
    <dgm:cxn modelId="{6FD1D3AD-8878-487A-B90A-52CE7D223FA4}" type="presParOf" srcId="{5E6E4992-CF45-43C7-B989-A7E8AFD2B7BA}" destId="{F5E38D07-E7BF-40B8-A6F8-D9B6ED7C70AB}" srcOrd="6" destOrd="0" presId="urn:microsoft.com/office/officeart/2005/8/layout/hChevron3"/>
    <dgm:cxn modelId="{AF6F2058-409B-4839-8E6F-AAA6F517D6D6}" type="presParOf" srcId="{5E6E4992-CF45-43C7-B989-A7E8AFD2B7BA}" destId="{15BB239E-5876-4374-B5BE-BD7ED7A0E75B}" srcOrd="7" destOrd="0" presId="urn:microsoft.com/office/officeart/2005/8/layout/hChevron3"/>
    <dgm:cxn modelId="{7987CD73-36C5-4304-8B7F-0864AD07185E}" type="presParOf" srcId="{5E6E4992-CF45-43C7-B989-A7E8AFD2B7BA}" destId="{1A45DC18-65BA-46E4-AA32-5AF455E30B02}" srcOrd="8" destOrd="0" presId="urn:microsoft.com/office/officeart/2005/8/layout/hChevron3"/>
    <dgm:cxn modelId="{FA2C3AA0-F848-4105-9BDA-580830057B1F}" type="presParOf" srcId="{5E6E4992-CF45-43C7-B989-A7E8AFD2B7BA}" destId="{53593CDB-7458-4D3C-ADE3-AE06E4354500}" srcOrd="9" destOrd="0" presId="urn:microsoft.com/office/officeart/2005/8/layout/hChevron3"/>
    <dgm:cxn modelId="{532B22E2-B235-44A8-B219-F29BD8865993}" type="presParOf" srcId="{5E6E4992-CF45-43C7-B989-A7E8AFD2B7BA}" destId="{054A696B-C371-4853-A90B-861864E61580}" srcOrd="10" destOrd="0" presId="urn:microsoft.com/office/officeart/2005/8/layout/hChevron3"/>
    <dgm:cxn modelId="{D211F0F1-1B42-429E-9608-DA0688D6779F}" type="presParOf" srcId="{5E6E4992-CF45-43C7-B989-A7E8AFD2B7BA}" destId="{E55F57F8-6EE9-4438-87BB-E48EB9C1805E}" srcOrd="11" destOrd="0" presId="urn:microsoft.com/office/officeart/2005/8/layout/hChevron3"/>
    <dgm:cxn modelId="{DE277FFE-874C-4163-BD50-C29E5327F010}" type="presParOf" srcId="{5E6E4992-CF45-43C7-B989-A7E8AFD2B7BA}" destId="{6F752C57-479F-490B-B872-867672885E37}" srcOrd="12" destOrd="0" presId="urn:microsoft.com/office/officeart/2005/8/layout/hChevron3"/>
    <dgm:cxn modelId="{52DE329A-44C0-49A4-B8B4-2BE04D349124}" type="presParOf" srcId="{5E6E4992-CF45-43C7-B989-A7E8AFD2B7BA}" destId="{30819881-A78E-478E-A341-310411FB33CB}" srcOrd="13" destOrd="0" presId="urn:microsoft.com/office/officeart/2005/8/layout/hChevron3"/>
    <dgm:cxn modelId="{2CA9215F-C12B-4050-BE70-8831A5A24EE1}" type="presParOf" srcId="{5E6E4992-CF45-43C7-B989-A7E8AFD2B7BA}" destId="{55090AA7-C529-4260-8AA7-90D844F8F4CD}" srcOrd="14"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085953D-5707-4E21-BE33-041E1976ABF0}" type="doc">
      <dgm:prSet loTypeId="urn:microsoft.com/office/officeart/2005/8/layout/hChevron3" loCatId="process" qsTypeId="urn:microsoft.com/office/officeart/2005/8/quickstyle/simple1" qsCatId="simple" csTypeId="urn:microsoft.com/office/officeart/2005/8/colors/accent1_2" csCatId="accent1" phldr="1"/>
      <dgm:spPr/>
    </dgm:pt>
    <dgm:pt modelId="{5783DC9B-DE17-41F6-A65C-0FE69B596323}">
      <dgm:prSet phldrT="[Text]"/>
      <dgm:spPr/>
      <dgm:t>
        <a:bodyPr/>
        <a:lstStyle/>
        <a:p>
          <a:r>
            <a:rPr lang="en-US" dirty="0"/>
            <a:t>Sample registration</a:t>
          </a:r>
        </a:p>
      </dgm:t>
    </dgm:pt>
    <dgm:pt modelId="{ED80C0A9-763D-4ACC-9F50-4C03A3844655}" type="parTrans" cxnId="{CA5949A8-3B71-4281-8E85-BA54A0BA32AA}">
      <dgm:prSet/>
      <dgm:spPr/>
      <dgm:t>
        <a:bodyPr/>
        <a:lstStyle/>
        <a:p>
          <a:endParaRPr lang="en-US"/>
        </a:p>
      </dgm:t>
    </dgm:pt>
    <dgm:pt modelId="{25FB9107-F674-419A-B451-668B2458AE3E}" type="sibTrans" cxnId="{CA5949A8-3B71-4281-8E85-BA54A0BA32AA}">
      <dgm:prSet/>
      <dgm:spPr/>
      <dgm:t>
        <a:bodyPr/>
        <a:lstStyle/>
        <a:p>
          <a:endParaRPr lang="en-US"/>
        </a:p>
      </dgm:t>
    </dgm:pt>
    <dgm:pt modelId="{83FD66CD-0EFC-4B14-97FD-BB1261AA766E}">
      <dgm:prSet phldrT="[Text]"/>
      <dgm:spPr/>
      <dgm:t>
        <a:bodyPr/>
        <a:lstStyle/>
        <a:p>
          <a:r>
            <a:rPr lang="en-US" dirty="0"/>
            <a:t>Accessioning</a:t>
          </a:r>
        </a:p>
      </dgm:t>
    </dgm:pt>
    <dgm:pt modelId="{068DC544-C879-499A-AF7C-22156E57179F}" type="parTrans" cxnId="{5612C1A3-AD00-45D3-9F35-21372AAF0E60}">
      <dgm:prSet/>
      <dgm:spPr/>
      <dgm:t>
        <a:bodyPr/>
        <a:lstStyle/>
        <a:p>
          <a:endParaRPr lang="en-US"/>
        </a:p>
      </dgm:t>
    </dgm:pt>
    <dgm:pt modelId="{E94ED2B4-5985-48A1-9753-06F8A9F33384}" type="sibTrans" cxnId="{5612C1A3-AD00-45D3-9F35-21372AAF0E60}">
      <dgm:prSet/>
      <dgm:spPr/>
      <dgm:t>
        <a:bodyPr/>
        <a:lstStyle/>
        <a:p>
          <a:endParaRPr lang="en-US"/>
        </a:p>
      </dgm:t>
    </dgm:pt>
    <dgm:pt modelId="{8F68D21A-4524-40A1-8C5A-9B0ACA5B8F0D}">
      <dgm:prSet phldrT="[Text]"/>
      <dgm:spPr/>
      <dgm:t>
        <a:bodyPr/>
        <a:lstStyle/>
        <a:p>
          <a:r>
            <a:rPr lang="en-US" dirty="0"/>
            <a:t>Interpretation</a:t>
          </a:r>
        </a:p>
      </dgm:t>
    </dgm:pt>
    <dgm:pt modelId="{0B083E9D-E5FF-4E88-8E20-229CB8B1EE39}" type="parTrans" cxnId="{49902246-C0B5-4E2C-9F93-C038D4CC6D2B}">
      <dgm:prSet/>
      <dgm:spPr/>
      <dgm:t>
        <a:bodyPr/>
        <a:lstStyle/>
        <a:p>
          <a:endParaRPr lang="en-US"/>
        </a:p>
      </dgm:t>
    </dgm:pt>
    <dgm:pt modelId="{26D8BAE3-6F27-401D-B758-33FBA22B582E}" type="sibTrans" cxnId="{49902246-C0B5-4E2C-9F93-C038D4CC6D2B}">
      <dgm:prSet/>
      <dgm:spPr/>
      <dgm:t>
        <a:bodyPr/>
        <a:lstStyle/>
        <a:p>
          <a:endParaRPr lang="en-US"/>
        </a:p>
      </dgm:t>
    </dgm:pt>
    <dgm:pt modelId="{92378E4F-C3B1-43FC-9134-279D37C118C6}">
      <dgm:prSet phldrT="[Text]"/>
      <dgm:spPr/>
      <dgm:t>
        <a:bodyPr/>
        <a:lstStyle/>
        <a:p>
          <a:r>
            <a:rPr lang="en-US" dirty="0"/>
            <a:t>Testing</a:t>
          </a:r>
        </a:p>
      </dgm:t>
    </dgm:pt>
    <dgm:pt modelId="{2DCAEDE5-699C-4920-98F0-FA703565A9EC}" type="parTrans" cxnId="{ED20D0FF-B759-4FA9-89DE-2F8B3AF203DF}">
      <dgm:prSet/>
      <dgm:spPr/>
      <dgm:t>
        <a:bodyPr/>
        <a:lstStyle/>
        <a:p>
          <a:endParaRPr lang="en-US"/>
        </a:p>
      </dgm:t>
    </dgm:pt>
    <dgm:pt modelId="{299B0D2A-0D9F-4FF8-9C57-677E226A89DC}" type="sibTrans" cxnId="{ED20D0FF-B759-4FA9-89DE-2F8B3AF203DF}">
      <dgm:prSet/>
      <dgm:spPr/>
      <dgm:t>
        <a:bodyPr/>
        <a:lstStyle/>
        <a:p>
          <a:endParaRPr lang="en-US"/>
        </a:p>
      </dgm:t>
    </dgm:pt>
    <dgm:pt modelId="{6E883797-E544-4E13-B3A1-7A96FC6CA78F}">
      <dgm:prSet phldrT="[Text]"/>
      <dgm:spPr/>
      <dgm:t>
        <a:bodyPr/>
        <a:lstStyle/>
        <a:p>
          <a:r>
            <a:rPr lang="en-US" dirty="0"/>
            <a:t>Result</a:t>
          </a:r>
        </a:p>
      </dgm:t>
    </dgm:pt>
    <dgm:pt modelId="{00A85005-96FC-43C4-BFEC-1F2A4F503DE1}" type="parTrans" cxnId="{A97FED32-6D81-4D4C-90D1-5E56CD63C90D}">
      <dgm:prSet/>
      <dgm:spPr/>
      <dgm:t>
        <a:bodyPr/>
        <a:lstStyle/>
        <a:p>
          <a:endParaRPr lang="en-US"/>
        </a:p>
      </dgm:t>
    </dgm:pt>
    <dgm:pt modelId="{9B2859BF-EB42-4DB6-9F45-9B97B6FA5243}" type="sibTrans" cxnId="{A97FED32-6D81-4D4C-90D1-5E56CD63C90D}">
      <dgm:prSet/>
      <dgm:spPr/>
      <dgm:t>
        <a:bodyPr/>
        <a:lstStyle/>
        <a:p>
          <a:endParaRPr lang="en-US"/>
        </a:p>
      </dgm:t>
    </dgm:pt>
    <dgm:pt modelId="{86569564-DC94-4CF6-9506-85507740BB6A}">
      <dgm:prSet phldrT="[Text]"/>
      <dgm:spPr/>
      <dgm:t>
        <a:bodyPr/>
        <a:lstStyle/>
        <a:p>
          <a:r>
            <a:rPr lang="en-US" dirty="0"/>
            <a:t>Reporting</a:t>
          </a:r>
        </a:p>
      </dgm:t>
    </dgm:pt>
    <dgm:pt modelId="{EC3B1AC6-F4F5-457A-9AF4-547E51169F04}" type="parTrans" cxnId="{1B2BBFCD-A099-426D-8D32-4F05A95A76F5}">
      <dgm:prSet/>
      <dgm:spPr/>
      <dgm:t>
        <a:bodyPr/>
        <a:lstStyle/>
        <a:p>
          <a:endParaRPr lang="en-US"/>
        </a:p>
      </dgm:t>
    </dgm:pt>
    <dgm:pt modelId="{0ACD890B-D95D-4D7A-A8C9-5A39EE6C706C}" type="sibTrans" cxnId="{1B2BBFCD-A099-426D-8D32-4F05A95A76F5}">
      <dgm:prSet/>
      <dgm:spPr/>
      <dgm:t>
        <a:bodyPr/>
        <a:lstStyle/>
        <a:p>
          <a:endParaRPr lang="en-US"/>
        </a:p>
      </dgm:t>
    </dgm:pt>
    <dgm:pt modelId="{602C7772-EB5F-4646-AE50-A48A5880EF07}">
      <dgm:prSet phldrT="[Text]"/>
      <dgm:spPr/>
      <dgm:t>
        <a:bodyPr/>
        <a:lstStyle/>
        <a:p>
          <a:r>
            <a:rPr lang="en-US" dirty="0"/>
            <a:t>Completed</a:t>
          </a:r>
        </a:p>
      </dgm:t>
    </dgm:pt>
    <dgm:pt modelId="{0E5D93CB-FCA2-4C45-ADC7-D2EAB1826998}" type="parTrans" cxnId="{E6439A79-ECF5-4A04-B922-9D0F57ED189F}">
      <dgm:prSet/>
      <dgm:spPr/>
      <dgm:t>
        <a:bodyPr/>
        <a:lstStyle/>
        <a:p>
          <a:endParaRPr lang="en-US"/>
        </a:p>
      </dgm:t>
    </dgm:pt>
    <dgm:pt modelId="{311A4CB3-E75E-4005-BCBC-162ADA776F8F}" type="sibTrans" cxnId="{E6439A79-ECF5-4A04-B922-9D0F57ED189F}">
      <dgm:prSet/>
      <dgm:spPr/>
      <dgm:t>
        <a:bodyPr/>
        <a:lstStyle/>
        <a:p>
          <a:endParaRPr lang="en-US"/>
        </a:p>
      </dgm:t>
    </dgm:pt>
    <dgm:pt modelId="{DE38C539-41A9-4E07-81AC-BEB92589C108}">
      <dgm:prSet phldrT="[Text]"/>
      <dgm:spPr>
        <a:solidFill>
          <a:srgbClr val="00B050"/>
        </a:solidFill>
      </dgm:spPr>
      <dgm:t>
        <a:bodyPr/>
        <a:lstStyle/>
        <a:p>
          <a:r>
            <a:rPr lang="en-US" dirty="0"/>
            <a:t>Sample Collection</a:t>
          </a:r>
        </a:p>
      </dgm:t>
    </dgm:pt>
    <dgm:pt modelId="{F6EDBD7B-0772-4C1A-AFDB-0B9A717CF845}" type="sibTrans" cxnId="{3465EC98-82EB-4FC4-B8BC-F1E848456BE0}">
      <dgm:prSet/>
      <dgm:spPr/>
      <dgm:t>
        <a:bodyPr/>
        <a:lstStyle/>
        <a:p>
          <a:endParaRPr lang="en-US"/>
        </a:p>
      </dgm:t>
    </dgm:pt>
    <dgm:pt modelId="{0915026C-9848-48A5-81A8-E6C9D3DB28FC}" type="parTrans" cxnId="{3465EC98-82EB-4FC4-B8BC-F1E848456BE0}">
      <dgm:prSet/>
      <dgm:spPr/>
      <dgm:t>
        <a:bodyPr/>
        <a:lstStyle/>
        <a:p>
          <a:endParaRPr lang="en-US"/>
        </a:p>
      </dgm:t>
    </dgm:pt>
    <dgm:pt modelId="{5E6E4992-CF45-43C7-B989-A7E8AFD2B7BA}" type="pres">
      <dgm:prSet presAssocID="{7085953D-5707-4E21-BE33-041E1976ABF0}" presName="Name0" presStyleCnt="0">
        <dgm:presLayoutVars>
          <dgm:dir/>
          <dgm:resizeHandles val="exact"/>
        </dgm:presLayoutVars>
      </dgm:prSet>
      <dgm:spPr/>
    </dgm:pt>
    <dgm:pt modelId="{C1161168-84CB-4F7B-B64F-1D08B29AED19}" type="pres">
      <dgm:prSet presAssocID="{5783DC9B-DE17-41F6-A65C-0FE69B596323}" presName="parTxOnly" presStyleLbl="node1" presStyleIdx="0" presStyleCnt="8">
        <dgm:presLayoutVars>
          <dgm:bulletEnabled val="1"/>
        </dgm:presLayoutVars>
      </dgm:prSet>
      <dgm:spPr/>
    </dgm:pt>
    <dgm:pt modelId="{097D5831-7865-4C2B-83B1-3C69F9AE2558}" type="pres">
      <dgm:prSet presAssocID="{25FB9107-F674-419A-B451-668B2458AE3E}" presName="parSpace" presStyleCnt="0"/>
      <dgm:spPr/>
    </dgm:pt>
    <dgm:pt modelId="{5FAE45F5-6A05-40BC-BF62-F53B837430DC}" type="pres">
      <dgm:prSet presAssocID="{DE38C539-41A9-4E07-81AC-BEB92589C108}" presName="parTxOnly" presStyleLbl="node1" presStyleIdx="1" presStyleCnt="8" custLinFactNeighborX="-8401" custLinFactNeighborY="1400">
        <dgm:presLayoutVars>
          <dgm:bulletEnabled val="1"/>
        </dgm:presLayoutVars>
      </dgm:prSet>
      <dgm:spPr/>
    </dgm:pt>
    <dgm:pt modelId="{8F7D4400-4A5C-4E75-A7D3-9BECC7DA9E9B}" type="pres">
      <dgm:prSet presAssocID="{F6EDBD7B-0772-4C1A-AFDB-0B9A717CF845}" presName="parSpace" presStyleCnt="0"/>
      <dgm:spPr/>
    </dgm:pt>
    <dgm:pt modelId="{40C9B2DF-57F2-4D7A-A8F3-7310629EB107}" type="pres">
      <dgm:prSet presAssocID="{83FD66CD-0EFC-4B14-97FD-BB1261AA766E}" presName="parTxOnly" presStyleLbl="node1" presStyleIdx="2" presStyleCnt="8">
        <dgm:presLayoutVars>
          <dgm:bulletEnabled val="1"/>
        </dgm:presLayoutVars>
      </dgm:prSet>
      <dgm:spPr/>
    </dgm:pt>
    <dgm:pt modelId="{BDC7F5FF-4582-482F-A8B8-D6345182CAC7}" type="pres">
      <dgm:prSet presAssocID="{E94ED2B4-5985-48A1-9753-06F8A9F33384}" presName="parSpace" presStyleCnt="0"/>
      <dgm:spPr/>
    </dgm:pt>
    <dgm:pt modelId="{F5E38D07-E7BF-40B8-A6F8-D9B6ED7C70AB}" type="pres">
      <dgm:prSet presAssocID="{92378E4F-C3B1-43FC-9134-279D37C118C6}" presName="parTxOnly" presStyleLbl="node1" presStyleIdx="3" presStyleCnt="8">
        <dgm:presLayoutVars>
          <dgm:bulletEnabled val="1"/>
        </dgm:presLayoutVars>
      </dgm:prSet>
      <dgm:spPr/>
    </dgm:pt>
    <dgm:pt modelId="{15BB239E-5876-4374-B5BE-BD7ED7A0E75B}" type="pres">
      <dgm:prSet presAssocID="{299B0D2A-0D9F-4FF8-9C57-677E226A89DC}" presName="parSpace" presStyleCnt="0"/>
      <dgm:spPr/>
    </dgm:pt>
    <dgm:pt modelId="{1A45DC18-65BA-46E4-AA32-5AF455E30B02}" type="pres">
      <dgm:prSet presAssocID="{6E883797-E544-4E13-B3A1-7A96FC6CA78F}" presName="parTxOnly" presStyleLbl="node1" presStyleIdx="4" presStyleCnt="8">
        <dgm:presLayoutVars>
          <dgm:bulletEnabled val="1"/>
        </dgm:presLayoutVars>
      </dgm:prSet>
      <dgm:spPr/>
    </dgm:pt>
    <dgm:pt modelId="{53593CDB-7458-4D3C-ADE3-AE06E4354500}" type="pres">
      <dgm:prSet presAssocID="{9B2859BF-EB42-4DB6-9F45-9B97B6FA5243}" presName="parSpace" presStyleCnt="0"/>
      <dgm:spPr/>
    </dgm:pt>
    <dgm:pt modelId="{054A696B-C371-4853-A90B-861864E61580}" type="pres">
      <dgm:prSet presAssocID="{8F68D21A-4524-40A1-8C5A-9B0ACA5B8F0D}" presName="parTxOnly" presStyleLbl="node1" presStyleIdx="5" presStyleCnt="8">
        <dgm:presLayoutVars>
          <dgm:bulletEnabled val="1"/>
        </dgm:presLayoutVars>
      </dgm:prSet>
      <dgm:spPr/>
    </dgm:pt>
    <dgm:pt modelId="{E55F57F8-6EE9-4438-87BB-E48EB9C1805E}" type="pres">
      <dgm:prSet presAssocID="{26D8BAE3-6F27-401D-B758-33FBA22B582E}" presName="parSpace" presStyleCnt="0"/>
      <dgm:spPr/>
    </dgm:pt>
    <dgm:pt modelId="{6F752C57-479F-490B-B872-867672885E37}" type="pres">
      <dgm:prSet presAssocID="{86569564-DC94-4CF6-9506-85507740BB6A}" presName="parTxOnly" presStyleLbl="node1" presStyleIdx="6" presStyleCnt="8">
        <dgm:presLayoutVars>
          <dgm:bulletEnabled val="1"/>
        </dgm:presLayoutVars>
      </dgm:prSet>
      <dgm:spPr/>
    </dgm:pt>
    <dgm:pt modelId="{30819881-A78E-478E-A341-310411FB33CB}" type="pres">
      <dgm:prSet presAssocID="{0ACD890B-D95D-4D7A-A8C9-5A39EE6C706C}" presName="parSpace" presStyleCnt="0"/>
      <dgm:spPr/>
    </dgm:pt>
    <dgm:pt modelId="{55090AA7-C529-4260-8AA7-90D844F8F4CD}" type="pres">
      <dgm:prSet presAssocID="{602C7772-EB5F-4646-AE50-A48A5880EF07}" presName="parTxOnly" presStyleLbl="node1" presStyleIdx="7" presStyleCnt="8">
        <dgm:presLayoutVars>
          <dgm:bulletEnabled val="1"/>
        </dgm:presLayoutVars>
      </dgm:prSet>
      <dgm:spPr/>
    </dgm:pt>
  </dgm:ptLst>
  <dgm:cxnLst>
    <dgm:cxn modelId="{08E6CA17-0E68-454E-9B83-F5EDCCF0ECD1}" type="presOf" srcId="{7085953D-5707-4E21-BE33-041E1976ABF0}" destId="{5E6E4992-CF45-43C7-B989-A7E8AFD2B7BA}" srcOrd="0" destOrd="0" presId="urn:microsoft.com/office/officeart/2005/8/layout/hChevron3"/>
    <dgm:cxn modelId="{A97FED32-6D81-4D4C-90D1-5E56CD63C90D}" srcId="{7085953D-5707-4E21-BE33-041E1976ABF0}" destId="{6E883797-E544-4E13-B3A1-7A96FC6CA78F}" srcOrd="4" destOrd="0" parTransId="{00A85005-96FC-43C4-BFEC-1F2A4F503DE1}" sibTransId="{9B2859BF-EB42-4DB6-9F45-9B97B6FA5243}"/>
    <dgm:cxn modelId="{0CC63C41-F1D0-4E4E-B8CB-7B0B66223725}" type="presOf" srcId="{8F68D21A-4524-40A1-8C5A-9B0ACA5B8F0D}" destId="{054A696B-C371-4853-A90B-861864E61580}" srcOrd="0" destOrd="0" presId="urn:microsoft.com/office/officeart/2005/8/layout/hChevron3"/>
    <dgm:cxn modelId="{49902246-C0B5-4E2C-9F93-C038D4CC6D2B}" srcId="{7085953D-5707-4E21-BE33-041E1976ABF0}" destId="{8F68D21A-4524-40A1-8C5A-9B0ACA5B8F0D}" srcOrd="5" destOrd="0" parTransId="{0B083E9D-E5FF-4E88-8E20-229CB8B1EE39}" sibTransId="{26D8BAE3-6F27-401D-B758-33FBA22B582E}"/>
    <dgm:cxn modelId="{CBE46057-3AFB-4898-8D76-648BBDA41E39}" type="presOf" srcId="{92378E4F-C3B1-43FC-9134-279D37C118C6}" destId="{F5E38D07-E7BF-40B8-A6F8-D9B6ED7C70AB}" srcOrd="0" destOrd="0" presId="urn:microsoft.com/office/officeart/2005/8/layout/hChevron3"/>
    <dgm:cxn modelId="{A4A5915C-7AD7-42F6-9FB6-E0B684254AB4}" type="presOf" srcId="{86569564-DC94-4CF6-9506-85507740BB6A}" destId="{6F752C57-479F-490B-B872-867672885E37}" srcOrd="0" destOrd="0" presId="urn:microsoft.com/office/officeart/2005/8/layout/hChevron3"/>
    <dgm:cxn modelId="{E6439A79-ECF5-4A04-B922-9D0F57ED189F}" srcId="{7085953D-5707-4E21-BE33-041E1976ABF0}" destId="{602C7772-EB5F-4646-AE50-A48A5880EF07}" srcOrd="7" destOrd="0" parTransId="{0E5D93CB-FCA2-4C45-ADC7-D2EAB1826998}" sibTransId="{311A4CB3-E75E-4005-BCBC-162ADA776F8F}"/>
    <dgm:cxn modelId="{23BE258D-FDD9-47D0-A7E5-D9D45829734F}" type="presOf" srcId="{6E883797-E544-4E13-B3A1-7A96FC6CA78F}" destId="{1A45DC18-65BA-46E4-AA32-5AF455E30B02}" srcOrd="0" destOrd="0" presId="urn:microsoft.com/office/officeart/2005/8/layout/hChevron3"/>
    <dgm:cxn modelId="{3465EC98-82EB-4FC4-B8BC-F1E848456BE0}" srcId="{7085953D-5707-4E21-BE33-041E1976ABF0}" destId="{DE38C539-41A9-4E07-81AC-BEB92589C108}" srcOrd="1" destOrd="0" parTransId="{0915026C-9848-48A5-81A8-E6C9D3DB28FC}" sibTransId="{F6EDBD7B-0772-4C1A-AFDB-0B9A717CF845}"/>
    <dgm:cxn modelId="{B33EE09A-4005-438A-BF9B-9770E1456F5C}" type="presOf" srcId="{5783DC9B-DE17-41F6-A65C-0FE69B596323}" destId="{C1161168-84CB-4F7B-B64F-1D08B29AED19}" srcOrd="0" destOrd="0" presId="urn:microsoft.com/office/officeart/2005/8/layout/hChevron3"/>
    <dgm:cxn modelId="{5612C1A3-AD00-45D3-9F35-21372AAF0E60}" srcId="{7085953D-5707-4E21-BE33-041E1976ABF0}" destId="{83FD66CD-0EFC-4B14-97FD-BB1261AA766E}" srcOrd="2" destOrd="0" parTransId="{068DC544-C879-499A-AF7C-22156E57179F}" sibTransId="{E94ED2B4-5985-48A1-9753-06F8A9F33384}"/>
    <dgm:cxn modelId="{CA5949A8-3B71-4281-8E85-BA54A0BA32AA}" srcId="{7085953D-5707-4E21-BE33-041E1976ABF0}" destId="{5783DC9B-DE17-41F6-A65C-0FE69B596323}" srcOrd="0" destOrd="0" parTransId="{ED80C0A9-763D-4ACC-9F50-4C03A3844655}" sibTransId="{25FB9107-F674-419A-B451-668B2458AE3E}"/>
    <dgm:cxn modelId="{D6A1B3AE-CEA5-4606-B61B-EE7DEAD4135B}" type="presOf" srcId="{83FD66CD-0EFC-4B14-97FD-BB1261AA766E}" destId="{40C9B2DF-57F2-4D7A-A8F3-7310629EB107}" srcOrd="0" destOrd="0" presId="urn:microsoft.com/office/officeart/2005/8/layout/hChevron3"/>
    <dgm:cxn modelId="{C30387C4-F336-42B9-9962-E1B51ED7F497}" type="presOf" srcId="{602C7772-EB5F-4646-AE50-A48A5880EF07}" destId="{55090AA7-C529-4260-8AA7-90D844F8F4CD}" srcOrd="0" destOrd="0" presId="urn:microsoft.com/office/officeart/2005/8/layout/hChevron3"/>
    <dgm:cxn modelId="{1B2BBFCD-A099-426D-8D32-4F05A95A76F5}" srcId="{7085953D-5707-4E21-BE33-041E1976ABF0}" destId="{86569564-DC94-4CF6-9506-85507740BB6A}" srcOrd="6" destOrd="0" parTransId="{EC3B1AC6-F4F5-457A-9AF4-547E51169F04}" sibTransId="{0ACD890B-D95D-4D7A-A8C9-5A39EE6C706C}"/>
    <dgm:cxn modelId="{64DCE2E7-95B4-4098-B998-D3720D3E9ED1}" type="presOf" srcId="{DE38C539-41A9-4E07-81AC-BEB92589C108}" destId="{5FAE45F5-6A05-40BC-BF62-F53B837430DC}" srcOrd="0" destOrd="0" presId="urn:microsoft.com/office/officeart/2005/8/layout/hChevron3"/>
    <dgm:cxn modelId="{ED20D0FF-B759-4FA9-89DE-2F8B3AF203DF}" srcId="{7085953D-5707-4E21-BE33-041E1976ABF0}" destId="{92378E4F-C3B1-43FC-9134-279D37C118C6}" srcOrd="3" destOrd="0" parTransId="{2DCAEDE5-699C-4920-98F0-FA703565A9EC}" sibTransId="{299B0D2A-0D9F-4FF8-9C57-677E226A89DC}"/>
    <dgm:cxn modelId="{C0D9D114-6B50-4341-AE6A-553063F0B8EC}" type="presParOf" srcId="{5E6E4992-CF45-43C7-B989-A7E8AFD2B7BA}" destId="{C1161168-84CB-4F7B-B64F-1D08B29AED19}" srcOrd="0" destOrd="0" presId="urn:microsoft.com/office/officeart/2005/8/layout/hChevron3"/>
    <dgm:cxn modelId="{7E43263F-1AED-472A-8600-8A99B7E81D95}" type="presParOf" srcId="{5E6E4992-CF45-43C7-B989-A7E8AFD2B7BA}" destId="{097D5831-7865-4C2B-83B1-3C69F9AE2558}" srcOrd="1" destOrd="0" presId="urn:microsoft.com/office/officeart/2005/8/layout/hChevron3"/>
    <dgm:cxn modelId="{060C9BD1-41F2-48AA-A6AE-5F87D154D3D2}" type="presParOf" srcId="{5E6E4992-CF45-43C7-B989-A7E8AFD2B7BA}" destId="{5FAE45F5-6A05-40BC-BF62-F53B837430DC}" srcOrd="2" destOrd="0" presId="urn:microsoft.com/office/officeart/2005/8/layout/hChevron3"/>
    <dgm:cxn modelId="{801A54E9-8EBA-4BBF-A474-AB44B1D9BEE0}" type="presParOf" srcId="{5E6E4992-CF45-43C7-B989-A7E8AFD2B7BA}" destId="{8F7D4400-4A5C-4E75-A7D3-9BECC7DA9E9B}" srcOrd="3" destOrd="0" presId="urn:microsoft.com/office/officeart/2005/8/layout/hChevron3"/>
    <dgm:cxn modelId="{9C7D4AE6-8C59-4D05-AA90-B7AA11892532}" type="presParOf" srcId="{5E6E4992-CF45-43C7-B989-A7E8AFD2B7BA}" destId="{40C9B2DF-57F2-4D7A-A8F3-7310629EB107}" srcOrd="4" destOrd="0" presId="urn:microsoft.com/office/officeart/2005/8/layout/hChevron3"/>
    <dgm:cxn modelId="{2E068194-9E8C-4E65-9687-DF5A348D4932}" type="presParOf" srcId="{5E6E4992-CF45-43C7-B989-A7E8AFD2B7BA}" destId="{BDC7F5FF-4582-482F-A8B8-D6345182CAC7}" srcOrd="5" destOrd="0" presId="urn:microsoft.com/office/officeart/2005/8/layout/hChevron3"/>
    <dgm:cxn modelId="{6FD1D3AD-8878-487A-B90A-52CE7D223FA4}" type="presParOf" srcId="{5E6E4992-CF45-43C7-B989-A7E8AFD2B7BA}" destId="{F5E38D07-E7BF-40B8-A6F8-D9B6ED7C70AB}" srcOrd="6" destOrd="0" presId="urn:microsoft.com/office/officeart/2005/8/layout/hChevron3"/>
    <dgm:cxn modelId="{AF6F2058-409B-4839-8E6F-AAA6F517D6D6}" type="presParOf" srcId="{5E6E4992-CF45-43C7-B989-A7E8AFD2B7BA}" destId="{15BB239E-5876-4374-B5BE-BD7ED7A0E75B}" srcOrd="7" destOrd="0" presId="urn:microsoft.com/office/officeart/2005/8/layout/hChevron3"/>
    <dgm:cxn modelId="{7987CD73-36C5-4304-8B7F-0864AD07185E}" type="presParOf" srcId="{5E6E4992-CF45-43C7-B989-A7E8AFD2B7BA}" destId="{1A45DC18-65BA-46E4-AA32-5AF455E30B02}" srcOrd="8" destOrd="0" presId="urn:microsoft.com/office/officeart/2005/8/layout/hChevron3"/>
    <dgm:cxn modelId="{FA2C3AA0-F848-4105-9BDA-580830057B1F}" type="presParOf" srcId="{5E6E4992-CF45-43C7-B989-A7E8AFD2B7BA}" destId="{53593CDB-7458-4D3C-ADE3-AE06E4354500}" srcOrd="9" destOrd="0" presId="urn:microsoft.com/office/officeart/2005/8/layout/hChevron3"/>
    <dgm:cxn modelId="{532B22E2-B235-44A8-B219-F29BD8865993}" type="presParOf" srcId="{5E6E4992-CF45-43C7-B989-A7E8AFD2B7BA}" destId="{054A696B-C371-4853-A90B-861864E61580}" srcOrd="10" destOrd="0" presId="urn:microsoft.com/office/officeart/2005/8/layout/hChevron3"/>
    <dgm:cxn modelId="{D211F0F1-1B42-429E-9608-DA0688D6779F}" type="presParOf" srcId="{5E6E4992-CF45-43C7-B989-A7E8AFD2B7BA}" destId="{E55F57F8-6EE9-4438-87BB-E48EB9C1805E}" srcOrd="11" destOrd="0" presId="urn:microsoft.com/office/officeart/2005/8/layout/hChevron3"/>
    <dgm:cxn modelId="{DE277FFE-874C-4163-BD50-C29E5327F010}" type="presParOf" srcId="{5E6E4992-CF45-43C7-B989-A7E8AFD2B7BA}" destId="{6F752C57-479F-490B-B872-867672885E37}" srcOrd="12" destOrd="0" presId="urn:microsoft.com/office/officeart/2005/8/layout/hChevron3"/>
    <dgm:cxn modelId="{52DE329A-44C0-49A4-B8B4-2BE04D349124}" type="presParOf" srcId="{5E6E4992-CF45-43C7-B989-A7E8AFD2B7BA}" destId="{30819881-A78E-478E-A341-310411FB33CB}" srcOrd="13" destOrd="0" presId="urn:microsoft.com/office/officeart/2005/8/layout/hChevron3"/>
    <dgm:cxn modelId="{2CA9215F-C12B-4050-BE70-8831A5A24EE1}" type="presParOf" srcId="{5E6E4992-CF45-43C7-B989-A7E8AFD2B7BA}" destId="{55090AA7-C529-4260-8AA7-90D844F8F4CD}" srcOrd="14"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085953D-5707-4E21-BE33-041E1976ABF0}" type="doc">
      <dgm:prSet loTypeId="urn:microsoft.com/office/officeart/2005/8/layout/hChevron3" loCatId="process" qsTypeId="urn:microsoft.com/office/officeart/2005/8/quickstyle/simple1" qsCatId="simple" csTypeId="urn:microsoft.com/office/officeart/2005/8/colors/accent1_2" csCatId="accent1" phldr="1"/>
      <dgm:spPr/>
    </dgm:pt>
    <dgm:pt modelId="{5783DC9B-DE17-41F6-A65C-0FE69B596323}">
      <dgm:prSet phldrT="[Text]"/>
      <dgm:spPr/>
      <dgm:t>
        <a:bodyPr/>
        <a:lstStyle/>
        <a:p>
          <a:r>
            <a:rPr lang="en-US" dirty="0"/>
            <a:t>Sample registration</a:t>
          </a:r>
        </a:p>
      </dgm:t>
    </dgm:pt>
    <dgm:pt modelId="{ED80C0A9-763D-4ACC-9F50-4C03A3844655}" type="parTrans" cxnId="{CA5949A8-3B71-4281-8E85-BA54A0BA32AA}">
      <dgm:prSet/>
      <dgm:spPr/>
      <dgm:t>
        <a:bodyPr/>
        <a:lstStyle/>
        <a:p>
          <a:endParaRPr lang="en-US"/>
        </a:p>
      </dgm:t>
    </dgm:pt>
    <dgm:pt modelId="{25FB9107-F674-419A-B451-668B2458AE3E}" type="sibTrans" cxnId="{CA5949A8-3B71-4281-8E85-BA54A0BA32AA}">
      <dgm:prSet/>
      <dgm:spPr/>
      <dgm:t>
        <a:bodyPr/>
        <a:lstStyle/>
        <a:p>
          <a:endParaRPr lang="en-US"/>
        </a:p>
      </dgm:t>
    </dgm:pt>
    <dgm:pt modelId="{DE38C539-41A9-4E07-81AC-BEB92589C108}">
      <dgm:prSet phldrT="[Text]"/>
      <dgm:spPr/>
      <dgm:t>
        <a:bodyPr/>
        <a:lstStyle/>
        <a:p>
          <a:r>
            <a:rPr lang="en-US" dirty="0"/>
            <a:t>Sample Collection</a:t>
          </a:r>
        </a:p>
      </dgm:t>
    </dgm:pt>
    <dgm:pt modelId="{0915026C-9848-48A5-81A8-E6C9D3DB28FC}" type="parTrans" cxnId="{3465EC98-82EB-4FC4-B8BC-F1E848456BE0}">
      <dgm:prSet/>
      <dgm:spPr/>
      <dgm:t>
        <a:bodyPr/>
        <a:lstStyle/>
        <a:p>
          <a:endParaRPr lang="en-US"/>
        </a:p>
      </dgm:t>
    </dgm:pt>
    <dgm:pt modelId="{F6EDBD7B-0772-4C1A-AFDB-0B9A717CF845}" type="sibTrans" cxnId="{3465EC98-82EB-4FC4-B8BC-F1E848456BE0}">
      <dgm:prSet/>
      <dgm:spPr/>
      <dgm:t>
        <a:bodyPr/>
        <a:lstStyle/>
        <a:p>
          <a:endParaRPr lang="en-US"/>
        </a:p>
      </dgm:t>
    </dgm:pt>
    <dgm:pt modelId="{83FD66CD-0EFC-4B14-97FD-BB1261AA766E}">
      <dgm:prSet phldrT="[Text]"/>
      <dgm:spPr>
        <a:solidFill>
          <a:srgbClr val="00B050"/>
        </a:solidFill>
      </dgm:spPr>
      <dgm:t>
        <a:bodyPr/>
        <a:lstStyle/>
        <a:p>
          <a:r>
            <a:rPr lang="en-US" dirty="0"/>
            <a:t>Accessioning</a:t>
          </a:r>
        </a:p>
      </dgm:t>
    </dgm:pt>
    <dgm:pt modelId="{068DC544-C879-499A-AF7C-22156E57179F}" type="parTrans" cxnId="{5612C1A3-AD00-45D3-9F35-21372AAF0E60}">
      <dgm:prSet/>
      <dgm:spPr/>
      <dgm:t>
        <a:bodyPr/>
        <a:lstStyle/>
        <a:p>
          <a:endParaRPr lang="en-US"/>
        </a:p>
      </dgm:t>
    </dgm:pt>
    <dgm:pt modelId="{E94ED2B4-5985-48A1-9753-06F8A9F33384}" type="sibTrans" cxnId="{5612C1A3-AD00-45D3-9F35-21372AAF0E60}">
      <dgm:prSet/>
      <dgm:spPr/>
      <dgm:t>
        <a:bodyPr/>
        <a:lstStyle/>
        <a:p>
          <a:endParaRPr lang="en-US"/>
        </a:p>
      </dgm:t>
    </dgm:pt>
    <dgm:pt modelId="{8F68D21A-4524-40A1-8C5A-9B0ACA5B8F0D}">
      <dgm:prSet phldrT="[Text]"/>
      <dgm:spPr/>
      <dgm:t>
        <a:bodyPr/>
        <a:lstStyle/>
        <a:p>
          <a:r>
            <a:rPr lang="en-US" dirty="0"/>
            <a:t>Interpretation</a:t>
          </a:r>
        </a:p>
      </dgm:t>
    </dgm:pt>
    <dgm:pt modelId="{0B083E9D-E5FF-4E88-8E20-229CB8B1EE39}" type="parTrans" cxnId="{49902246-C0B5-4E2C-9F93-C038D4CC6D2B}">
      <dgm:prSet/>
      <dgm:spPr/>
      <dgm:t>
        <a:bodyPr/>
        <a:lstStyle/>
        <a:p>
          <a:endParaRPr lang="en-US"/>
        </a:p>
      </dgm:t>
    </dgm:pt>
    <dgm:pt modelId="{26D8BAE3-6F27-401D-B758-33FBA22B582E}" type="sibTrans" cxnId="{49902246-C0B5-4E2C-9F93-C038D4CC6D2B}">
      <dgm:prSet/>
      <dgm:spPr/>
      <dgm:t>
        <a:bodyPr/>
        <a:lstStyle/>
        <a:p>
          <a:endParaRPr lang="en-US"/>
        </a:p>
      </dgm:t>
    </dgm:pt>
    <dgm:pt modelId="{92378E4F-C3B1-43FC-9134-279D37C118C6}">
      <dgm:prSet phldrT="[Text]"/>
      <dgm:spPr/>
      <dgm:t>
        <a:bodyPr/>
        <a:lstStyle/>
        <a:p>
          <a:r>
            <a:rPr lang="en-US" dirty="0"/>
            <a:t>Testing</a:t>
          </a:r>
        </a:p>
      </dgm:t>
    </dgm:pt>
    <dgm:pt modelId="{2DCAEDE5-699C-4920-98F0-FA703565A9EC}" type="parTrans" cxnId="{ED20D0FF-B759-4FA9-89DE-2F8B3AF203DF}">
      <dgm:prSet/>
      <dgm:spPr/>
      <dgm:t>
        <a:bodyPr/>
        <a:lstStyle/>
        <a:p>
          <a:endParaRPr lang="en-US"/>
        </a:p>
      </dgm:t>
    </dgm:pt>
    <dgm:pt modelId="{299B0D2A-0D9F-4FF8-9C57-677E226A89DC}" type="sibTrans" cxnId="{ED20D0FF-B759-4FA9-89DE-2F8B3AF203DF}">
      <dgm:prSet/>
      <dgm:spPr/>
      <dgm:t>
        <a:bodyPr/>
        <a:lstStyle/>
        <a:p>
          <a:endParaRPr lang="en-US"/>
        </a:p>
      </dgm:t>
    </dgm:pt>
    <dgm:pt modelId="{6E883797-E544-4E13-B3A1-7A96FC6CA78F}">
      <dgm:prSet phldrT="[Text]"/>
      <dgm:spPr/>
      <dgm:t>
        <a:bodyPr/>
        <a:lstStyle/>
        <a:p>
          <a:r>
            <a:rPr lang="en-US" dirty="0"/>
            <a:t>Result</a:t>
          </a:r>
        </a:p>
      </dgm:t>
    </dgm:pt>
    <dgm:pt modelId="{00A85005-96FC-43C4-BFEC-1F2A4F503DE1}" type="parTrans" cxnId="{A97FED32-6D81-4D4C-90D1-5E56CD63C90D}">
      <dgm:prSet/>
      <dgm:spPr/>
      <dgm:t>
        <a:bodyPr/>
        <a:lstStyle/>
        <a:p>
          <a:endParaRPr lang="en-US"/>
        </a:p>
      </dgm:t>
    </dgm:pt>
    <dgm:pt modelId="{9B2859BF-EB42-4DB6-9F45-9B97B6FA5243}" type="sibTrans" cxnId="{A97FED32-6D81-4D4C-90D1-5E56CD63C90D}">
      <dgm:prSet/>
      <dgm:spPr/>
      <dgm:t>
        <a:bodyPr/>
        <a:lstStyle/>
        <a:p>
          <a:endParaRPr lang="en-US"/>
        </a:p>
      </dgm:t>
    </dgm:pt>
    <dgm:pt modelId="{86569564-DC94-4CF6-9506-85507740BB6A}">
      <dgm:prSet phldrT="[Text]"/>
      <dgm:spPr/>
      <dgm:t>
        <a:bodyPr/>
        <a:lstStyle/>
        <a:p>
          <a:r>
            <a:rPr lang="en-US" dirty="0"/>
            <a:t>Reporting</a:t>
          </a:r>
        </a:p>
      </dgm:t>
    </dgm:pt>
    <dgm:pt modelId="{EC3B1AC6-F4F5-457A-9AF4-547E51169F04}" type="parTrans" cxnId="{1B2BBFCD-A099-426D-8D32-4F05A95A76F5}">
      <dgm:prSet/>
      <dgm:spPr/>
      <dgm:t>
        <a:bodyPr/>
        <a:lstStyle/>
        <a:p>
          <a:endParaRPr lang="en-US"/>
        </a:p>
      </dgm:t>
    </dgm:pt>
    <dgm:pt modelId="{0ACD890B-D95D-4D7A-A8C9-5A39EE6C706C}" type="sibTrans" cxnId="{1B2BBFCD-A099-426D-8D32-4F05A95A76F5}">
      <dgm:prSet/>
      <dgm:spPr/>
      <dgm:t>
        <a:bodyPr/>
        <a:lstStyle/>
        <a:p>
          <a:endParaRPr lang="en-US"/>
        </a:p>
      </dgm:t>
    </dgm:pt>
    <dgm:pt modelId="{602C7772-EB5F-4646-AE50-A48A5880EF07}">
      <dgm:prSet phldrT="[Text]"/>
      <dgm:spPr/>
      <dgm:t>
        <a:bodyPr/>
        <a:lstStyle/>
        <a:p>
          <a:r>
            <a:rPr lang="en-US" dirty="0"/>
            <a:t>Completed</a:t>
          </a:r>
        </a:p>
      </dgm:t>
    </dgm:pt>
    <dgm:pt modelId="{0E5D93CB-FCA2-4C45-ADC7-D2EAB1826998}" type="parTrans" cxnId="{E6439A79-ECF5-4A04-B922-9D0F57ED189F}">
      <dgm:prSet/>
      <dgm:spPr/>
      <dgm:t>
        <a:bodyPr/>
        <a:lstStyle/>
        <a:p>
          <a:endParaRPr lang="en-US"/>
        </a:p>
      </dgm:t>
    </dgm:pt>
    <dgm:pt modelId="{311A4CB3-E75E-4005-BCBC-162ADA776F8F}" type="sibTrans" cxnId="{E6439A79-ECF5-4A04-B922-9D0F57ED189F}">
      <dgm:prSet/>
      <dgm:spPr/>
      <dgm:t>
        <a:bodyPr/>
        <a:lstStyle/>
        <a:p>
          <a:endParaRPr lang="en-US"/>
        </a:p>
      </dgm:t>
    </dgm:pt>
    <dgm:pt modelId="{5E6E4992-CF45-43C7-B989-A7E8AFD2B7BA}" type="pres">
      <dgm:prSet presAssocID="{7085953D-5707-4E21-BE33-041E1976ABF0}" presName="Name0" presStyleCnt="0">
        <dgm:presLayoutVars>
          <dgm:dir/>
          <dgm:resizeHandles val="exact"/>
        </dgm:presLayoutVars>
      </dgm:prSet>
      <dgm:spPr/>
    </dgm:pt>
    <dgm:pt modelId="{C1161168-84CB-4F7B-B64F-1D08B29AED19}" type="pres">
      <dgm:prSet presAssocID="{5783DC9B-DE17-41F6-A65C-0FE69B596323}" presName="parTxOnly" presStyleLbl="node1" presStyleIdx="0" presStyleCnt="8">
        <dgm:presLayoutVars>
          <dgm:bulletEnabled val="1"/>
        </dgm:presLayoutVars>
      </dgm:prSet>
      <dgm:spPr/>
    </dgm:pt>
    <dgm:pt modelId="{097D5831-7865-4C2B-83B1-3C69F9AE2558}" type="pres">
      <dgm:prSet presAssocID="{25FB9107-F674-419A-B451-668B2458AE3E}" presName="parSpace" presStyleCnt="0"/>
      <dgm:spPr/>
    </dgm:pt>
    <dgm:pt modelId="{5FAE45F5-6A05-40BC-BF62-F53B837430DC}" type="pres">
      <dgm:prSet presAssocID="{DE38C539-41A9-4E07-81AC-BEB92589C108}" presName="parTxOnly" presStyleLbl="node1" presStyleIdx="1" presStyleCnt="8">
        <dgm:presLayoutVars>
          <dgm:bulletEnabled val="1"/>
        </dgm:presLayoutVars>
      </dgm:prSet>
      <dgm:spPr/>
    </dgm:pt>
    <dgm:pt modelId="{8F7D4400-4A5C-4E75-A7D3-9BECC7DA9E9B}" type="pres">
      <dgm:prSet presAssocID="{F6EDBD7B-0772-4C1A-AFDB-0B9A717CF845}" presName="parSpace" presStyleCnt="0"/>
      <dgm:spPr/>
    </dgm:pt>
    <dgm:pt modelId="{40C9B2DF-57F2-4D7A-A8F3-7310629EB107}" type="pres">
      <dgm:prSet presAssocID="{83FD66CD-0EFC-4B14-97FD-BB1261AA766E}" presName="parTxOnly" presStyleLbl="node1" presStyleIdx="2" presStyleCnt="8">
        <dgm:presLayoutVars>
          <dgm:bulletEnabled val="1"/>
        </dgm:presLayoutVars>
      </dgm:prSet>
      <dgm:spPr/>
    </dgm:pt>
    <dgm:pt modelId="{BDC7F5FF-4582-482F-A8B8-D6345182CAC7}" type="pres">
      <dgm:prSet presAssocID="{E94ED2B4-5985-48A1-9753-06F8A9F33384}" presName="parSpace" presStyleCnt="0"/>
      <dgm:spPr/>
    </dgm:pt>
    <dgm:pt modelId="{F5E38D07-E7BF-40B8-A6F8-D9B6ED7C70AB}" type="pres">
      <dgm:prSet presAssocID="{92378E4F-C3B1-43FC-9134-279D37C118C6}" presName="parTxOnly" presStyleLbl="node1" presStyleIdx="3" presStyleCnt="8">
        <dgm:presLayoutVars>
          <dgm:bulletEnabled val="1"/>
        </dgm:presLayoutVars>
      </dgm:prSet>
      <dgm:spPr/>
    </dgm:pt>
    <dgm:pt modelId="{15BB239E-5876-4374-B5BE-BD7ED7A0E75B}" type="pres">
      <dgm:prSet presAssocID="{299B0D2A-0D9F-4FF8-9C57-677E226A89DC}" presName="parSpace" presStyleCnt="0"/>
      <dgm:spPr/>
    </dgm:pt>
    <dgm:pt modelId="{1A45DC18-65BA-46E4-AA32-5AF455E30B02}" type="pres">
      <dgm:prSet presAssocID="{6E883797-E544-4E13-B3A1-7A96FC6CA78F}" presName="parTxOnly" presStyleLbl="node1" presStyleIdx="4" presStyleCnt="8">
        <dgm:presLayoutVars>
          <dgm:bulletEnabled val="1"/>
        </dgm:presLayoutVars>
      </dgm:prSet>
      <dgm:spPr/>
    </dgm:pt>
    <dgm:pt modelId="{53593CDB-7458-4D3C-ADE3-AE06E4354500}" type="pres">
      <dgm:prSet presAssocID="{9B2859BF-EB42-4DB6-9F45-9B97B6FA5243}" presName="parSpace" presStyleCnt="0"/>
      <dgm:spPr/>
    </dgm:pt>
    <dgm:pt modelId="{054A696B-C371-4853-A90B-861864E61580}" type="pres">
      <dgm:prSet presAssocID="{8F68D21A-4524-40A1-8C5A-9B0ACA5B8F0D}" presName="parTxOnly" presStyleLbl="node1" presStyleIdx="5" presStyleCnt="8">
        <dgm:presLayoutVars>
          <dgm:bulletEnabled val="1"/>
        </dgm:presLayoutVars>
      </dgm:prSet>
      <dgm:spPr/>
    </dgm:pt>
    <dgm:pt modelId="{E55F57F8-6EE9-4438-87BB-E48EB9C1805E}" type="pres">
      <dgm:prSet presAssocID="{26D8BAE3-6F27-401D-B758-33FBA22B582E}" presName="parSpace" presStyleCnt="0"/>
      <dgm:spPr/>
    </dgm:pt>
    <dgm:pt modelId="{6F752C57-479F-490B-B872-867672885E37}" type="pres">
      <dgm:prSet presAssocID="{86569564-DC94-4CF6-9506-85507740BB6A}" presName="parTxOnly" presStyleLbl="node1" presStyleIdx="6" presStyleCnt="8">
        <dgm:presLayoutVars>
          <dgm:bulletEnabled val="1"/>
        </dgm:presLayoutVars>
      </dgm:prSet>
      <dgm:spPr/>
    </dgm:pt>
    <dgm:pt modelId="{30819881-A78E-478E-A341-310411FB33CB}" type="pres">
      <dgm:prSet presAssocID="{0ACD890B-D95D-4D7A-A8C9-5A39EE6C706C}" presName="parSpace" presStyleCnt="0"/>
      <dgm:spPr/>
    </dgm:pt>
    <dgm:pt modelId="{55090AA7-C529-4260-8AA7-90D844F8F4CD}" type="pres">
      <dgm:prSet presAssocID="{602C7772-EB5F-4646-AE50-A48A5880EF07}" presName="parTxOnly" presStyleLbl="node1" presStyleIdx="7" presStyleCnt="8">
        <dgm:presLayoutVars>
          <dgm:bulletEnabled val="1"/>
        </dgm:presLayoutVars>
      </dgm:prSet>
      <dgm:spPr/>
    </dgm:pt>
  </dgm:ptLst>
  <dgm:cxnLst>
    <dgm:cxn modelId="{08E6CA17-0E68-454E-9B83-F5EDCCF0ECD1}" type="presOf" srcId="{7085953D-5707-4E21-BE33-041E1976ABF0}" destId="{5E6E4992-CF45-43C7-B989-A7E8AFD2B7BA}" srcOrd="0" destOrd="0" presId="urn:microsoft.com/office/officeart/2005/8/layout/hChevron3"/>
    <dgm:cxn modelId="{A97FED32-6D81-4D4C-90D1-5E56CD63C90D}" srcId="{7085953D-5707-4E21-BE33-041E1976ABF0}" destId="{6E883797-E544-4E13-B3A1-7A96FC6CA78F}" srcOrd="4" destOrd="0" parTransId="{00A85005-96FC-43C4-BFEC-1F2A4F503DE1}" sibTransId="{9B2859BF-EB42-4DB6-9F45-9B97B6FA5243}"/>
    <dgm:cxn modelId="{0CC63C41-F1D0-4E4E-B8CB-7B0B66223725}" type="presOf" srcId="{8F68D21A-4524-40A1-8C5A-9B0ACA5B8F0D}" destId="{054A696B-C371-4853-A90B-861864E61580}" srcOrd="0" destOrd="0" presId="urn:microsoft.com/office/officeart/2005/8/layout/hChevron3"/>
    <dgm:cxn modelId="{49902246-C0B5-4E2C-9F93-C038D4CC6D2B}" srcId="{7085953D-5707-4E21-BE33-041E1976ABF0}" destId="{8F68D21A-4524-40A1-8C5A-9B0ACA5B8F0D}" srcOrd="5" destOrd="0" parTransId="{0B083E9D-E5FF-4E88-8E20-229CB8B1EE39}" sibTransId="{26D8BAE3-6F27-401D-B758-33FBA22B582E}"/>
    <dgm:cxn modelId="{CBE46057-3AFB-4898-8D76-648BBDA41E39}" type="presOf" srcId="{92378E4F-C3B1-43FC-9134-279D37C118C6}" destId="{F5E38D07-E7BF-40B8-A6F8-D9B6ED7C70AB}" srcOrd="0" destOrd="0" presId="urn:microsoft.com/office/officeart/2005/8/layout/hChevron3"/>
    <dgm:cxn modelId="{A4A5915C-7AD7-42F6-9FB6-E0B684254AB4}" type="presOf" srcId="{86569564-DC94-4CF6-9506-85507740BB6A}" destId="{6F752C57-479F-490B-B872-867672885E37}" srcOrd="0" destOrd="0" presId="urn:microsoft.com/office/officeart/2005/8/layout/hChevron3"/>
    <dgm:cxn modelId="{E6439A79-ECF5-4A04-B922-9D0F57ED189F}" srcId="{7085953D-5707-4E21-BE33-041E1976ABF0}" destId="{602C7772-EB5F-4646-AE50-A48A5880EF07}" srcOrd="7" destOrd="0" parTransId="{0E5D93CB-FCA2-4C45-ADC7-D2EAB1826998}" sibTransId="{311A4CB3-E75E-4005-BCBC-162ADA776F8F}"/>
    <dgm:cxn modelId="{23BE258D-FDD9-47D0-A7E5-D9D45829734F}" type="presOf" srcId="{6E883797-E544-4E13-B3A1-7A96FC6CA78F}" destId="{1A45DC18-65BA-46E4-AA32-5AF455E30B02}" srcOrd="0" destOrd="0" presId="urn:microsoft.com/office/officeart/2005/8/layout/hChevron3"/>
    <dgm:cxn modelId="{3465EC98-82EB-4FC4-B8BC-F1E848456BE0}" srcId="{7085953D-5707-4E21-BE33-041E1976ABF0}" destId="{DE38C539-41A9-4E07-81AC-BEB92589C108}" srcOrd="1" destOrd="0" parTransId="{0915026C-9848-48A5-81A8-E6C9D3DB28FC}" sibTransId="{F6EDBD7B-0772-4C1A-AFDB-0B9A717CF845}"/>
    <dgm:cxn modelId="{B33EE09A-4005-438A-BF9B-9770E1456F5C}" type="presOf" srcId="{5783DC9B-DE17-41F6-A65C-0FE69B596323}" destId="{C1161168-84CB-4F7B-B64F-1D08B29AED19}" srcOrd="0" destOrd="0" presId="urn:microsoft.com/office/officeart/2005/8/layout/hChevron3"/>
    <dgm:cxn modelId="{5612C1A3-AD00-45D3-9F35-21372AAF0E60}" srcId="{7085953D-5707-4E21-BE33-041E1976ABF0}" destId="{83FD66CD-0EFC-4B14-97FD-BB1261AA766E}" srcOrd="2" destOrd="0" parTransId="{068DC544-C879-499A-AF7C-22156E57179F}" sibTransId="{E94ED2B4-5985-48A1-9753-06F8A9F33384}"/>
    <dgm:cxn modelId="{CA5949A8-3B71-4281-8E85-BA54A0BA32AA}" srcId="{7085953D-5707-4E21-BE33-041E1976ABF0}" destId="{5783DC9B-DE17-41F6-A65C-0FE69B596323}" srcOrd="0" destOrd="0" parTransId="{ED80C0A9-763D-4ACC-9F50-4C03A3844655}" sibTransId="{25FB9107-F674-419A-B451-668B2458AE3E}"/>
    <dgm:cxn modelId="{D6A1B3AE-CEA5-4606-B61B-EE7DEAD4135B}" type="presOf" srcId="{83FD66CD-0EFC-4B14-97FD-BB1261AA766E}" destId="{40C9B2DF-57F2-4D7A-A8F3-7310629EB107}" srcOrd="0" destOrd="0" presId="urn:microsoft.com/office/officeart/2005/8/layout/hChevron3"/>
    <dgm:cxn modelId="{C30387C4-F336-42B9-9962-E1B51ED7F497}" type="presOf" srcId="{602C7772-EB5F-4646-AE50-A48A5880EF07}" destId="{55090AA7-C529-4260-8AA7-90D844F8F4CD}" srcOrd="0" destOrd="0" presId="urn:microsoft.com/office/officeart/2005/8/layout/hChevron3"/>
    <dgm:cxn modelId="{1B2BBFCD-A099-426D-8D32-4F05A95A76F5}" srcId="{7085953D-5707-4E21-BE33-041E1976ABF0}" destId="{86569564-DC94-4CF6-9506-85507740BB6A}" srcOrd="6" destOrd="0" parTransId="{EC3B1AC6-F4F5-457A-9AF4-547E51169F04}" sibTransId="{0ACD890B-D95D-4D7A-A8C9-5A39EE6C706C}"/>
    <dgm:cxn modelId="{64DCE2E7-95B4-4098-B998-D3720D3E9ED1}" type="presOf" srcId="{DE38C539-41A9-4E07-81AC-BEB92589C108}" destId="{5FAE45F5-6A05-40BC-BF62-F53B837430DC}" srcOrd="0" destOrd="0" presId="urn:microsoft.com/office/officeart/2005/8/layout/hChevron3"/>
    <dgm:cxn modelId="{ED20D0FF-B759-4FA9-89DE-2F8B3AF203DF}" srcId="{7085953D-5707-4E21-BE33-041E1976ABF0}" destId="{92378E4F-C3B1-43FC-9134-279D37C118C6}" srcOrd="3" destOrd="0" parTransId="{2DCAEDE5-699C-4920-98F0-FA703565A9EC}" sibTransId="{299B0D2A-0D9F-4FF8-9C57-677E226A89DC}"/>
    <dgm:cxn modelId="{C0D9D114-6B50-4341-AE6A-553063F0B8EC}" type="presParOf" srcId="{5E6E4992-CF45-43C7-B989-A7E8AFD2B7BA}" destId="{C1161168-84CB-4F7B-B64F-1D08B29AED19}" srcOrd="0" destOrd="0" presId="urn:microsoft.com/office/officeart/2005/8/layout/hChevron3"/>
    <dgm:cxn modelId="{7E43263F-1AED-472A-8600-8A99B7E81D95}" type="presParOf" srcId="{5E6E4992-CF45-43C7-B989-A7E8AFD2B7BA}" destId="{097D5831-7865-4C2B-83B1-3C69F9AE2558}" srcOrd="1" destOrd="0" presId="urn:microsoft.com/office/officeart/2005/8/layout/hChevron3"/>
    <dgm:cxn modelId="{060C9BD1-41F2-48AA-A6AE-5F87D154D3D2}" type="presParOf" srcId="{5E6E4992-CF45-43C7-B989-A7E8AFD2B7BA}" destId="{5FAE45F5-6A05-40BC-BF62-F53B837430DC}" srcOrd="2" destOrd="0" presId="urn:microsoft.com/office/officeart/2005/8/layout/hChevron3"/>
    <dgm:cxn modelId="{801A54E9-8EBA-4BBF-A474-AB44B1D9BEE0}" type="presParOf" srcId="{5E6E4992-CF45-43C7-B989-A7E8AFD2B7BA}" destId="{8F7D4400-4A5C-4E75-A7D3-9BECC7DA9E9B}" srcOrd="3" destOrd="0" presId="urn:microsoft.com/office/officeart/2005/8/layout/hChevron3"/>
    <dgm:cxn modelId="{9C7D4AE6-8C59-4D05-AA90-B7AA11892532}" type="presParOf" srcId="{5E6E4992-CF45-43C7-B989-A7E8AFD2B7BA}" destId="{40C9B2DF-57F2-4D7A-A8F3-7310629EB107}" srcOrd="4" destOrd="0" presId="urn:microsoft.com/office/officeart/2005/8/layout/hChevron3"/>
    <dgm:cxn modelId="{2E068194-9E8C-4E65-9687-DF5A348D4932}" type="presParOf" srcId="{5E6E4992-CF45-43C7-B989-A7E8AFD2B7BA}" destId="{BDC7F5FF-4582-482F-A8B8-D6345182CAC7}" srcOrd="5" destOrd="0" presId="urn:microsoft.com/office/officeart/2005/8/layout/hChevron3"/>
    <dgm:cxn modelId="{6FD1D3AD-8878-487A-B90A-52CE7D223FA4}" type="presParOf" srcId="{5E6E4992-CF45-43C7-B989-A7E8AFD2B7BA}" destId="{F5E38D07-E7BF-40B8-A6F8-D9B6ED7C70AB}" srcOrd="6" destOrd="0" presId="urn:microsoft.com/office/officeart/2005/8/layout/hChevron3"/>
    <dgm:cxn modelId="{AF6F2058-409B-4839-8E6F-AAA6F517D6D6}" type="presParOf" srcId="{5E6E4992-CF45-43C7-B989-A7E8AFD2B7BA}" destId="{15BB239E-5876-4374-B5BE-BD7ED7A0E75B}" srcOrd="7" destOrd="0" presId="urn:microsoft.com/office/officeart/2005/8/layout/hChevron3"/>
    <dgm:cxn modelId="{7987CD73-36C5-4304-8B7F-0864AD07185E}" type="presParOf" srcId="{5E6E4992-CF45-43C7-B989-A7E8AFD2B7BA}" destId="{1A45DC18-65BA-46E4-AA32-5AF455E30B02}" srcOrd="8" destOrd="0" presId="urn:microsoft.com/office/officeart/2005/8/layout/hChevron3"/>
    <dgm:cxn modelId="{FA2C3AA0-F848-4105-9BDA-580830057B1F}" type="presParOf" srcId="{5E6E4992-CF45-43C7-B989-A7E8AFD2B7BA}" destId="{53593CDB-7458-4D3C-ADE3-AE06E4354500}" srcOrd="9" destOrd="0" presId="urn:microsoft.com/office/officeart/2005/8/layout/hChevron3"/>
    <dgm:cxn modelId="{532B22E2-B235-44A8-B219-F29BD8865993}" type="presParOf" srcId="{5E6E4992-CF45-43C7-B989-A7E8AFD2B7BA}" destId="{054A696B-C371-4853-A90B-861864E61580}" srcOrd="10" destOrd="0" presId="urn:microsoft.com/office/officeart/2005/8/layout/hChevron3"/>
    <dgm:cxn modelId="{D211F0F1-1B42-429E-9608-DA0688D6779F}" type="presParOf" srcId="{5E6E4992-CF45-43C7-B989-A7E8AFD2B7BA}" destId="{E55F57F8-6EE9-4438-87BB-E48EB9C1805E}" srcOrd="11" destOrd="0" presId="urn:microsoft.com/office/officeart/2005/8/layout/hChevron3"/>
    <dgm:cxn modelId="{DE277FFE-874C-4163-BD50-C29E5327F010}" type="presParOf" srcId="{5E6E4992-CF45-43C7-B989-A7E8AFD2B7BA}" destId="{6F752C57-479F-490B-B872-867672885E37}" srcOrd="12" destOrd="0" presId="urn:microsoft.com/office/officeart/2005/8/layout/hChevron3"/>
    <dgm:cxn modelId="{52DE329A-44C0-49A4-B8B4-2BE04D349124}" type="presParOf" srcId="{5E6E4992-CF45-43C7-B989-A7E8AFD2B7BA}" destId="{30819881-A78E-478E-A341-310411FB33CB}" srcOrd="13" destOrd="0" presId="urn:microsoft.com/office/officeart/2005/8/layout/hChevron3"/>
    <dgm:cxn modelId="{2CA9215F-C12B-4050-BE70-8831A5A24EE1}" type="presParOf" srcId="{5E6E4992-CF45-43C7-B989-A7E8AFD2B7BA}" destId="{55090AA7-C529-4260-8AA7-90D844F8F4CD}" srcOrd="14"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085953D-5707-4E21-BE33-041E1976ABF0}" type="doc">
      <dgm:prSet loTypeId="urn:microsoft.com/office/officeart/2005/8/layout/hChevron3" loCatId="process" qsTypeId="urn:microsoft.com/office/officeart/2005/8/quickstyle/simple1" qsCatId="simple" csTypeId="urn:microsoft.com/office/officeart/2005/8/colors/accent1_2" csCatId="accent1" phldr="1"/>
      <dgm:spPr/>
    </dgm:pt>
    <dgm:pt modelId="{5783DC9B-DE17-41F6-A65C-0FE69B596323}">
      <dgm:prSet phldrT="[Text]"/>
      <dgm:spPr/>
      <dgm:t>
        <a:bodyPr/>
        <a:lstStyle/>
        <a:p>
          <a:r>
            <a:rPr lang="en-US" dirty="0"/>
            <a:t>Sample registration</a:t>
          </a:r>
        </a:p>
      </dgm:t>
    </dgm:pt>
    <dgm:pt modelId="{ED80C0A9-763D-4ACC-9F50-4C03A3844655}" type="parTrans" cxnId="{CA5949A8-3B71-4281-8E85-BA54A0BA32AA}">
      <dgm:prSet/>
      <dgm:spPr/>
      <dgm:t>
        <a:bodyPr/>
        <a:lstStyle/>
        <a:p>
          <a:endParaRPr lang="en-US"/>
        </a:p>
      </dgm:t>
    </dgm:pt>
    <dgm:pt modelId="{25FB9107-F674-419A-B451-668B2458AE3E}" type="sibTrans" cxnId="{CA5949A8-3B71-4281-8E85-BA54A0BA32AA}">
      <dgm:prSet/>
      <dgm:spPr/>
      <dgm:t>
        <a:bodyPr/>
        <a:lstStyle/>
        <a:p>
          <a:endParaRPr lang="en-US"/>
        </a:p>
      </dgm:t>
    </dgm:pt>
    <dgm:pt modelId="{DE38C539-41A9-4E07-81AC-BEB92589C108}">
      <dgm:prSet phldrT="[Text]"/>
      <dgm:spPr/>
      <dgm:t>
        <a:bodyPr/>
        <a:lstStyle/>
        <a:p>
          <a:r>
            <a:rPr lang="en-US" dirty="0"/>
            <a:t>Sample Collection</a:t>
          </a:r>
        </a:p>
      </dgm:t>
    </dgm:pt>
    <dgm:pt modelId="{0915026C-9848-48A5-81A8-E6C9D3DB28FC}" type="parTrans" cxnId="{3465EC98-82EB-4FC4-B8BC-F1E848456BE0}">
      <dgm:prSet/>
      <dgm:spPr/>
      <dgm:t>
        <a:bodyPr/>
        <a:lstStyle/>
        <a:p>
          <a:endParaRPr lang="en-US"/>
        </a:p>
      </dgm:t>
    </dgm:pt>
    <dgm:pt modelId="{F6EDBD7B-0772-4C1A-AFDB-0B9A717CF845}" type="sibTrans" cxnId="{3465EC98-82EB-4FC4-B8BC-F1E848456BE0}">
      <dgm:prSet/>
      <dgm:spPr/>
      <dgm:t>
        <a:bodyPr/>
        <a:lstStyle/>
        <a:p>
          <a:endParaRPr lang="en-US"/>
        </a:p>
      </dgm:t>
    </dgm:pt>
    <dgm:pt modelId="{83FD66CD-0EFC-4B14-97FD-BB1261AA766E}">
      <dgm:prSet phldrT="[Text]"/>
      <dgm:spPr/>
      <dgm:t>
        <a:bodyPr/>
        <a:lstStyle/>
        <a:p>
          <a:r>
            <a:rPr lang="en-US" dirty="0"/>
            <a:t>Accessioning</a:t>
          </a:r>
        </a:p>
      </dgm:t>
    </dgm:pt>
    <dgm:pt modelId="{068DC544-C879-499A-AF7C-22156E57179F}" type="parTrans" cxnId="{5612C1A3-AD00-45D3-9F35-21372AAF0E60}">
      <dgm:prSet/>
      <dgm:spPr/>
      <dgm:t>
        <a:bodyPr/>
        <a:lstStyle/>
        <a:p>
          <a:endParaRPr lang="en-US"/>
        </a:p>
      </dgm:t>
    </dgm:pt>
    <dgm:pt modelId="{E94ED2B4-5985-48A1-9753-06F8A9F33384}" type="sibTrans" cxnId="{5612C1A3-AD00-45D3-9F35-21372AAF0E60}">
      <dgm:prSet/>
      <dgm:spPr/>
      <dgm:t>
        <a:bodyPr/>
        <a:lstStyle/>
        <a:p>
          <a:endParaRPr lang="en-US"/>
        </a:p>
      </dgm:t>
    </dgm:pt>
    <dgm:pt modelId="{8F68D21A-4524-40A1-8C5A-9B0ACA5B8F0D}">
      <dgm:prSet phldrT="[Text]"/>
      <dgm:spPr/>
      <dgm:t>
        <a:bodyPr/>
        <a:lstStyle/>
        <a:p>
          <a:r>
            <a:rPr lang="en-US" dirty="0"/>
            <a:t>Interpretation</a:t>
          </a:r>
        </a:p>
      </dgm:t>
    </dgm:pt>
    <dgm:pt modelId="{0B083E9D-E5FF-4E88-8E20-229CB8B1EE39}" type="parTrans" cxnId="{49902246-C0B5-4E2C-9F93-C038D4CC6D2B}">
      <dgm:prSet/>
      <dgm:spPr/>
      <dgm:t>
        <a:bodyPr/>
        <a:lstStyle/>
        <a:p>
          <a:endParaRPr lang="en-US"/>
        </a:p>
      </dgm:t>
    </dgm:pt>
    <dgm:pt modelId="{26D8BAE3-6F27-401D-B758-33FBA22B582E}" type="sibTrans" cxnId="{49902246-C0B5-4E2C-9F93-C038D4CC6D2B}">
      <dgm:prSet/>
      <dgm:spPr/>
      <dgm:t>
        <a:bodyPr/>
        <a:lstStyle/>
        <a:p>
          <a:endParaRPr lang="en-US"/>
        </a:p>
      </dgm:t>
    </dgm:pt>
    <dgm:pt modelId="{92378E4F-C3B1-43FC-9134-279D37C118C6}">
      <dgm:prSet phldrT="[Text]"/>
      <dgm:spPr>
        <a:solidFill>
          <a:srgbClr val="00B050"/>
        </a:solidFill>
      </dgm:spPr>
      <dgm:t>
        <a:bodyPr/>
        <a:lstStyle/>
        <a:p>
          <a:r>
            <a:rPr lang="en-US" dirty="0"/>
            <a:t>Testing</a:t>
          </a:r>
        </a:p>
      </dgm:t>
    </dgm:pt>
    <dgm:pt modelId="{2DCAEDE5-699C-4920-98F0-FA703565A9EC}" type="parTrans" cxnId="{ED20D0FF-B759-4FA9-89DE-2F8B3AF203DF}">
      <dgm:prSet/>
      <dgm:spPr/>
      <dgm:t>
        <a:bodyPr/>
        <a:lstStyle/>
        <a:p>
          <a:endParaRPr lang="en-US"/>
        </a:p>
      </dgm:t>
    </dgm:pt>
    <dgm:pt modelId="{299B0D2A-0D9F-4FF8-9C57-677E226A89DC}" type="sibTrans" cxnId="{ED20D0FF-B759-4FA9-89DE-2F8B3AF203DF}">
      <dgm:prSet/>
      <dgm:spPr/>
      <dgm:t>
        <a:bodyPr/>
        <a:lstStyle/>
        <a:p>
          <a:endParaRPr lang="en-US"/>
        </a:p>
      </dgm:t>
    </dgm:pt>
    <dgm:pt modelId="{6E883797-E544-4E13-B3A1-7A96FC6CA78F}">
      <dgm:prSet phldrT="[Text]"/>
      <dgm:spPr/>
      <dgm:t>
        <a:bodyPr/>
        <a:lstStyle/>
        <a:p>
          <a:r>
            <a:rPr lang="en-US" dirty="0"/>
            <a:t>Result</a:t>
          </a:r>
        </a:p>
      </dgm:t>
    </dgm:pt>
    <dgm:pt modelId="{00A85005-96FC-43C4-BFEC-1F2A4F503DE1}" type="parTrans" cxnId="{A97FED32-6D81-4D4C-90D1-5E56CD63C90D}">
      <dgm:prSet/>
      <dgm:spPr/>
      <dgm:t>
        <a:bodyPr/>
        <a:lstStyle/>
        <a:p>
          <a:endParaRPr lang="en-US"/>
        </a:p>
      </dgm:t>
    </dgm:pt>
    <dgm:pt modelId="{9B2859BF-EB42-4DB6-9F45-9B97B6FA5243}" type="sibTrans" cxnId="{A97FED32-6D81-4D4C-90D1-5E56CD63C90D}">
      <dgm:prSet/>
      <dgm:spPr/>
      <dgm:t>
        <a:bodyPr/>
        <a:lstStyle/>
        <a:p>
          <a:endParaRPr lang="en-US"/>
        </a:p>
      </dgm:t>
    </dgm:pt>
    <dgm:pt modelId="{86569564-DC94-4CF6-9506-85507740BB6A}">
      <dgm:prSet phldrT="[Text]"/>
      <dgm:spPr/>
      <dgm:t>
        <a:bodyPr/>
        <a:lstStyle/>
        <a:p>
          <a:r>
            <a:rPr lang="en-US" dirty="0"/>
            <a:t>Reporting</a:t>
          </a:r>
        </a:p>
      </dgm:t>
    </dgm:pt>
    <dgm:pt modelId="{EC3B1AC6-F4F5-457A-9AF4-547E51169F04}" type="parTrans" cxnId="{1B2BBFCD-A099-426D-8D32-4F05A95A76F5}">
      <dgm:prSet/>
      <dgm:spPr/>
      <dgm:t>
        <a:bodyPr/>
        <a:lstStyle/>
        <a:p>
          <a:endParaRPr lang="en-US"/>
        </a:p>
      </dgm:t>
    </dgm:pt>
    <dgm:pt modelId="{0ACD890B-D95D-4D7A-A8C9-5A39EE6C706C}" type="sibTrans" cxnId="{1B2BBFCD-A099-426D-8D32-4F05A95A76F5}">
      <dgm:prSet/>
      <dgm:spPr/>
      <dgm:t>
        <a:bodyPr/>
        <a:lstStyle/>
        <a:p>
          <a:endParaRPr lang="en-US"/>
        </a:p>
      </dgm:t>
    </dgm:pt>
    <dgm:pt modelId="{602C7772-EB5F-4646-AE50-A48A5880EF07}">
      <dgm:prSet phldrT="[Text]"/>
      <dgm:spPr/>
      <dgm:t>
        <a:bodyPr/>
        <a:lstStyle/>
        <a:p>
          <a:r>
            <a:rPr lang="en-US" dirty="0"/>
            <a:t>Completed</a:t>
          </a:r>
        </a:p>
      </dgm:t>
    </dgm:pt>
    <dgm:pt modelId="{0E5D93CB-FCA2-4C45-ADC7-D2EAB1826998}" type="parTrans" cxnId="{E6439A79-ECF5-4A04-B922-9D0F57ED189F}">
      <dgm:prSet/>
      <dgm:spPr/>
      <dgm:t>
        <a:bodyPr/>
        <a:lstStyle/>
        <a:p>
          <a:endParaRPr lang="en-US"/>
        </a:p>
      </dgm:t>
    </dgm:pt>
    <dgm:pt modelId="{311A4CB3-E75E-4005-BCBC-162ADA776F8F}" type="sibTrans" cxnId="{E6439A79-ECF5-4A04-B922-9D0F57ED189F}">
      <dgm:prSet/>
      <dgm:spPr/>
      <dgm:t>
        <a:bodyPr/>
        <a:lstStyle/>
        <a:p>
          <a:endParaRPr lang="en-US"/>
        </a:p>
      </dgm:t>
    </dgm:pt>
    <dgm:pt modelId="{5E6E4992-CF45-43C7-B989-A7E8AFD2B7BA}" type="pres">
      <dgm:prSet presAssocID="{7085953D-5707-4E21-BE33-041E1976ABF0}" presName="Name0" presStyleCnt="0">
        <dgm:presLayoutVars>
          <dgm:dir/>
          <dgm:resizeHandles val="exact"/>
        </dgm:presLayoutVars>
      </dgm:prSet>
      <dgm:spPr/>
    </dgm:pt>
    <dgm:pt modelId="{C1161168-84CB-4F7B-B64F-1D08B29AED19}" type="pres">
      <dgm:prSet presAssocID="{5783DC9B-DE17-41F6-A65C-0FE69B596323}" presName="parTxOnly" presStyleLbl="node1" presStyleIdx="0" presStyleCnt="8">
        <dgm:presLayoutVars>
          <dgm:bulletEnabled val="1"/>
        </dgm:presLayoutVars>
      </dgm:prSet>
      <dgm:spPr/>
    </dgm:pt>
    <dgm:pt modelId="{097D5831-7865-4C2B-83B1-3C69F9AE2558}" type="pres">
      <dgm:prSet presAssocID="{25FB9107-F674-419A-B451-668B2458AE3E}" presName="parSpace" presStyleCnt="0"/>
      <dgm:spPr/>
    </dgm:pt>
    <dgm:pt modelId="{5FAE45F5-6A05-40BC-BF62-F53B837430DC}" type="pres">
      <dgm:prSet presAssocID="{DE38C539-41A9-4E07-81AC-BEB92589C108}" presName="parTxOnly" presStyleLbl="node1" presStyleIdx="1" presStyleCnt="8">
        <dgm:presLayoutVars>
          <dgm:bulletEnabled val="1"/>
        </dgm:presLayoutVars>
      </dgm:prSet>
      <dgm:spPr/>
    </dgm:pt>
    <dgm:pt modelId="{8F7D4400-4A5C-4E75-A7D3-9BECC7DA9E9B}" type="pres">
      <dgm:prSet presAssocID="{F6EDBD7B-0772-4C1A-AFDB-0B9A717CF845}" presName="parSpace" presStyleCnt="0"/>
      <dgm:spPr/>
    </dgm:pt>
    <dgm:pt modelId="{40C9B2DF-57F2-4D7A-A8F3-7310629EB107}" type="pres">
      <dgm:prSet presAssocID="{83FD66CD-0EFC-4B14-97FD-BB1261AA766E}" presName="parTxOnly" presStyleLbl="node1" presStyleIdx="2" presStyleCnt="8">
        <dgm:presLayoutVars>
          <dgm:bulletEnabled val="1"/>
        </dgm:presLayoutVars>
      </dgm:prSet>
      <dgm:spPr/>
    </dgm:pt>
    <dgm:pt modelId="{BDC7F5FF-4582-482F-A8B8-D6345182CAC7}" type="pres">
      <dgm:prSet presAssocID="{E94ED2B4-5985-48A1-9753-06F8A9F33384}" presName="parSpace" presStyleCnt="0"/>
      <dgm:spPr/>
    </dgm:pt>
    <dgm:pt modelId="{F5E38D07-E7BF-40B8-A6F8-D9B6ED7C70AB}" type="pres">
      <dgm:prSet presAssocID="{92378E4F-C3B1-43FC-9134-279D37C118C6}" presName="parTxOnly" presStyleLbl="node1" presStyleIdx="3" presStyleCnt="8">
        <dgm:presLayoutVars>
          <dgm:bulletEnabled val="1"/>
        </dgm:presLayoutVars>
      </dgm:prSet>
      <dgm:spPr/>
    </dgm:pt>
    <dgm:pt modelId="{15BB239E-5876-4374-B5BE-BD7ED7A0E75B}" type="pres">
      <dgm:prSet presAssocID="{299B0D2A-0D9F-4FF8-9C57-677E226A89DC}" presName="parSpace" presStyleCnt="0"/>
      <dgm:spPr/>
    </dgm:pt>
    <dgm:pt modelId="{1A45DC18-65BA-46E4-AA32-5AF455E30B02}" type="pres">
      <dgm:prSet presAssocID="{6E883797-E544-4E13-B3A1-7A96FC6CA78F}" presName="parTxOnly" presStyleLbl="node1" presStyleIdx="4" presStyleCnt="8">
        <dgm:presLayoutVars>
          <dgm:bulletEnabled val="1"/>
        </dgm:presLayoutVars>
      </dgm:prSet>
      <dgm:spPr/>
    </dgm:pt>
    <dgm:pt modelId="{53593CDB-7458-4D3C-ADE3-AE06E4354500}" type="pres">
      <dgm:prSet presAssocID="{9B2859BF-EB42-4DB6-9F45-9B97B6FA5243}" presName="parSpace" presStyleCnt="0"/>
      <dgm:spPr/>
    </dgm:pt>
    <dgm:pt modelId="{054A696B-C371-4853-A90B-861864E61580}" type="pres">
      <dgm:prSet presAssocID="{8F68D21A-4524-40A1-8C5A-9B0ACA5B8F0D}" presName="parTxOnly" presStyleLbl="node1" presStyleIdx="5" presStyleCnt="8">
        <dgm:presLayoutVars>
          <dgm:bulletEnabled val="1"/>
        </dgm:presLayoutVars>
      </dgm:prSet>
      <dgm:spPr/>
    </dgm:pt>
    <dgm:pt modelId="{E55F57F8-6EE9-4438-87BB-E48EB9C1805E}" type="pres">
      <dgm:prSet presAssocID="{26D8BAE3-6F27-401D-B758-33FBA22B582E}" presName="parSpace" presStyleCnt="0"/>
      <dgm:spPr/>
    </dgm:pt>
    <dgm:pt modelId="{6F752C57-479F-490B-B872-867672885E37}" type="pres">
      <dgm:prSet presAssocID="{86569564-DC94-4CF6-9506-85507740BB6A}" presName="parTxOnly" presStyleLbl="node1" presStyleIdx="6" presStyleCnt="8">
        <dgm:presLayoutVars>
          <dgm:bulletEnabled val="1"/>
        </dgm:presLayoutVars>
      </dgm:prSet>
      <dgm:spPr/>
    </dgm:pt>
    <dgm:pt modelId="{30819881-A78E-478E-A341-310411FB33CB}" type="pres">
      <dgm:prSet presAssocID="{0ACD890B-D95D-4D7A-A8C9-5A39EE6C706C}" presName="parSpace" presStyleCnt="0"/>
      <dgm:spPr/>
    </dgm:pt>
    <dgm:pt modelId="{55090AA7-C529-4260-8AA7-90D844F8F4CD}" type="pres">
      <dgm:prSet presAssocID="{602C7772-EB5F-4646-AE50-A48A5880EF07}" presName="parTxOnly" presStyleLbl="node1" presStyleIdx="7" presStyleCnt="8">
        <dgm:presLayoutVars>
          <dgm:bulletEnabled val="1"/>
        </dgm:presLayoutVars>
      </dgm:prSet>
      <dgm:spPr/>
    </dgm:pt>
  </dgm:ptLst>
  <dgm:cxnLst>
    <dgm:cxn modelId="{08E6CA17-0E68-454E-9B83-F5EDCCF0ECD1}" type="presOf" srcId="{7085953D-5707-4E21-BE33-041E1976ABF0}" destId="{5E6E4992-CF45-43C7-B989-A7E8AFD2B7BA}" srcOrd="0" destOrd="0" presId="urn:microsoft.com/office/officeart/2005/8/layout/hChevron3"/>
    <dgm:cxn modelId="{A97FED32-6D81-4D4C-90D1-5E56CD63C90D}" srcId="{7085953D-5707-4E21-BE33-041E1976ABF0}" destId="{6E883797-E544-4E13-B3A1-7A96FC6CA78F}" srcOrd="4" destOrd="0" parTransId="{00A85005-96FC-43C4-BFEC-1F2A4F503DE1}" sibTransId="{9B2859BF-EB42-4DB6-9F45-9B97B6FA5243}"/>
    <dgm:cxn modelId="{0CC63C41-F1D0-4E4E-B8CB-7B0B66223725}" type="presOf" srcId="{8F68D21A-4524-40A1-8C5A-9B0ACA5B8F0D}" destId="{054A696B-C371-4853-A90B-861864E61580}" srcOrd="0" destOrd="0" presId="urn:microsoft.com/office/officeart/2005/8/layout/hChevron3"/>
    <dgm:cxn modelId="{49902246-C0B5-4E2C-9F93-C038D4CC6D2B}" srcId="{7085953D-5707-4E21-BE33-041E1976ABF0}" destId="{8F68D21A-4524-40A1-8C5A-9B0ACA5B8F0D}" srcOrd="5" destOrd="0" parTransId="{0B083E9D-E5FF-4E88-8E20-229CB8B1EE39}" sibTransId="{26D8BAE3-6F27-401D-B758-33FBA22B582E}"/>
    <dgm:cxn modelId="{CBE46057-3AFB-4898-8D76-648BBDA41E39}" type="presOf" srcId="{92378E4F-C3B1-43FC-9134-279D37C118C6}" destId="{F5E38D07-E7BF-40B8-A6F8-D9B6ED7C70AB}" srcOrd="0" destOrd="0" presId="urn:microsoft.com/office/officeart/2005/8/layout/hChevron3"/>
    <dgm:cxn modelId="{A4A5915C-7AD7-42F6-9FB6-E0B684254AB4}" type="presOf" srcId="{86569564-DC94-4CF6-9506-85507740BB6A}" destId="{6F752C57-479F-490B-B872-867672885E37}" srcOrd="0" destOrd="0" presId="urn:microsoft.com/office/officeart/2005/8/layout/hChevron3"/>
    <dgm:cxn modelId="{E6439A79-ECF5-4A04-B922-9D0F57ED189F}" srcId="{7085953D-5707-4E21-BE33-041E1976ABF0}" destId="{602C7772-EB5F-4646-AE50-A48A5880EF07}" srcOrd="7" destOrd="0" parTransId="{0E5D93CB-FCA2-4C45-ADC7-D2EAB1826998}" sibTransId="{311A4CB3-E75E-4005-BCBC-162ADA776F8F}"/>
    <dgm:cxn modelId="{23BE258D-FDD9-47D0-A7E5-D9D45829734F}" type="presOf" srcId="{6E883797-E544-4E13-B3A1-7A96FC6CA78F}" destId="{1A45DC18-65BA-46E4-AA32-5AF455E30B02}" srcOrd="0" destOrd="0" presId="urn:microsoft.com/office/officeart/2005/8/layout/hChevron3"/>
    <dgm:cxn modelId="{3465EC98-82EB-4FC4-B8BC-F1E848456BE0}" srcId="{7085953D-5707-4E21-BE33-041E1976ABF0}" destId="{DE38C539-41A9-4E07-81AC-BEB92589C108}" srcOrd="1" destOrd="0" parTransId="{0915026C-9848-48A5-81A8-E6C9D3DB28FC}" sibTransId="{F6EDBD7B-0772-4C1A-AFDB-0B9A717CF845}"/>
    <dgm:cxn modelId="{B33EE09A-4005-438A-BF9B-9770E1456F5C}" type="presOf" srcId="{5783DC9B-DE17-41F6-A65C-0FE69B596323}" destId="{C1161168-84CB-4F7B-B64F-1D08B29AED19}" srcOrd="0" destOrd="0" presId="urn:microsoft.com/office/officeart/2005/8/layout/hChevron3"/>
    <dgm:cxn modelId="{5612C1A3-AD00-45D3-9F35-21372AAF0E60}" srcId="{7085953D-5707-4E21-BE33-041E1976ABF0}" destId="{83FD66CD-0EFC-4B14-97FD-BB1261AA766E}" srcOrd="2" destOrd="0" parTransId="{068DC544-C879-499A-AF7C-22156E57179F}" sibTransId="{E94ED2B4-5985-48A1-9753-06F8A9F33384}"/>
    <dgm:cxn modelId="{CA5949A8-3B71-4281-8E85-BA54A0BA32AA}" srcId="{7085953D-5707-4E21-BE33-041E1976ABF0}" destId="{5783DC9B-DE17-41F6-A65C-0FE69B596323}" srcOrd="0" destOrd="0" parTransId="{ED80C0A9-763D-4ACC-9F50-4C03A3844655}" sibTransId="{25FB9107-F674-419A-B451-668B2458AE3E}"/>
    <dgm:cxn modelId="{D6A1B3AE-CEA5-4606-B61B-EE7DEAD4135B}" type="presOf" srcId="{83FD66CD-0EFC-4B14-97FD-BB1261AA766E}" destId="{40C9B2DF-57F2-4D7A-A8F3-7310629EB107}" srcOrd="0" destOrd="0" presId="urn:microsoft.com/office/officeart/2005/8/layout/hChevron3"/>
    <dgm:cxn modelId="{C30387C4-F336-42B9-9962-E1B51ED7F497}" type="presOf" srcId="{602C7772-EB5F-4646-AE50-A48A5880EF07}" destId="{55090AA7-C529-4260-8AA7-90D844F8F4CD}" srcOrd="0" destOrd="0" presId="urn:microsoft.com/office/officeart/2005/8/layout/hChevron3"/>
    <dgm:cxn modelId="{1B2BBFCD-A099-426D-8D32-4F05A95A76F5}" srcId="{7085953D-5707-4E21-BE33-041E1976ABF0}" destId="{86569564-DC94-4CF6-9506-85507740BB6A}" srcOrd="6" destOrd="0" parTransId="{EC3B1AC6-F4F5-457A-9AF4-547E51169F04}" sibTransId="{0ACD890B-D95D-4D7A-A8C9-5A39EE6C706C}"/>
    <dgm:cxn modelId="{64DCE2E7-95B4-4098-B998-D3720D3E9ED1}" type="presOf" srcId="{DE38C539-41A9-4E07-81AC-BEB92589C108}" destId="{5FAE45F5-6A05-40BC-BF62-F53B837430DC}" srcOrd="0" destOrd="0" presId="urn:microsoft.com/office/officeart/2005/8/layout/hChevron3"/>
    <dgm:cxn modelId="{ED20D0FF-B759-4FA9-89DE-2F8B3AF203DF}" srcId="{7085953D-5707-4E21-BE33-041E1976ABF0}" destId="{92378E4F-C3B1-43FC-9134-279D37C118C6}" srcOrd="3" destOrd="0" parTransId="{2DCAEDE5-699C-4920-98F0-FA703565A9EC}" sibTransId="{299B0D2A-0D9F-4FF8-9C57-677E226A89DC}"/>
    <dgm:cxn modelId="{C0D9D114-6B50-4341-AE6A-553063F0B8EC}" type="presParOf" srcId="{5E6E4992-CF45-43C7-B989-A7E8AFD2B7BA}" destId="{C1161168-84CB-4F7B-B64F-1D08B29AED19}" srcOrd="0" destOrd="0" presId="urn:microsoft.com/office/officeart/2005/8/layout/hChevron3"/>
    <dgm:cxn modelId="{7E43263F-1AED-472A-8600-8A99B7E81D95}" type="presParOf" srcId="{5E6E4992-CF45-43C7-B989-A7E8AFD2B7BA}" destId="{097D5831-7865-4C2B-83B1-3C69F9AE2558}" srcOrd="1" destOrd="0" presId="urn:microsoft.com/office/officeart/2005/8/layout/hChevron3"/>
    <dgm:cxn modelId="{060C9BD1-41F2-48AA-A6AE-5F87D154D3D2}" type="presParOf" srcId="{5E6E4992-CF45-43C7-B989-A7E8AFD2B7BA}" destId="{5FAE45F5-6A05-40BC-BF62-F53B837430DC}" srcOrd="2" destOrd="0" presId="urn:microsoft.com/office/officeart/2005/8/layout/hChevron3"/>
    <dgm:cxn modelId="{801A54E9-8EBA-4BBF-A474-AB44B1D9BEE0}" type="presParOf" srcId="{5E6E4992-CF45-43C7-B989-A7E8AFD2B7BA}" destId="{8F7D4400-4A5C-4E75-A7D3-9BECC7DA9E9B}" srcOrd="3" destOrd="0" presId="urn:microsoft.com/office/officeart/2005/8/layout/hChevron3"/>
    <dgm:cxn modelId="{9C7D4AE6-8C59-4D05-AA90-B7AA11892532}" type="presParOf" srcId="{5E6E4992-CF45-43C7-B989-A7E8AFD2B7BA}" destId="{40C9B2DF-57F2-4D7A-A8F3-7310629EB107}" srcOrd="4" destOrd="0" presId="urn:microsoft.com/office/officeart/2005/8/layout/hChevron3"/>
    <dgm:cxn modelId="{2E068194-9E8C-4E65-9687-DF5A348D4932}" type="presParOf" srcId="{5E6E4992-CF45-43C7-B989-A7E8AFD2B7BA}" destId="{BDC7F5FF-4582-482F-A8B8-D6345182CAC7}" srcOrd="5" destOrd="0" presId="urn:microsoft.com/office/officeart/2005/8/layout/hChevron3"/>
    <dgm:cxn modelId="{6FD1D3AD-8878-487A-B90A-52CE7D223FA4}" type="presParOf" srcId="{5E6E4992-CF45-43C7-B989-A7E8AFD2B7BA}" destId="{F5E38D07-E7BF-40B8-A6F8-D9B6ED7C70AB}" srcOrd="6" destOrd="0" presId="urn:microsoft.com/office/officeart/2005/8/layout/hChevron3"/>
    <dgm:cxn modelId="{AF6F2058-409B-4839-8E6F-AAA6F517D6D6}" type="presParOf" srcId="{5E6E4992-CF45-43C7-B989-A7E8AFD2B7BA}" destId="{15BB239E-5876-4374-B5BE-BD7ED7A0E75B}" srcOrd="7" destOrd="0" presId="urn:microsoft.com/office/officeart/2005/8/layout/hChevron3"/>
    <dgm:cxn modelId="{7987CD73-36C5-4304-8B7F-0864AD07185E}" type="presParOf" srcId="{5E6E4992-CF45-43C7-B989-A7E8AFD2B7BA}" destId="{1A45DC18-65BA-46E4-AA32-5AF455E30B02}" srcOrd="8" destOrd="0" presId="urn:microsoft.com/office/officeart/2005/8/layout/hChevron3"/>
    <dgm:cxn modelId="{FA2C3AA0-F848-4105-9BDA-580830057B1F}" type="presParOf" srcId="{5E6E4992-CF45-43C7-B989-A7E8AFD2B7BA}" destId="{53593CDB-7458-4D3C-ADE3-AE06E4354500}" srcOrd="9" destOrd="0" presId="urn:microsoft.com/office/officeart/2005/8/layout/hChevron3"/>
    <dgm:cxn modelId="{532B22E2-B235-44A8-B219-F29BD8865993}" type="presParOf" srcId="{5E6E4992-CF45-43C7-B989-A7E8AFD2B7BA}" destId="{054A696B-C371-4853-A90B-861864E61580}" srcOrd="10" destOrd="0" presId="urn:microsoft.com/office/officeart/2005/8/layout/hChevron3"/>
    <dgm:cxn modelId="{D211F0F1-1B42-429E-9608-DA0688D6779F}" type="presParOf" srcId="{5E6E4992-CF45-43C7-B989-A7E8AFD2B7BA}" destId="{E55F57F8-6EE9-4438-87BB-E48EB9C1805E}" srcOrd="11" destOrd="0" presId="urn:microsoft.com/office/officeart/2005/8/layout/hChevron3"/>
    <dgm:cxn modelId="{DE277FFE-874C-4163-BD50-C29E5327F010}" type="presParOf" srcId="{5E6E4992-CF45-43C7-B989-A7E8AFD2B7BA}" destId="{6F752C57-479F-490B-B872-867672885E37}" srcOrd="12" destOrd="0" presId="urn:microsoft.com/office/officeart/2005/8/layout/hChevron3"/>
    <dgm:cxn modelId="{52DE329A-44C0-49A4-B8B4-2BE04D349124}" type="presParOf" srcId="{5E6E4992-CF45-43C7-B989-A7E8AFD2B7BA}" destId="{30819881-A78E-478E-A341-310411FB33CB}" srcOrd="13" destOrd="0" presId="urn:microsoft.com/office/officeart/2005/8/layout/hChevron3"/>
    <dgm:cxn modelId="{2CA9215F-C12B-4050-BE70-8831A5A24EE1}" type="presParOf" srcId="{5E6E4992-CF45-43C7-B989-A7E8AFD2B7BA}" destId="{55090AA7-C529-4260-8AA7-90D844F8F4CD}" srcOrd="14"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085953D-5707-4E21-BE33-041E1976ABF0}" type="doc">
      <dgm:prSet loTypeId="urn:microsoft.com/office/officeart/2005/8/layout/hChevron3" loCatId="process" qsTypeId="urn:microsoft.com/office/officeart/2005/8/quickstyle/simple1" qsCatId="simple" csTypeId="urn:microsoft.com/office/officeart/2005/8/colors/accent1_2" csCatId="accent1" phldr="1"/>
      <dgm:spPr/>
    </dgm:pt>
    <dgm:pt modelId="{5783DC9B-DE17-41F6-A65C-0FE69B596323}">
      <dgm:prSet phldrT="[Text]"/>
      <dgm:spPr/>
      <dgm:t>
        <a:bodyPr/>
        <a:lstStyle/>
        <a:p>
          <a:r>
            <a:rPr lang="en-US" dirty="0"/>
            <a:t>Sample registration</a:t>
          </a:r>
        </a:p>
      </dgm:t>
    </dgm:pt>
    <dgm:pt modelId="{ED80C0A9-763D-4ACC-9F50-4C03A3844655}" type="parTrans" cxnId="{CA5949A8-3B71-4281-8E85-BA54A0BA32AA}">
      <dgm:prSet/>
      <dgm:spPr/>
      <dgm:t>
        <a:bodyPr/>
        <a:lstStyle/>
        <a:p>
          <a:endParaRPr lang="en-US"/>
        </a:p>
      </dgm:t>
    </dgm:pt>
    <dgm:pt modelId="{25FB9107-F674-419A-B451-668B2458AE3E}" type="sibTrans" cxnId="{CA5949A8-3B71-4281-8E85-BA54A0BA32AA}">
      <dgm:prSet/>
      <dgm:spPr/>
      <dgm:t>
        <a:bodyPr/>
        <a:lstStyle/>
        <a:p>
          <a:endParaRPr lang="en-US"/>
        </a:p>
      </dgm:t>
    </dgm:pt>
    <dgm:pt modelId="{DE38C539-41A9-4E07-81AC-BEB92589C108}">
      <dgm:prSet phldrT="[Text]"/>
      <dgm:spPr/>
      <dgm:t>
        <a:bodyPr/>
        <a:lstStyle/>
        <a:p>
          <a:r>
            <a:rPr lang="en-US" dirty="0"/>
            <a:t>Sample Collection</a:t>
          </a:r>
        </a:p>
      </dgm:t>
    </dgm:pt>
    <dgm:pt modelId="{0915026C-9848-48A5-81A8-E6C9D3DB28FC}" type="parTrans" cxnId="{3465EC98-82EB-4FC4-B8BC-F1E848456BE0}">
      <dgm:prSet/>
      <dgm:spPr/>
      <dgm:t>
        <a:bodyPr/>
        <a:lstStyle/>
        <a:p>
          <a:endParaRPr lang="en-US"/>
        </a:p>
      </dgm:t>
    </dgm:pt>
    <dgm:pt modelId="{F6EDBD7B-0772-4C1A-AFDB-0B9A717CF845}" type="sibTrans" cxnId="{3465EC98-82EB-4FC4-B8BC-F1E848456BE0}">
      <dgm:prSet/>
      <dgm:spPr/>
      <dgm:t>
        <a:bodyPr/>
        <a:lstStyle/>
        <a:p>
          <a:endParaRPr lang="en-US"/>
        </a:p>
      </dgm:t>
    </dgm:pt>
    <dgm:pt modelId="{83FD66CD-0EFC-4B14-97FD-BB1261AA766E}">
      <dgm:prSet phldrT="[Text]"/>
      <dgm:spPr/>
      <dgm:t>
        <a:bodyPr/>
        <a:lstStyle/>
        <a:p>
          <a:r>
            <a:rPr lang="en-US" dirty="0"/>
            <a:t>Accessioning</a:t>
          </a:r>
        </a:p>
      </dgm:t>
    </dgm:pt>
    <dgm:pt modelId="{068DC544-C879-499A-AF7C-22156E57179F}" type="parTrans" cxnId="{5612C1A3-AD00-45D3-9F35-21372AAF0E60}">
      <dgm:prSet/>
      <dgm:spPr/>
      <dgm:t>
        <a:bodyPr/>
        <a:lstStyle/>
        <a:p>
          <a:endParaRPr lang="en-US"/>
        </a:p>
      </dgm:t>
    </dgm:pt>
    <dgm:pt modelId="{E94ED2B4-5985-48A1-9753-06F8A9F33384}" type="sibTrans" cxnId="{5612C1A3-AD00-45D3-9F35-21372AAF0E60}">
      <dgm:prSet/>
      <dgm:spPr/>
      <dgm:t>
        <a:bodyPr/>
        <a:lstStyle/>
        <a:p>
          <a:endParaRPr lang="en-US"/>
        </a:p>
      </dgm:t>
    </dgm:pt>
    <dgm:pt modelId="{8F68D21A-4524-40A1-8C5A-9B0ACA5B8F0D}">
      <dgm:prSet phldrT="[Text]"/>
      <dgm:spPr/>
      <dgm:t>
        <a:bodyPr/>
        <a:lstStyle/>
        <a:p>
          <a:r>
            <a:rPr lang="en-US" dirty="0"/>
            <a:t>Interpretation</a:t>
          </a:r>
        </a:p>
      </dgm:t>
    </dgm:pt>
    <dgm:pt modelId="{0B083E9D-E5FF-4E88-8E20-229CB8B1EE39}" type="parTrans" cxnId="{49902246-C0B5-4E2C-9F93-C038D4CC6D2B}">
      <dgm:prSet/>
      <dgm:spPr/>
      <dgm:t>
        <a:bodyPr/>
        <a:lstStyle/>
        <a:p>
          <a:endParaRPr lang="en-US"/>
        </a:p>
      </dgm:t>
    </dgm:pt>
    <dgm:pt modelId="{26D8BAE3-6F27-401D-B758-33FBA22B582E}" type="sibTrans" cxnId="{49902246-C0B5-4E2C-9F93-C038D4CC6D2B}">
      <dgm:prSet/>
      <dgm:spPr/>
      <dgm:t>
        <a:bodyPr/>
        <a:lstStyle/>
        <a:p>
          <a:endParaRPr lang="en-US"/>
        </a:p>
      </dgm:t>
    </dgm:pt>
    <dgm:pt modelId="{92378E4F-C3B1-43FC-9134-279D37C118C6}">
      <dgm:prSet phldrT="[Text]"/>
      <dgm:spPr/>
      <dgm:t>
        <a:bodyPr/>
        <a:lstStyle/>
        <a:p>
          <a:r>
            <a:rPr lang="en-US" dirty="0"/>
            <a:t>Testing</a:t>
          </a:r>
        </a:p>
      </dgm:t>
    </dgm:pt>
    <dgm:pt modelId="{2DCAEDE5-699C-4920-98F0-FA703565A9EC}" type="parTrans" cxnId="{ED20D0FF-B759-4FA9-89DE-2F8B3AF203DF}">
      <dgm:prSet/>
      <dgm:spPr/>
      <dgm:t>
        <a:bodyPr/>
        <a:lstStyle/>
        <a:p>
          <a:endParaRPr lang="en-US"/>
        </a:p>
      </dgm:t>
    </dgm:pt>
    <dgm:pt modelId="{299B0D2A-0D9F-4FF8-9C57-677E226A89DC}" type="sibTrans" cxnId="{ED20D0FF-B759-4FA9-89DE-2F8B3AF203DF}">
      <dgm:prSet/>
      <dgm:spPr/>
      <dgm:t>
        <a:bodyPr/>
        <a:lstStyle/>
        <a:p>
          <a:endParaRPr lang="en-US"/>
        </a:p>
      </dgm:t>
    </dgm:pt>
    <dgm:pt modelId="{6E883797-E544-4E13-B3A1-7A96FC6CA78F}">
      <dgm:prSet phldrT="[Text]"/>
      <dgm:spPr>
        <a:solidFill>
          <a:srgbClr val="00B050"/>
        </a:solidFill>
      </dgm:spPr>
      <dgm:t>
        <a:bodyPr/>
        <a:lstStyle/>
        <a:p>
          <a:r>
            <a:rPr lang="en-US" dirty="0"/>
            <a:t>Result</a:t>
          </a:r>
        </a:p>
      </dgm:t>
    </dgm:pt>
    <dgm:pt modelId="{00A85005-96FC-43C4-BFEC-1F2A4F503DE1}" type="parTrans" cxnId="{A97FED32-6D81-4D4C-90D1-5E56CD63C90D}">
      <dgm:prSet/>
      <dgm:spPr/>
      <dgm:t>
        <a:bodyPr/>
        <a:lstStyle/>
        <a:p>
          <a:endParaRPr lang="en-US"/>
        </a:p>
      </dgm:t>
    </dgm:pt>
    <dgm:pt modelId="{9B2859BF-EB42-4DB6-9F45-9B97B6FA5243}" type="sibTrans" cxnId="{A97FED32-6D81-4D4C-90D1-5E56CD63C90D}">
      <dgm:prSet/>
      <dgm:spPr/>
      <dgm:t>
        <a:bodyPr/>
        <a:lstStyle/>
        <a:p>
          <a:endParaRPr lang="en-US"/>
        </a:p>
      </dgm:t>
    </dgm:pt>
    <dgm:pt modelId="{86569564-DC94-4CF6-9506-85507740BB6A}">
      <dgm:prSet phldrT="[Text]"/>
      <dgm:spPr/>
      <dgm:t>
        <a:bodyPr/>
        <a:lstStyle/>
        <a:p>
          <a:r>
            <a:rPr lang="en-US" dirty="0"/>
            <a:t>Reporting</a:t>
          </a:r>
        </a:p>
      </dgm:t>
    </dgm:pt>
    <dgm:pt modelId="{EC3B1AC6-F4F5-457A-9AF4-547E51169F04}" type="parTrans" cxnId="{1B2BBFCD-A099-426D-8D32-4F05A95A76F5}">
      <dgm:prSet/>
      <dgm:spPr/>
      <dgm:t>
        <a:bodyPr/>
        <a:lstStyle/>
        <a:p>
          <a:endParaRPr lang="en-US"/>
        </a:p>
      </dgm:t>
    </dgm:pt>
    <dgm:pt modelId="{0ACD890B-D95D-4D7A-A8C9-5A39EE6C706C}" type="sibTrans" cxnId="{1B2BBFCD-A099-426D-8D32-4F05A95A76F5}">
      <dgm:prSet/>
      <dgm:spPr/>
      <dgm:t>
        <a:bodyPr/>
        <a:lstStyle/>
        <a:p>
          <a:endParaRPr lang="en-US"/>
        </a:p>
      </dgm:t>
    </dgm:pt>
    <dgm:pt modelId="{602C7772-EB5F-4646-AE50-A48A5880EF07}">
      <dgm:prSet phldrT="[Text]"/>
      <dgm:spPr/>
      <dgm:t>
        <a:bodyPr/>
        <a:lstStyle/>
        <a:p>
          <a:r>
            <a:rPr lang="en-US" dirty="0"/>
            <a:t>Completed</a:t>
          </a:r>
        </a:p>
      </dgm:t>
    </dgm:pt>
    <dgm:pt modelId="{0E5D93CB-FCA2-4C45-ADC7-D2EAB1826998}" type="parTrans" cxnId="{E6439A79-ECF5-4A04-B922-9D0F57ED189F}">
      <dgm:prSet/>
      <dgm:spPr/>
      <dgm:t>
        <a:bodyPr/>
        <a:lstStyle/>
        <a:p>
          <a:endParaRPr lang="en-US"/>
        </a:p>
      </dgm:t>
    </dgm:pt>
    <dgm:pt modelId="{311A4CB3-E75E-4005-BCBC-162ADA776F8F}" type="sibTrans" cxnId="{E6439A79-ECF5-4A04-B922-9D0F57ED189F}">
      <dgm:prSet/>
      <dgm:spPr/>
      <dgm:t>
        <a:bodyPr/>
        <a:lstStyle/>
        <a:p>
          <a:endParaRPr lang="en-US"/>
        </a:p>
      </dgm:t>
    </dgm:pt>
    <dgm:pt modelId="{5E6E4992-CF45-43C7-B989-A7E8AFD2B7BA}" type="pres">
      <dgm:prSet presAssocID="{7085953D-5707-4E21-BE33-041E1976ABF0}" presName="Name0" presStyleCnt="0">
        <dgm:presLayoutVars>
          <dgm:dir/>
          <dgm:resizeHandles val="exact"/>
        </dgm:presLayoutVars>
      </dgm:prSet>
      <dgm:spPr/>
    </dgm:pt>
    <dgm:pt modelId="{C1161168-84CB-4F7B-B64F-1D08B29AED19}" type="pres">
      <dgm:prSet presAssocID="{5783DC9B-DE17-41F6-A65C-0FE69B596323}" presName="parTxOnly" presStyleLbl="node1" presStyleIdx="0" presStyleCnt="8">
        <dgm:presLayoutVars>
          <dgm:bulletEnabled val="1"/>
        </dgm:presLayoutVars>
      </dgm:prSet>
      <dgm:spPr/>
    </dgm:pt>
    <dgm:pt modelId="{097D5831-7865-4C2B-83B1-3C69F9AE2558}" type="pres">
      <dgm:prSet presAssocID="{25FB9107-F674-419A-B451-668B2458AE3E}" presName="parSpace" presStyleCnt="0"/>
      <dgm:spPr/>
    </dgm:pt>
    <dgm:pt modelId="{5FAE45F5-6A05-40BC-BF62-F53B837430DC}" type="pres">
      <dgm:prSet presAssocID="{DE38C539-41A9-4E07-81AC-BEB92589C108}" presName="parTxOnly" presStyleLbl="node1" presStyleIdx="1" presStyleCnt="8">
        <dgm:presLayoutVars>
          <dgm:bulletEnabled val="1"/>
        </dgm:presLayoutVars>
      </dgm:prSet>
      <dgm:spPr/>
    </dgm:pt>
    <dgm:pt modelId="{8F7D4400-4A5C-4E75-A7D3-9BECC7DA9E9B}" type="pres">
      <dgm:prSet presAssocID="{F6EDBD7B-0772-4C1A-AFDB-0B9A717CF845}" presName="parSpace" presStyleCnt="0"/>
      <dgm:spPr/>
    </dgm:pt>
    <dgm:pt modelId="{40C9B2DF-57F2-4D7A-A8F3-7310629EB107}" type="pres">
      <dgm:prSet presAssocID="{83FD66CD-0EFC-4B14-97FD-BB1261AA766E}" presName="parTxOnly" presStyleLbl="node1" presStyleIdx="2" presStyleCnt="8">
        <dgm:presLayoutVars>
          <dgm:bulletEnabled val="1"/>
        </dgm:presLayoutVars>
      </dgm:prSet>
      <dgm:spPr/>
    </dgm:pt>
    <dgm:pt modelId="{BDC7F5FF-4582-482F-A8B8-D6345182CAC7}" type="pres">
      <dgm:prSet presAssocID="{E94ED2B4-5985-48A1-9753-06F8A9F33384}" presName="parSpace" presStyleCnt="0"/>
      <dgm:spPr/>
    </dgm:pt>
    <dgm:pt modelId="{F5E38D07-E7BF-40B8-A6F8-D9B6ED7C70AB}" type="pres">
      <dgm:prSet presAssocID="{92378E4F-C3B1-43FC-9134-279D37C118C6}" presName="parTxOnly" presStyleLbl="node1" presStyleIdx="3" presStyleCnt="8">
        <dgm:presLayoutVars>
          <dgm:bulletEnabled val="1"/>
        </dgm:presLayoutVars>
      </dgm:prSet>
      <dgm:spPr/>
    </dgm:pt>
    <dgm:pt modelId="{15BB239E-5876-4374-B5BE-BD7ED7A0E75B}" type="pres">
      <dgm:prSet presAssocID="{299B0D2A-0D9F-4FF8-9C57-677E226A89DC}" presName="parSpace" presStyleCnt="0"/>
      <dgm:spPr/>
    </dgm:pt>
    <dgm:pt modelId="{1A45DC18-65BA-46E4-AA32-5AF455E30B02}" type="pres">
      <dgm:prSet presAssocID="{6E883797-E544-4E13-B3A1-7A96FC6CA78F}" presName="parTxOnly" presStyleLbl="node1" presStyleIdx="4" presStyleCnt="8">
        <dgm:presLayoutVars>
          <dgm:bulletEnabled val="1"/>
        </dgm:presLayoutVars>
      </dgm:prSet>
      <dgm:spPr/>
    </dgm:pt>
    <dgm:pt modelId="{53593CDB-7458-4D3C-ADE3-AE06E4354500}" type="pres">
      <dgm:prSet presAssocID="{9B2859BF-EB42-4DB6-9F45-9B97B6FA5243}" presName="parSpace" presStyleCnt="0"/>
      <dgm:spPr/>
    </dgm:pt>
    <dgm:pt modelId="{054A696B-C371-4853-A90B-861864E61580}" type="pres">
      <dgm:prSet presAssocID="{8F68D21A-4524-40A1-8C5A-9B0ACA5B8F0D}" presName="parTxOnly" presStyleLbl="node1" presStyleIdx="5" presStyleCnt="8">
        <dgm:presLayoutVars>
          <dgm:bulletEnabled val="1"/>
        </dgm:presLayoutVars>
      </dgm:prSet>
      <dgm:spPr/>
    </dgm:pt>
    <dgm:pt modelId="{E55F57F8-6EE9-4438-87BB-E48EB9C1805E}" type="pres">
      <dgm:prSet presAssocID="{26D8BAE3-6F27-401D-B758-33FBA22B582E}" presName="parSpace" presStyleCnt="0"/>
      <dgm:spPr/>
    </dgm:pt>
    <dgm:pt modelId="{6F752C57-479F-490B-B872-867672885E37}" type="pres">
      <dgm:prSet presAssocID="{86569564-DC94-4CF6-9506-85507740BB6A}" presName="parTxOnly" presStyleLbl="node1" presStyleIdx="6" presStyleCnt="8">
        <dgm:presLayoutVars>
          <dgm:bulletEnabled val="1"/>
        </dgm:presLayoutVars>
      </dgm:prSet>
      <dgm:spPr/>
    </dgm:pt>
    <dgm:pt modelId="{30819881-A78E-478E-A341-310411FB33CB}" type="pres">
      <dgm:prSet presAssocID="{0ACD890B-D95D-4D7A-A8C9-5A39EE6C706C}" presName="parSpace" presStyleCnt="0"/>
      <dgm:spPr/>
    </dgm:pt>
    <dgm:pt modelId="{55090AA7-C529-4260-8AA7-90D844F8F4CD}" type="pres">
      <dgm:prSet presAssocID="{602C7772-EB5F-4646-AE50-A48A5880EF07}" presName="parTxOnly" presStyleLbl="node1" presStyleIdx="7" presStyleCnt="8">
        <dgm:presLayoutVars>
          <dgm:bulletEnabled val="1"/>
        </dgm:presLayoutVars>
      </dgm:prSet>
      <dgm:spPr/>
    </dgm:pt>
  </dgm:ptLst>
  <dgm:cxnLst>
    <dgm:cxn modelId="{08E6CA17-0E68-454E-9B83-F5EDCCF0ECD1}" type="presOf" srcId="{7085953D-5707-4E21-BE33-041E1976ABF0}" destId="{5E6E4992-CF45-43C7-B989-A7E8AFD2B7BA}" srcOrd="0" destOrd="0" presId="urn:microsoft.com/office/officeart/2005/8/layout/hChevron3"/>
    <dgm:cxn modelId="{A97FED32-6D81-4D4C-90D1-5E56CD63C90D}" srcId="{7085953D-5707-4E21-BE33-041E1976ABF0}" destId="{6E883797-E544-4E13-B3A1-7A96FC6CA78F}" srcOrd="4" destOrd="0" parTransId="{00A85005-96FC-43C4-BFEC-1F2A4F503DE1}" sibTransId="{9B2859BF-EB42-4DB6-9F45-9B97B6FA5243}"/>
    <dgm:cxn modelId="{0CC63C41-F1D0-4E4E-B8CB-7B0B66223725}" type="presOf" srcId="{8F68D21A-4524-40A1-8C5A-9B0ACA5B8F0D}" destId="{054A696B-C371-4853-A90B-861864E61580}" srcOrd="0" destOrd="0" presId="urn:microsoft.com/office/officeart/2005/8/layout/hChevron3"/>
    <dgm:cxn modelId="{49902246-C0B5-4E2C-9F93-C038D4CC6D2B}" srcId="{7085953D-5707-4E21-BE33-041E1976ABF0}" destId="{8F68D21A-4524-40A1-8C5A-9B0ACA5B8F0D}" srcOrd="5" destOrd="0" parTransId="{0B083E9D-E5FF-4E88-8E20-229CB8B1EE39}" sibTransId="{26D8BAE3-6F27-401D-B758-33FBA22B582E}"/>
    <dgm:cxn modelId="{CBE46057-3AFB-4898-8D76-648BBDA41E39}" type="presOf" srcId="{92378E4F-C3B1-43FC-9134-279D37C118C6}" destId="{F5E38D07-E7BF-40B8-A6F8-D9B6ED7C70AB}" srcOrd="0" destOrd="0" presId="urn:microsoft.com/office/officeart/2005/8/layout/hChevron3"/>
    <dgm:cxn modelId="{A4A5915C-7AD7-42F6-9FB6-E0B684254AB4}" type="presOf" srcId="{86569564-DC94-4CF6-9506-85507740BB6A}" destId="{6F752C57-479F-490B-B872-867672885E37}" srcOrd="0" destOrd="0" presId="urn:microsoft.com/office/officeart/2005/8/layout/hChevron3"/>
    <dgm:cxn modelId="{E6439A79-ECF5-4A04-B922-9D0F57ED189F}" srcId="{7085953D-5707-4E21-BE33-041E1976ABF0}" destId="{602C7772-EB5F-4646-AE50-A48A5880EF07}" srcOrd="7" destOrd="0" parTransId="{0E5D93CB-FCA2-4C45-ADC7-D2EAB1826998}" sibTransId="{311A4CB3-E75E-4005-BCBC-162ADA776F8F}"/>
    <dgm:cxn modelId="{23BE258D-FDD9-47D0-A7E5-D9D45829734F}" type="presOf" srcId="{6E883797-E544-4E13-B3A1-7A96FC6CA78F}" destId="{1A45DC18-65BA-46E4-AA32-5AF455E30B02}" srcOrd="0" destOrd="0" presId="urn:microsoft.com/office/officeart/2005/8/layout/hChevron3"/>
    <dgm:cxn modelId="{3465EC98-82EB-4FC4-B8BC-F1E848456BE0}" srcId="{7085953D-5707-4E21-BE33-041E1976ABF0}" destId="{DE38C539-41A9-4E07-81AC-BEB92589C108}" srcOrd="1" destOrd="0" parTransId="{0915026C-9848-48A5-81A8-E6C9D3DB28FC}" sibTransId="{F6EDBD7B-0772-4C1A-AFDB-0B9A717CF845}"/>
    <dgm:cxn modelId="{B33EE09A-4005-438A-BF9B-9770E1456F5C}" type="presOf" srcId="{5783DC9B-DE17-41F6-A65C-0FE69B596323}" destId="{C1161168-84CB-4F7B-B64F-1D08B29AED19}" srcOrd="0" destOrd="0" presId="urn:microsoft.com/office/officeart/2005/8/layout/hChevron3"/>
    <dgm:cxn modelId="{5612C1A3-AD00-45D3-9F35-21372AAF0E60}" srcId="{7085953D-5707-4E21-BE33-041E1976ABF0}" destId="{83FD66CD-0EFC-4B14-97FD-BB1261AA766E}" srcOrd="2" destOrd="0" parTransId="{068DC544-C879-499A-AF7C-22156E57179F}" sibTransId="{E94ED2B4-5985-48A1-9753-06F8A9F33384}"/>
    <dgm:cxn modelId="{CA5949A8-3B71-4281-8E85-BA54A0BA32AA}" srcId="{7085953D-5707-4E21-BE33-041E1976ABF0}" destId="{5783DC9B-DE17-41F6-A65C-0FE69B596323}" srcOrd="0" destOrd="0" parTransId="{ED80C0A9-763D-4ACC-9F50-4C03A3844655}" sibTransId="{25FB9107-F674-419A-B451-668B2458AE3E}"/>
    <dgm:cxn modelId="{D6A1B3AE-CEA5-4606-B61B-EE7DEAD4135B}" type="presOf" srcId="{83FD66CD-0EFC-4B14-97FD-BB1261AA766E}" destId="{40C9B2DF-57F2-4D7A-A8F3-7310629EB107}" srcOrd="0" destOrd="0" presId="urn:microsoft.com/office/officeart/2005/8/layout/hChevron3"/>
    <dgm:cxn modelId="{C30387C4-F336-42B9-9962-E1B51ED7F497}" type="presOf" srcId="{602C7772-EB5F-4646-AE50-A48A5880EF07}" destId="{55090AA7-C529-4260-8AA7-90D844F8F4CD}" srcOrd="0" destOrd="0" presId="urn:microsoft.com/office/officeart/2005/8/layout/hChevron3"/>
    <dgm:cxn modelId="{1B2BBFCD-A099-426D-8D32-4F05A95A76F5}" srcId="{7085953D-5707-4E21-BE33-041E1976ABF0}" destId="{86569564-DC94-4CF6-9506-85507740BB6A}" srcOrd="6" destOrd="0" parTransId="{EC3B1AC6-F4F5-457A-9AF4-547E51169F04}" sibTransId="{0ACD890B-D95D-4D7A-A8C9-5A39EE6C706C}"/>
    <dgm:cxn modelId="{64DCE2E7-95B4-4098-B998-D3720D3E9ED1}" type="presOf" srcId="{DE38C539-41A9-4E07-81AC-BEB92589C108}" destId="{5FAE45F5-6A05-40BC-BF62-F53B837430DC}" srcOrd="0" destOrd="0" presId="urn:microsoft.com/office/officeart/2005/8/layout/hChevron3"/>
    <dgm:cxn modelId="{ED20D0FF-B759-4FA9-89DE-2F8B3AF203DF}" srcId="{7085953D-5707-4E21-BE33-041E1976ABF0}" destId="{92378E4F-C3B1-43FC-9134-279D37C118C6}" srcOrd="3" destOrd="0" parTransId="{2DCAEDE5-699C-4920-98F0-FA703565A9EC}" sibTransId="{299B0D2A-0D9F-4FF8-9C57-677E226A89DC}"/>
    <dgm:cxn modelId="{C0D9D114-6B50-4341-AE6A-553063F0B8EC}" type="presParOf" srcId="{5E6E4992-CF45-43C7-B989-A7E8AFD2B7BA}" destId="{C1161168-84CB-4F7B-B64F-1D08B29AED19}" srcOrd="0" destOrd="0" presId="urn:microsoft.com/office/officeart/2005/8/layout/hChevron3"/>
    <dgm:cxn modelId="{7E43263F-1AED-472A-8600-8A99B7E81D95}" type="presParOf" srcId="{5E6E4992-CF45-43C7-B989-A7E8AFD2B7BA}" destId="{097D5831-7865-4C2B-83B1-3C69F9AE2558}" srcOrd="1" destOrd="0" presId="urn:microsoft.com/office/officeart/2005/8/layout/hChevron3"/>
    <dgm:cxn modelId="{060C9BD1-41F2-48AA-A6AE-5F87D154D3D2}" type="presParOf" srcId="{5E6E4992-CF45-43C7-B989-A7E8AFD2B7BA}" destId="{5FAE45F5-6A05-40BC-BF62-F53B837430DC}" srcOrd="2" destOrd="0" presId="urn:microsoft.com/office/officeart/2005/8/layout/hChevron3"/>
    <dgm:cxn modelId="{801A54E9-8EBA-4BBF-A474-AB44B1D9BEE0}" type="presParOf" srcId="{5E6E4992-CF45-43C7-B989-A7E8AFD2B7BA}" destId="{8F7D4400-4A5C-4E75-A7D3-9BECC7DA9E9B}" srcOrd="3" destOrd="0" presId="urn:microsoft.com/office/officeart/2005/8/layout/hChevron3"/>
    <dgm:cxn modelId="{9C7D4AE6-8C59-4D05-AA90-B7AA11892532}" type="presParOf" srcId="{5E6E4992-CF45-43C7-B989-A7E8AFD2B7BA}" destId="{40C9B2DF-57F2-4D7A-A8F3-7310629EB107}" srcOrd="4" destOrd="0" presId="urn:microsoft.com/office/officeart/2005/8/layout/hChevron3"/>
    <dgm:cxn modelId="{2E068194-9E8C-4E65-9687-DF5A348D4932}" type="presParOf" srcId="{5E6E4992-CF45-43C7-B989-A7E8AFD2B7BA}" destId="{BDC7F5FF-4582-482F-A8B8-D6345182CAC7}" srcOrd="5" destOrd="0" presId="urn:microsoft.com/office/officeart/2005/8/layout/hChevron3"/>
    <dgm:cxn modelId="{6FD1D3AD-8878-487A-B90A-52CE7D223FA4}" type="presParOf" srcId="{5E6E4992-CF45-43C7-B989-A7E8AFD2B7BA}" destId="{F5E38D07-E7BF-40B8-A6F8-D9B6ED7C70AB}" srcOrd="6" destOrd="0" presId="urn:microsoft.com/office/officeart/2005/8/layout/hChevron3"/>
    <dgm:cxn modelId="{AF6F2058-409B-4839-8E6F-AAA6F517D6D6}" type="presParOf" srcId="{5E6E4992-CF45-43C7-B989-A7E8AFD2B7BA}" destId="{15BB239E-5876-4374-B5BE-BD7ED7A0E75B}" srcOrd="7" destOrd="0" presId="urn:microsoft.com/office/officeart/2005/8/layout/hChevron3"/>
    <dgm:cxn modelId="{7987CD73-36C5-4304-8B7F-0864AD07185E}" type="presParOf" srcId="{5E6E4992-CF45-43C7-B989-A7E8AFD2B7BA}" destId="{1A45DC18-65BA-46E4-AA32-5AF455E30B02}" srcOrd="8" destOrd="0" presId="urn:microsoft.com/office/officeart/2005/8/layout/hChevron3"/>
    <dgm:cxn modelId="{FA2C3AA0-F848-4105-9BDA-580830057B1F}" type="presParOf" srcId="{5E6E4992-CF45-43C7-B989-A7E8AFD2B7BA}" destId="{53593CDB-7458-4D3C-ADE3-AE06E4354500}" srcOrd="9" destOrd="0" presId="urn:microsoft.com/office/officeart/2005/8/layout/hChevron3"/>
    <dgm:cxn modelId="{532B22E2-B235-44A8-B219-F29BD8865993}" type="presParOf" srcId="{5E6E4992-CF45-43C7-B989-A7E8AFD2B7BA}" destId="{054A696B-C371-4853-A90B-861864E61580}" srcOrd="10" destOrd="0" presId="urn:microsoft.com/office/officeart/2005/8/layout/hChevron3"/>
    <dgm:cxn modelId="{D211F0F1-1B42-429E-9608-DA0688D6779F}" type="presParOf" srcId="{5E6E4992-CF45-43C7-B989-A7E8AFD2B7BA}" destId="{E55F57F8-6EE9-4438-87BB-E48EB9C1805E}" srcOrd="11" destOrd="0" presId="urn:microsoft.com/office/officeart/2005/8/layout/hChevron3"/>
    <dgm:cxn modelId="{DE277FFE-874C-4163-BD50-C29E5327F010}" type="presParOf" srcId="{5E6E4992-CF45-43C7-B989-A7E8AFD2B7BA}" destId="{6F752C57-479F-490B-B872-867672885E37}" srcOrd="12" destOrd="0" presId="urn:microsoft.com/office/officeart/2005/8/layout/hChevron3"/>
    <dgm:cxn modelId="{52DE329A-44C0-49A4-B8B4-2BE04D349124}" type="presParOf" srcId="{5E6E4992-CF45-43C7-B989-A7E8AFD2B7BA}" destId="{30819881-A78E-478E-A341-310411FB33CB}" srcOrd="13" destOrd="0" presId="urn:microsoft.com/office/officeart/2005/8/layout/hChevron3"/>
    <dgm:cxn modelId="{2CA9215F-C12B-4050-BE70-8831A5A24EE1}" type="presParOf" srcId="{5E6E4992-CF45-43C7-B989-A7E8AFD2B7BA}" destId="{55090AA7-C529-4260-8AA7-90D844F8F4CD}" srcOrd="14"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085953D-5707-4E21-BE33-041E1976ABF0}" type="doc">
      <dgm:prSet loTypeId="urn:microsoft.com/office/officeart/2005/8/layout/hChevron3" loCatId="process" qsTypeId="urn:microsoft.com/office/officeart/2005/8/quickstyle/simple1" qsCatId="simple" csTypeId="urn:microsoft.com/office/officeart/2005/8/colors/accent1_2" csCatId="accent1" phldr="1"/>
      <dgm:spPr/>
    </dgm:pt>
    <dgm:pt modelId="{5783DC9B-DE17-41F6-A65C-0FE69B596323}">
      <dgm:prSet phldrT="[Text]"/>
      <dgm:spPr/>
      <dgm:t>
        <a:bodyPr/>
        <a:lstStyle/>
        <a:p>
          <a:r>
            <a:rPr lang="en-US" dirty="0"/>
            <a:t>Sample registration</a:t>
          </a:r>
        </a:p>
      </dgm:t>
    </dgm:pt>
    <dgm:pt modelId="{ED80C0A9-763D-4ACC-9F50-4C03A3844655}" type="parTrans" cxnId="{CA5949A8-3B71-4281-8E85-BA54A0BA32AA}">
      <dgm:prSet/>
      <dgm:spPr/>
      <dgm:t>
        <a:bodyPr/>
        <a:lstStyle/>
        <a:p>
          <a:endParaRPr lang="en-US"/>
        </a:p>
      </dgm:t>
    </dgm:pt>
    <dgm:pt modelId="{25FB9107-F674-419A-B451-668B2458AE3E}" type="sibTrans" cxnId="{CA5949A8-3B71-4281-8E85-BA54A0BA32AA}">
      <dgm:prSet/>
      <dgm:spPr/>
      <dgm:t>
        <a:bodyPr/>
        <a:lstStyle/>
        <a:p>
          <a:endParaRPr lang="en-US"/>
        </a:p>
      </dgm:t>
    </dgm:pt>
    <dgm:pt modelId="{DE38C539-41A9-4E07-81AC-BEB92589C108}">
      <dgm:prSet phldrT="[Text]"/>
      <dgm:spPr/>
      <dgm:t>
        <a:bodyPr/>
        <a:lstStyle/>
        <a:p>
          <a:r>
            <a:rPr lang="en-US" dirty="0"/>
            <a:t>Sample Collection</a:t>
          </a:r>
        </a:p>
      </dgm:t>
    </dgm:pt>
    <dgm:pt modelId="{0915026C-9848-48A5-81A8-E6C9D3DB28FC}" type="parTrans" cxnId="{3465EC98-82EB-4FC4-B8BC-F1E848456BE0}">
      <dgm:prSet/>
      <dgm:spPr/>
      <dgm:t>
        <a:bodyPr/>
        <a:lstStyle/>
        <a:p>
          <a:endParaRPr lang="en-US"/>
        </a:p>
      </dgm:t>
    </dgm:pt>
    <dgm:pt modelId="{F6EDBD7B-0772-4C1A-AFDB-0B9A717CF845}" type="sibTrans" cxnId="{3465EC98-82EB-4FC4-B8BC-F1E848456BE0}">
      <dgm:prSet/>
      <dgm:spPr/>
      <dgm:t>
        <a:bodyPr/>
        <a:lstStyle/>
        <a:p>
          <a:endParaRPr lang="en-US"/>
        </a:p>
      </dgm:t>
    </dgm:pt>
    <dgm:pt modelId="{83FD66CD-0EFC-4B14-97FD-BB1261AA766E}">
      <dgm:prSet phldrT="[Text]"/>
      <dgm:spPr/>
      <dgm:t>
        <a:bodyPr/>
        <a:lstStyle/>
        <a:p>
          <a:r>
            <a:rPr lang="en-US" dirty="0"/>
            <a:t>Accessioning</a:t>
          </a:r>
        </a:p>
      </dgm:t>
    </dgm:pt>
    <dgm:pt modelId="{068DC544-C879-499A-AF7C-22156E57179F}" type="parTrans" cxnId="{5612C1A3-AD00-45D3-9F35-21372AAF0E60}">
      <dgm:prSet/>
      <dgm:spPr/>
      <dgm:t>
        <a:bodyPr/>
        <a:lstStyle/>
        <a:p>
          <a:endParaRPr lang="en-US"/>
        </a:p>
      </dgm:t>
    </dgm:pt>
    <dgm:pt modelId="{E94ED2B4-5985-48A1-9753-06F8A9F33384}" type="sibTrans" cxnId="{5612C1A3-AD00-45D3-9F35-21372AAF0E60}">
      <dgm:prSet/>
      <dgm:spPr/>
      <dgm:t>
        <a:bodyPr/>
        <a:lstStyle/>
        <a:p>
          <a:endParaRPr lang="en-US"/>
        </a:p>
      </dgm:t>
    </dgm:pt>
    <dgm:pt modelId="{8F68D21A-4524-40A1-8C5A-9B0ACA5B8F0D}">
      <dgm:prSet phldrT="[Text]"/>
      <dgm:spPr>
        <a:solidFill>
          <a:srgbClr val="00B050"/>
        </a:solidFill>
      </dgm:spPr>
      <dgm:t>
        <a:bodyPr/>
        <a:lstStyle/>
        <a:p>
          <a:r>
            <a:rPr lang="en-US" dirty="0"/>
            <a:t>Interpretation</a:t>
          </a:r>
        </a:p>
      </dgm:t>
    </dgm:pt>
    <dgm:pt modelId="{0B083E9D-E5FF-4E88-8E20-229CB8B1EE39}" type="parTrans" cxnId="{49902246-C0B5-4E2C-9F93-C038D4CC6D2B}">
      <dgm:prSet/>
      <dgm:spPr/>
      <dgm:t>
        <a:bodyPr/>
        <a:lstStyle/>
        <a:p>
          <a:endParaRPr lang="en-US"/>
        </a:p>
      </dgm:t>
    </dgm:pt>
    <dgm:pt modelId="{26D8BAE3-6F27-401D-B758-33FBA22B582E}" type="sibTrans" cxnId="{49902246-C0B5-4E2C-9F93-C038D4CC6D2B}">
      <dgm:prSet/>
      <dgm:spPr/>
      <dgm:t>
        <a:bodyPr/>
        <a:lstStyle/>
        <a:p>
          <a:endParaRPr lang="en-US"/>
        </a:p>
      </dgm:t>
    </dgm:pt>
    <dgm:pt modelId="{92378E4F-C3B1-43FC-9134-279D37C118C6}">
      <dgm:prSet phldrT="[Text]"/>
      <dgm:spPr/>
      <dgm:t>
        <a:bodyPr/>
        <a:lstStyle/>
        <a:p>
          <a:r>
            <a:rPr lang="en-US" dirty="0"/>
            <a:t>Testing</a:t>
          </a:r>
        </a:p>
      </dgm:t>
    </dgm:pt>
    <dgm:pt modelId="{2DCAEDE5-699C-4920-98F0-FA703565A9EC}" type="parTrans" cxnId="{ED20D0FF-B759-4FA9-89DE-2F8B3AF203DF}">
      <dgm:prSet/>
      <dgm:spPr/>
      <dgm:t>
        <a:bodyPr/>
        <a:lstStyle/>
        <a:p>
          <a:endParaRPr lang="en-US"/>
        </a:p>
      </dgm:t>
    </dgm:pt>
    <dgm:pt modelId="{299B0D2A-0D9F-4FF8-9C57-677E226A89DC}" type="sibTrans" cxnId="{ED20D0FF-B759-4FA9-89DE-2F8B3AF203DF}">
      <dgm:prSet/>
      <dgm:spPr/>
      <dgm:t>
        <a:bodyPr/>
        <a:lstStyle/>
        <a:p>
          <a:endParaRPr lang="en-US"/>
        </a:p>
      </dgm:t>
    </dgm:pt>
    <dgm:pt modelId="{6E883797-E544-4E13-B3A1-7A96FC6CA78F}">
      <dgm:prSet phldrT="[Text]"/>
      <dgm:spPr/>
      <dgm:t>
        <a:bodyPr/>
        <a:lstStyle/>
        <a:p>
          <a:r>
            <a:rPr lang="en-US" dirty="0"/>
            <a:t>Result</a:t>
          </a:r>
        </a:p>
      </dgm:t>
    </dgm:pt>
    <dgm:pt modelId="{00A85005-96FC-43C4-BFEC-1F2A4F503DE1}" type="parTrans" cxnId="{A97FED32-6D81-4D4C-90D1-5E56CD63C90D}">
      <dgm:prSet/>
      <dgm:spPr/>
      <dgm:t>
        <a:bodyPr/>
        <a:lstStyle/>
        <a:p>
          <a:endParaRPr lang="en-US"/>
        </a:p>
      </dgm:t>
    </dgm:pt>
    <dgm:pt modelId="{9B2859BF-EB42-4DB6-9F45-9B97B6FA5243}" type="sibTrans" cxnId="{A97FED32-6D81-4D4C-90D1-5E56CD63C90D}">
      <dgm:prSet/>
      <dgm:spPr/>
      <dgm:t>
        <a:bodyPr/>
        <a:lstStyle/>
        <a:p>
          <a:endParaRPr lang="en-US"/>
        </a:p>
      </dgm:t>
    </dgm:pt>
    <dgm:pt modelId="{86569564-DC94-4CF6-9506-85507740BB6A}">
      <dgm:prSet phldrT="[Text]"/>
      <dgm:spPr/>
      <dgm:t>
        <a:bodyPr/>
        <a:lstStyle/>
        <a:p>
          <a:r>
            <a:rPr lang="en-US" dirty="0"/>
            <a:t>Reporting</a:t>
          </a:r>
        </a:p>
      </dgm:t>
    </dgm:pt>
    <dgm:pt modelId="{EC3B1AC6-F4F5-457A-9AF4-547E51169F04}" type="parTrans" cxnId="{1B2BBFCD-A099-426D-8D32-4F05A95A76F5}">
      <dgm:prSet/>
      <dgm:spPr/>
      <dgm:t>
        <a:bodyPr/>
        <a:lstStyle/>
        <a:p>
          <a:endParaRPr lang="en-US"/>
        </a:p>
      </dgm:t>
    </dgm:pt>
    <dgm:pt modelId="{0ACD890B-D95D-4D7A-A8C9-5A39EE6C706C}" type="sibTrans" cxnId="{1B2BBFCD-A099-426D-8D32-4F05A95A76F5}">
      <dgm:prSet/>
      <dgm:spPr/>
      <dgm:t>
        <a:bodyPr/>
        <a:lstStyle/>
        <a:p>
          <a:endParaRPr lang="en-US"/>
        </a:p>
      </dgm:t>
    </dgm:pt>
    <dgm:pt modelId="{602C7772-EB5F-4646-AE50-A48A5880EF07}">
      <dgm:prSet phldrT="[Text]"/>
      <dgm:spPr/>
      <dgm:t>
        <a:bodyPr/>
        <a:lstStyle/>
        <a:p>
          <a:r>
            <a:rPr lang="en-US" dirty="0"/>
            <a:t>Completed</a:t>
          </a:r>
        </a:p>
      </dgm:t>
    </dgm:pt>
    <dgm:pt modelId="{0E5D93CB-FCA2-4C45-ADC7-D2EAB1826998}" type="parTrans" cxnId="{E6439A79-ECF5-4A04-B922-9D0F57ED189F}">
      <dgm:prSet/>
      <dgm:spPr/>
      <dgm:t>
        <a:bodyPr/>
        <a:lstStyle/>
        <a:p>
          <a:endParaRPr lang="en-US"/>
        </a:p>
      </dgm:t>
    </dgm:pt>
    <dgm:pt modelId="{311A4CB3-E75E-4005-BCBC-162ADA776F8F}" type="sibTrans" cxnId="{E6439A79-ECF5-4A04-B922-9D0F57ED189F}">
      <dgm:prSet/>
      <dgm:spPr/>
      <dgm:t>
        <a:bodyPr/>
        <a:lstStyle/>
        <a:p>
          <a:endParaRPr lang="en-US"/>
        </a:p>
      </dgm:t>
    </dgm:pt>
    <dgm:pt modelId="{5E6E4992-CF45-43C7-B989-A7E8AFD2B7BA}" type="pres">
      <dgm:prSet presAssocID="{7085953D-5707-4E21-BE33-041E1976ABF0}" presName="Name0" presStyleCnt="0">
        <dgm:presLayoutVars>
          <dgm:dir/>
          <dgm:resizeHandles val="exact"/>
        </dgm:presLayoutVars>
      </dgm:prSet>
      <dgm:spPr/>
    </dgm:pt>
    <dgm:pt modelId="{C1161168-84CB-4F7B-B64F-1D08B29AED19}" type="pres">
      <dgm:prSet presAssocID="{5783DC9B-DE17-41F6-A65C-0FE69B596323}" presName="parTxOnly" presStyleLbl="node1" presStyleIdx="0" presStyleCnt="8">
        <dgm:presLayoutVars>
          <dgm:bulletEnabled val="1"/>
        </dgm:presLayoutVars>
      </dgm:prSet>
      <dgm:spPr/>
    </dgm:pt>
    <dgm:pt modelId="{097D5831-7865-4C2B-83B1-3C69F9AE2558}" type="pres">
      <dgm:prSet presAssocID="{25FB9107-F674-419A-B451-668B2458AE3E}" presName="parSpace" presStyleCnt="0"/>
      <dgm:spPr/>
    </dgm:pt>
    <dgm:pt modelId="{5FAE45F5-6A05-40BC-BF62-F53B837430DC}" type="pres">
      <dgm:prSet presAssocID="{DE38C539-41A9-4E07-81AC-BEB92589C108}" presName="parTxOnly" presStyleLbl="node1" presStyleIdx="1" presStyleCnt="8">
        <dgm:presLayoutVars>
          <dgm:bulletEnabled val="1"/>
        </dgm:presLayoutVars>
      </dgm:prSet>
      <dgm:spPr/>
    </dgm:pt>
    <dgm:pt modelId="{8F7D4400-4A5C-4E75-A7D3-9BECC7DA9E9B}" type="pres">
      <dgm:prSet presAssocID="{F6EDBD7B-0772-4C1A-AFDB-0B9A717CF845}" presName="parSpace" presStyleCnt="0"/>
      <dgm:spPr/>
    </dgm:pt>
    <dgm:pt modelId="{40C9B2DF-57F2-4D7A-A8F3-7310629EB107}" type="pres">
      <dgm:prSet presAssocID="{83FD66CD-0EFC-4B14-97FD-BB1261AA766E}" presName="parTxOnly" presStyleLbl="node1" presStyleIdx="2" presStyleCnt="8">
        <dgm:presLayoutVars>
          <dgm:bulletEnabled val="1"/>
        </dgm:presLayoutVars>
      </dgm:prSet>
      <dgm:spPr/>
    </dgm:pt>
    <dgm:pt modelId="{BDC7F5FF-4582-482F-A8B8-D6345182CAC7}" type="pres">
      <dgm:prSet presAssocID="{E94ED2B4-5985-48A1-9753-06F8A9F33384}" presName="parSpace" presStyleCnt="0"/>
      <dgm:spPr/>
    </dgm:pt>
    <dgm:pt modelId="{F5E38D07-E7BF-40B8-A6F8-D9B6ED7C70AB}" type="pres">
      <dgm:prSet presAssocID="{92378E4F-C3B1-43FC-9134-279D37C118C6}" presName="parTxOnly" presStyleLbl="node1" presStyleIdx="3" presStyleCnt="8">
        <dgm:presLayoutVars>
          <dgm:bulletEnabled val="1"/>
        </dgm:presLayoutVars>
      </dgm:prSet>
      <dgm:spPr/>
    </dgm:pt>
    <dgm:pt modelId="{15BB239E-5876-4374-B5BE-BD7ED7A0E75B}" type="pres">
      <dgm:prSet presAssocID="{299B0D2A-0D9F-4FF8-9C57-677E226A89DC}" presName="parSpace" presStyleCnt="0"/>
      <dgm:spPr/>
    </dgm:pt>
    <dgm:pt modelId="{1A45DC18-65BA-46E4-AA32-5AF455E30B02}" type="pres">
      <dgm:prSet presAssocID="{6E883797-E544-4E13-B3A1-7A96FC6CA78F}" presName="parTxOnly" presStyleLbl="node1" presStyleIdx="4" presStyleCnt="8">
        <dgm:presLayoutVars>
          <dgm:bulletEnabled val="1"/>
        </dgm:presLayoutVars>
      </dgm:prSet>
      <dgm:spPr/>
    </dgm:pt>
    <dgm:pt modelId="{53593CDB-7458-4D3C-ADE3-AE06E4354500}" type="pres">
      <dgm:prSet presAssocID="{9B2859BF-EB42-4DB6-9F45-9B97B6FA5243}" presName="parSpace" presStyleCnt="0"/>
      <dgm:spPr/>
    </dgm:pt>
    <dgm:pt modelId="{054A696B-C371-4853-A90B-861864E61580}" type="pres">
      <dgm:prSet presAssocID="{8F68D21A-4524-40A1-8C5A-9B0ACA5B8F0D}" presName="parTxOnly" presStyleLbl="node1" presStyleIdx="5" presStyleCnt="8">
        <dgm:presLayoutVars>
          <dgm:bulletEnabled val="1"/>
        </dgm:presLayoutVars>
      </dgm:prSet>
      <dgm:spPr/>
    </dgm:pt>
    <dgm:pt modelId="{E55F57F8-6EE9-4438-87BB-E48EB9C1805E}" type="pres">
      <dgm:prSet presAssocID="{26D8BAE3-6F27-401D-B758-33FBA22B582E}" presName="parSpace" presStyleCnt="0"/>
      <dgm:spPr/>
    </dgm:pt>
    <dgm:pt modelId="{6F752C57-479F-490B-B872-867672885E37}" type="pres">
      <dgm:prSet presAssocID="{86569564-DC94-4CF6-9506-85507740BB6A}" presName="parTxOnly" presStyleLbl="node1" presStyleIdx="6" presStyleCnt="8">
        <dgm:presLayoutVars>
          <dgm:bulletEnabled val="1"/>
        </dgm:presLayoutVars>
      </dgm:prSet>
      <dgm:spPr/>
    </dgm:pt>
    <dgm:pt modelId="{30819881-A78E-478E-A341-310411FB33CB}" type="pres">
      <dgm:prSet presAssocID="{0ACD890B-D95D-4D7A-A8C9-5A39EE6C706C}" presName="parSpace" presStyleCnt="0"/>
      <dgm:spPr/>
    </dgm:pt>
    <dgm:pt modelId="{55090AA7-C529-4260-8AA7-90D844F8F4CD}" type="pres">
      <dgm:prSet presAssocID="{602C7772-EB5F-4646-AE50-A48A5880EF07}" presName="parTxOnly" presStyleLbl="node1" presStyleIdx="7" presStyleCnt="8">
        <dgm:presLayoutVars>
          <dgm:bulletEnabled val="1"/>
        </dgm:presLayoutVars>
      </dgm:prSet>
      <dgm:spPr/>
    </dgm:pt>
  </dgm:ptLst>
  <dgm:cxnLst>
    <dgm:cxn modelId="{08E6CA17-0E68-454E-9B83-F5EDCCF0ECD1}" type="presOf" srcId="{7085953D-5707-4E21-BE33-041E1976ABF0}" destId="{5E6E4992-CF45-43C7-B989-A7E8AFD2B7BA}" srcOrd="0" destOrd="0" presId="urn:microsoft.com/office/officeart/2005/8/layout/hChevron3"/>
    <dgm:cxn modelId="{A97FED32-6D81-4D4C-90D1-5E56CD63C90D}" srcId="{7085953D-5707-4E21-BE33-041E1976ABF0}" destId="{6E883797-E544-4E13-B3A1-7A96FC6CA78F}" srcOrd="4" destOrd="0" parTransId="{00A85005-96FC-43C4-BFEC-1F2A4F503DE1}" sibTransId="{9B2859BF-EB42-4DB6-9F45-9B97B6FA5243}"/>
    <dgm:cxn modelId="{0CC63C41-F1D0-4E4E-B8CB-7B0B66223725}" type="presOf" srcId="{8F68D21A-4524-40A1-8C5A-9B0ACA5B8F0D}" destId="{054A696B-C371-4853-A90B-861864E61580}" srcOrd="0" destOrd="0" presId="urn:microsoft.com/office/officeart/2005/8/layout/hChevron3"/>
    <dgm:cxn modelId="{49902246-C0B5-4E2C-9F93-C038D4CC6D2B}" srcId="{7085953D-5707-4E21-BE33-041E1976ABF0}" destId="{8F68D21A-4524-40A1-8C5A-9B0ACA5B8F0D}" srcOrd="5" destOrd="0" parTransId="{0B083E9D-E5FF-4E88-8E20-229CB8B1EE39}" sibTransId="{26D8BAE3-6F27-401D-B758-33FBA22B582E}"/>
    <dgm:cxn modelId="{CBE46057-3AFB-4898-8D76-648BBDA41E39}" type="presOf" srcId="{92378E4F-C3B1-43FC-9134-279D37C118C6}" destId="{F5E38D07-E7BF-40B8-A6F8-D9B6ED7C70AB}" srcOrd="0" destOrd="0" presId="urn:microsoft.com/office/officeart/2005/8/layout/hChevron3"/>
    <dgm:cxn modelId="{A4A5915C-7AD7-42F6-9FB6-E0B684254AB4}" type="presOf" srcId="{86569564-DC94-4CF6-9506-85507740BB6A}" destId="{6F752C57-479F-490B-B872-867672885E37}" srcOrd="0" destOrd="0" presId="urn:microsoft.com/office/officeart/2005/8/layout/hChevron3"/>
    <dgm:cxn modelId="{E6439A79-ECF5-4A04-B922-9D0F57ED189F}" srcId="{7085953D-5707-4E21-BE33-041E1976ABF0}" destId="{602C7772-EB5F-4646-AE50-A48A5880EF07}" srcOrd="7" destOrd="0" parTransId="{0E5D93CB-FCA2-4C45-ADC7-D2EAB1826998}" sibTransId="{311A4CB3-E75E-4005-BCBC-162ADA776F8F}"/>
    <dgm:cxn modelId="{23BE258D-FDD9-47D0-A7E5-D9D45829734F}" type="presOf" srcId="{6E883797-E544-4E13-B3A1-7A96FC6CA78F}" destId="{1A45DC18-65BA-46E4-AA32-5AF455E30B02}" srcOrd="0" destOrd="0" presId="urn:microsoft.com/office/officeart/2005/8/layout/hChevron3"/>
    <dgm:cxn modelId="{3465EC98-82EB-4FC4-B8BC-F1E848456BE0}" srcId="{7085953D-5707-4E21-BE33-041E1976ABF0}" destId="{DE38C539-41A9-4E07-81AC-BEB92589C108}" srcOrd="1" destOrd="0" parTransId="{0915026C-9848-48A5-81A8-E6C9D3DB28FC}" sibTransId="{F6EDBD7B-0772-4C1A-AFDB-0B9A717CF845}"/>
    <dgm:cxn modelId="{B33EE09A-4005-438A-BF9B-9770E1456F5C}" type="presOf" srcId="{5783DC9B-DE17-41F6-A65C-0FE69B596323}" destId="{C1161168-84CB-4F7B-B64F-1D08B29AED19}" srcOrd="0" destOrd="0" presId="urn:microsoft.com/office/officeart/2005/8/layout/hChevron3"/>
    <dgm:cxn modelId="{5612C1A3-AD00-45D3-9F35-21372AAF0E60}" srcId="{7085953D-5707-4E21-BE33-041E1976ABF0}" destId="{83FD66CD-0EFC-4B14-97FD-BB1261AA766E}" srcOrd="2" destOrd="0" parTransId="{068DC544-C879-499A-AF7C-22156E57179F}" sibTransId="{E94ED2B4-5985-48A1-9753-06F8A9F33384}"/>
    <dgm:cxn modelId="{CA5949A8-3B71-4281-8E85-BA54A0BA32AA}" srcId="{7085953D-5707-4E21-BE33-041E1976ABF0}" destId="{5783DC9B-DE17-41F6-A65C-0FE69B596323}" srcOrd="0" destOrd="0" parTransId="{ED80C0A9-763D-4ACC-9F50-4C03A3844655}" sibTransId="{25FB9107-F674-419A-B451-668B2458AE3E}"/>
    <dgm:cxn modelId="{D6A1B3AE-CEA5-4606-B61B-EE7DEAD4135B}" type="presOf" srcId="{83FD66CD-0EFC-4B14-97FD-BB1261AA766E}" destId="{40C9B2DF-57F2-4D7A-A8F3-7310629EB107}" srcOrd="0" destOrd="0" presId="urn:microsoft.com/office/officeart/2005/8/layout/hChevron3"/>
    <dgm:cxn modelId="{C30387C4-F336-42B9-9962-E1B51ED7F497}" type="presOf" srcId="{602C7772-EB5F-4646-AE50-A48A5880EF07}" destId="{55090AA7-C529-4260-8AA7-90D844F8F4CD}" srcOrd="0" destOrd="0" presId="urn:microsoft.com/office/officeart/2005/8/layout/hChevron3"/>
    <dgm:cxn modelId="{1B2BBFCD-A099-426D-8D32-4F05A95A76F5}" srcId="{7085953D-5707-4E21-BE33-041E1976ABF0}" destId="{86569564-DC94-4CF6-9506-85507740BB6A}" srcOrd="6" destOrd="0" parTransId="{EC3B1AC6-F4F5-457A-9AF4-547E51169F04}" sibTransId="{0ACD890B-D95D-4D7A-A8C9-5A39EE6C706C}"/>
    <dgm:cxn modelId="{64DCE2E7-95B4-4098-B998-D3720D3E9ED1}" type="presOf" srcId="{DE38C539-41A9-4E07-81AC-BEB92589C108}" destId="{5FAE45F5-6A05-40BC-BF62-F53B837430DC}" srcOrd="0" destOrd="0" presId="urn:microsoft.com/office/officeart/2005/8/layout/hChevron3"/>
    <dgm:cxn modelId="{ED20D0FF-B759-4FA9-89DE-2F8B3AF203DF}" srcId="{7085953D-5707-4E21-BE33-041E1976ABF0}" destId="{92378E4F-C3B1-43FC-9134-279D37C118C6}" srcOrd="3" destOrd="0" parTransId="{2DCAEDE5-699C-4920-98F0-FA703565A9EC}" sibTransId="{299B0D2A-0D9F-4FF8-9C57-677E226A89DC}"/>
    <dgm:cxn modelId="{C0D9D114-6B50-4341-AE6A-553063F0B8EC}" type="presParOf" srcId="{5E6E4992-CF45-43C7-B989-A7E8AFD2B7BA}" destId="{C1161168-84CB-4F7B-B64F-1D08B29AED19}" srcOrd="0" destOrd="0" presId="urn:microsoft.com/office/officeart/2005/8/layout/hChevron3"/>
    <dgm:cxn modelId="{7E43263F-1AED-472A-8600-8A99B7E81D95}" type="presParOf" srcId="{5E6E4992-CF45-43C7-B989-A7E8AFD2B7BA}" destId="{097D5831-7865-4C2B-83B1-3C69F9AE2558}" srcOrd="1" destOrd="0" presId="urn:microsoft.com/office/officeart/2005/8/layout/hChevron3"/>
    <dgm:cxn modelId="{060C9BD1-41F2-48AA-A6AE-5F87D154D3D2}" type="presParOf" srcId="{5E6E4992-CF45-43C7-B989-A7E8AFD2B7BA}" destId="{5FAE45F5-6A05-40BC-BF62-F53B837430DC}" srcOrd="2" destOrd="0" presId="urn:microsoft.com/office/officeart/2005/8/layout/hChevron3"/>
    <dgm:cxn modelId="{801A54E9-8EBA-4BBF-A474-AB44B1D9BEE0}" type="presParOf" srcId="{5E6E4992-CF45-43C7-B989-A7E8AFD2B7BA}" destId="{8F7D4400-4A5C-4E75-A7D3-9BECC7DA9E9B}" srcOrd="3" destOrd="0" presId="urn:microsoft.com/office/officeart/2005/8/layout/hChevron3"/>
    <dgm:cxn modelId="{9C7D4AE6-8C59-4D05-AA90-B7AA11892532}" type="presParOf" srcId="{5E6E4992-CF45-43C7-B989-A7E8AFD2B7BA}" destId="{40C9B2DF-57F2-4D7A-A8F3-7310629EB107}" srcOrd="4" destOrd="0" presId="urn:microsoft.com/office/officeart/2005/8/layout/hChevron3"/>
    <dgm:cxn modelId="{2E068194-9E8C-4E65-9687-DF5A348D4932}" type="presParOf" srcId="{5E6E4992-CF45-43C7-B989-A7E8AFD2B7BA}" destId="{BDC7F5FF-4582-482F-A8B8-D6345182CAC7}" srcOrd="5" destOrd="0" presId="urn:microsoft.com/office/officeart/2005/8/layout/hChevron3"/>
    <dgm:cxn modelId="{6FD1D3AD-8878-487A-B90A-52CE7D223FA4}" type="presParOf" srcId="{5E6E4992-CF45-43C7-B989-A7E8AFD2B7BA}" destId="{F5E38D07-E7BF-40B8-A6F8-D9B6ED7C70AB}" srcOrd="6" destOrd="0" presId="urn:microsoft.com/office/officeart/2005/8/layout/hChevron3"/>
    <dgm:cxn modelId="{AF6F2058-409B-4839-8E6F-AAA6F517D6D6}" type="presParOf" srcId="{5E6E4992-CF45-43C7-B989-A7E8AFD2B7BA}" destId="{15BB239E-5876-4374-B5BE-BD7ED7A0E75B}" srcOrd="7" destOrd="0" presId="urn:microsoft.com/office/officeart/2005/8/layout/hChevron3"/>
    <dgm:cxn modelId="{7987CD73-36C5-4304-8B7F-0864AD07185E}" type="presParOf" srcId="{5E6E4992-CF45-43C7-B989-A7E8AFD2B7BA}" destId="{1A45DC18-65BA-46E4-AA32-5AF455E30B02}" srcOrd="8" destOrd="0" presId="urn:microsoft.com/office/officeart/2005/8/layout/hChevron3"/>
    <dgm:cxn modelId="{FA2C3AA0-F848-4105-9BDA-580830057B1F}" type="presParOf" srcId="{5E6E4992-CF45-43C7-B989-A7E8AFD2B7BA}" destId="{53593CDB-7458-4D3C-ADE3-AE06E4354500}" srcOrd="9" destOrd="0" presId="urn:microsoft.com/office/officeart/2005/8/layout/hChevron3"/>
    <dgm:cxn modelId="{532B22E2-B235-44A8-B219-F29BD8865993}" type="presParOf" srcId="{5E6E4992-CF45-43C7-B989-A7E8AFD2B7BA}" destId="{054A696B-C371-4853-A90B-861864E61580}" srcOrd="10" destOrd="0" presId="urn:microsoft.com/office/officeart/2005/8/layout/hChevron3"/>
    <dgm:cxn modelId="{D211F0F1-1B42-429E-9608-DA0688D6779F}" type="presParOf" srcId="{5E6E4992-CF45-43C7-B989-A7E8AFD2B7BA}" destId="{E55F57F8-6EE9-4438-87BB-E48EB9C1805E}" srcOrd="11" destOrd="0" presId="urn:microsoft.com/office/officeart/2005/8/layout/hChevron3"/>
    <dgm:cxn modelId="{DE277FFE-874C-4163-BD50-C29E5327F010}" type="presParOf" srcId="{5E6E4992-CF45-43C7-B989-A7E8AFD2B7BA}" destId="{6F752C57-479F-490B-B872-867672885E37}" srcOrd="12" destOrd="0" presId="urn:microsoft.com/office/officeart/2005/8/layout/hChevron3"/>
    <dgm:cxn modelId="{52DE329A-44C0-49A4-B8B4-2BE04D349124}" type="presParOf" srcId="{5E6E4992-CF45-43C7-B989-A7E8AFD2B7BA}" destId="{30819881-A78E-478E-A341-310411FB33CB}" srcOrd="13" destOrd="0" presId="urn:microsoft.com/office/officeart/2005/8/layout/hChevron3"/>
    <dgm:cxn modelId="{2CA9215F-C12B-4050-BE70-8831A5A24EE1}" type="presParOf" srcId="{5E6E4992-CF45-43C7-B989-A7E8AFD2B7BA}" destId="{55090AA7-C529-4260-8AA7-90D844F8F4CD}" srcOrd="14"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085953D-5707-4E21-BE33-041E1976ABF0}" type="doc">
      <dgm:prSet loTypeId="urn:microsoft.com/office/officeart/2005/8/layout/hChevron3" loCatId="process" qsTypeId="urn:microsoft.com/office/officeart/2005/8/quickstyle/simple1" qsCatId="simple" csTypeId="urn:microsoft.com/office/officeart/2005/8/colors/accent1_2" csCatId="accent1" phldr="1"/>
      <dgm:spPr/>
    </dgm:pt>
    <dgm:pt modelId="{5783DC9B-DE17-41F6-A65C-0FE69B596323}">
      <dgm:prSet phldrT="[Text]"/>
      <dgm:spPr/>
      <dgm:t>
        <a:bodyPr/>
        <a:lstStyle/>
        <a:p>
          <a:r>
            <a:rPr lang="en-US" dirty="0"/>
            <a:t>Sample registration</a:t>
          </a:r>
        </a:p>
      </dgm:t>
    </dgm:pt>
    <dgm:pt modelId="{ED80C0A9-763D-4ACC-9F50-4C03A3844655}" type="parTrans" cxnId="{CA5949A8-3B71-4281-8E85-BA54A0BA32AA}">
      <dgm:prSet/>
      <dgm:spPr/>
      <dgm:t>
        <a:bodyPr/>
        <a:lstStyle/>
        <a:p>
          <a:endParaRPr lang="en-US"/>
        </a:p>
      </dgm:t>
    </dgm:pt>
    <dgm:pt modelId="{25FB9107-F674-419A-B451-668B2458AE3E}" type="sibTrans" cxnId="{CA5949A8-3B71-4281-8E85-BA54A0BA32AA}">
      <dgm:prSet/>
      <dgm:spPr/>
      <dgm:t>
        <a:bodyPr/>
        <a:lstStyle/>
        <a:p>
          <a:endParaRPr lang="en-US"/>
        </a:p>
      </dgm:t>
    </dgm:pt>
    <dgm:pt modelId="{DE38C539-41A9-4E07-81AC-BEB92589C108}">
      <dgm:prSet phldrT="[Text]"/>
      <dgm:spPr/>
      <dgm:t>
        <a:bodyPr/>
        <a:lstStyle/>
        <a:p>
          <a:r>
            <a:rPr lang="en-US" dirty="0"/>
            <a:t>Sample Collection</a:t>
          </a:r>
        </a:p>
      </dgm:t>
    </dgm:pt>
    <dgm:pt modelId="{0915026C-9848-48A5-81A8-E6C9D3DB28FC}" type="parTrans" cxnId="{3465EC98-82EB-4FC4-B8BC-F1E848456BE0}">
      <dgm:prSet/>
      <dgm:spPr/>
      <dgm:t>
        <a:bodyPr/>
        <a:lstStyle/>
        <a:p>
          <a:endParaRPr lang="en-US"/>
        </a:p>
      </dgm:t>
    </dgm:pt>
    <dgm:pt modelId="{F6EDBD7B-0772-4C1A-AFDB-0B9A717CF845}" type="sibTrans" cxnId="{3465EC98-82EB-4FC4-B8BC-F1E848456BE0}">
      <dgm:prSet/>
      <dgm:spPr/>
      <dgm:t>
        <a:bodyPr/>
        <a:lstStyle/>
        <a:p>
          <a:endParaRPr lang="en-US"/>
        </a:p>
      </dgm:t>
    </dgm:pt>
    <dgm:pt modelId="{83FD66CD-0EFC-4B14-97FD-BB1261AA766E}">
      <dgm:prSet phldrT="[Text]"/>
      <dgm:spPr/>
      <dgm:t>
        <a:bodyPr/>
        <a:lstStyle/>
        <a:p>
          <a:r>
            <a:rPr lang="en-US" dirty="0"/>
            <a:t>Accessioning</a:t>
          </a:r>
        </a:p>
      </dgm:t>
    </dgm:pt>
    <dgm:pt modelId="{068DC544-C879-499A-AF7C-22156E57179F}" type="parTrans" cxnId="{5612C1A3-AD00-45D3-9F35-21372AAF0E60}">
      <dgm:prSet/>
      <dgm:spPr/>
      <dgm:t>
        <a:bodyPr/>
        <a:lstStyle/>
        <a:p>
          <a:endParaRPr lang="en-US"/>
        </a:p>
      </dgm:t>
    </dgm:pt>
    <dgm:pt modelId="{E94ED2B4-5985-48A1-9753-06F8A9F33384}" type="sibTrans" cxnId="{5612C1A3-AD00-45D3-9F35-21372AAF0E60}">
      <dgm:prSet/>
      <dgm:spPr/>
      <dgm:t>
        <a:bodyPr/>
        <a:lstStyle/>
        <a:p>
          <a:endParaRPr lang="en-US"/>
        </a:p>
      </dgm:t>
    </dgm:pt>
    <dgm:pt modelId="{8F68D21A-4524-40A1-8C5A-9B0ACA5B8F0D}">
      <dgm:prSet phldrT="[Text]"/>
      <dgm:spPr/>
      <dgm:t>
        <a:bodyPr/>
        <a:lstStyle/>
        <a:p>
          <a:r>
            <a:rPr lang="en-US" dirty="0"/>
            <a:t>Interpretation</a:t>
          </a:r>
        </a:p>
      </dgm:t>
    </dgm:pt>
    <dgm:pt modelId="{0B083E9D-E5FF-4E88-8E20-229CB8B1EE39}" type="parTrans" cxnId="{49902246-C0B5-4E2C-9F93-C038D4CC6D2B}">
      <dgm:prSet/>
      <dgm:spPr/>
      <dgm:t>
        <a:bodyPr/>
        <a:lstStyle/>
        <a:p>
          <a:endParaRPr lang="en-US"/>
        </a:p>
      </dgm:t>
    </dgm:pt>
    <dgm:pt modelId="{26D8BAE3-6F27-401D-B758-33FBA22B582E}" type="sibTrans" cxnId="{49902246-C0B5-4E2C-9F93-C038D4CC6D2B}">
      <dgm:prSet/>
      <dgm:spPr/>
      <dgm:t>
        <a:bodyPr/>
        <a:lstStyle/>
        <a:p>
          <a:endParaRPr lang="en-US"/>
        </a:p>
      </dgm:t>
    </dgm:pt>
    <dgm:pt modelId="{92378E4F-C3B1-43FC-9134-279D37C118C6}">
      <dgm:prSet phldrT="[Text]"/>
      <dgm:spPr/>
      <dgm:t>
        <a:bodyPr/>
        <a:lstStyle/>
        <a:p>
          <a:r>
            <a:rPr lang="en-US" dirty="0"/>
            <a:t>Testing</a:t>
          </a:r>
        </a:p>
      </dgm:t>
    </dgm:pt>
    <dgm:pt modelId="{2DCAEDE5-699C-4920-98F0-FA703565A9EC}" type="parTrans" cxnId="{ED20D0FF-B759-4FA9-89DE-2F8B3AF203DF}">
      <dgm:prSet/>
      <dgm:spPr/>
      <dgm:t>
        <a:bodyPr/>
        <a:lstStyle/>
        <a:p>
          <a:endParaRPr lang="en-US"/>
        </a:p>
      </dgm:t>
    </dgm:pt>
    <dgm:pt modelId="{299B0D2A-0D9F-4FF8-9C57-677E226A89DC}" type="sibTrans" cxnId="{ED20D0FF-B759-4FA9-89DE-2F8B3AF203DF}">
      <dgm:prSet/>
      <dgm:spPr/>
      <dgm:t>
        <a:bodyPr/>
        <a:lstStyle/>
        <a:p>
          <a:endParaRPr lang="en-US"/>
        </a:p>
      </dgm:t>
    </dgm:pt>
    <dgm:pt modelId="{6E883797-E544-4E13-B3A1-7A96FC6CA78F}">
      <dgm:prSet phldrT="[Text]"/>
      <dgm:spPr/>
      <dgm:t>
        <a:bodyPr/>
        <a:lstStyle/>
        <a:p>
          <a:r>
            <a:rPr lang="en-US" dirty="0"/>
            <a:t>Result</a:t>
          </a:r>
        </a:p>
      </dgm:t>
    </dgm:pt>
    <dgm:pt modelId="{00A85005-96FC-43C4-BFEC-1F2A4F503DE1}" type="parTrans" cxnId="{A97FED32-6D81-4D4C-90D1-5E56CD63C90D}">
      <dgm:prSet/>
      <dgm:spPr/>
      <dgm:t>
        <a:bodyPr/>
        <a:lstStyle/>
        <a:p>
          <a:endParaRPr lang="en-US"/>
        </a:p>
      </dgm:t>
    </dgm:pt>
    <dgm:pt modelId="{9B2859BF-EB42-4DB6-9F45-9B97B6FA5243}" type="sibTrans" cxnId="{A97FED32-6D81-4D4C-90D1-5E56CD63C90D}">
      <dgm:prSet/>
      <dgm:spPr/>
      <dgm:t>
        <a:bodyPr/>
        <a:lstStyle/>
        <a:p>
          <a:endParaRPr lang="en-US"/>
        </a:p>
      </dgm:t>
    </dgm:pt>
    <dgm:pt modelId="{86569564-DC94-4CF6-9506-85507740BB6A}">
      <dgm:prSet phldrT="[Text]"/>
      <dgm:spPr>
        <a:solidFill>
          <a:srgbClr val="00B050"/>
        </a:solidFill>
      </dgm:spPr>
      <dgm:t>
        <a:bodyPr/>
        <a:lstStyle/>
        <a:p>
          <a:r>
            <a:rPr lang="en-US" dirty="0"/>
            <a:t>Reporting</a:t>
          </a:r>
        </a:p>
      </dgm:t>
    </dgm:pt>
    <dgm:pt modelId="{EC3B1AC6-F4F5-457A-9AF4-547E51169F04}" type="parTrans" cxnId="{1B2BBFCD-A099-426D-8D32-4F05A95A76F5}">
      <dgm:prSet/>
      <dgm:spPr/>
      <dgm:t>
        <a:bodyPr/>
        <a:lstStyle/>
        <a:p>
          <a:endParaRPr lang="en-US"/>
        </a:p>
      </dgm:t>
    </dgm:pt>
    <dgm:pt modelId="{0ACD890B-D95D-4D7A-A8C9-5A39EE6C706C}" type="sibTrans" cxnId="{1B2BBFCD-A099-426D-8D32-4F05A95A76F5}">
      <dgm:prSet/>
      <dgm:spPr/>
      <dgm:t>
        <a:bodyPr/>
        <a:lstStyle/>
        <a:p>
          <a:endParaRPr lang="en-US"/>
        </a:p>
      </dgm:t>
    </dgm:pt>
    <dgm:pt modelId="{602C7772-EB5F-4646-AE50-A48A5880EF07}">
      <dgm:prSet phldrT="[Text]"/>
      <dgm:spPr>
        <a:solidFill>
          <a:srgbClr val="00B050"/>
        </a:solidFill>
      </dgm:spPr>
      <dgm:t>
        <a:bodyPr/>
        <a:lstStyle/>
        <a:p>
          <a:r>
            <a:rPr lang="en-US" dirty="0"/>
            <a:t>Completed</a:t>
          </a:r>
        </a:p>
      </dgm:t>
    </dgm:pt>
    <dgm:pt modelId="{0E5D93CB-FCA2-4C45-ADC7-D2EAB1826998}" type="parTrans" cxnId="{E6439A79-ECF5-4A04-B922-9D0F57ED189F}">
      <dgm:prSet/>
      <dgm:spPr/>
      <dgm:t>
        <a:bodyPr/>
        <a:lstStyle/>
        <a:p>
          <a:endParaRPr lang="en-US"/>
        </a:p>
      </dgm:t>
    </dgm:pt>
    <dgm:pt modelId="{311A4CB3-E75E-4005-BCBC-162ADA776F8F}" type="sibTrans" cxnId="{E6439A79-ECF5-4A04-B922-9D0F57ED189F}">
      <dgm:prSet/>
      <dgm:spPr/>
      <dgm:t>
        <a:bodyPr/>
        <a:lstStyle/>
        <a:p>
          <a:endParaRPr lang="en-US"/>
        </a:p>
      </dgm:t>
    </dgm:pt>
    <dgm:pt modelId="{5E6E4992-CF45-43C7-B989-A7E8AFD2B7BA}" type="pres">
      <dgm:prSet presAssocID="{7085953D-5707-4E21-BE33-041E1976ABF0}" presName="Name0" presStyleCnt="0">
        <dgm:presLayoutVars>
          <dgm:dir/>
          <dgm:resizeHandles val="exact"/>
        </dgm:presLayoutVars>
      </dgm:prSet>
      <dgm:spPr/>
    </dgm:pt>
    <dgm:pt modelId="{C1161168-84CB-4F7B-B64F-1D08B29AED19}" type="pres">
      <dgm:prSet presAssocID="{5783DC9B-DE17-41F6-A65C-0FE69B596323}" presName="parTxOnly" presStyleLbl="node1" presStyleIdx="0" presStyleCnt="8">
        <dgm:presLayoutVars>
          <dgm:bulletEnabled val="1"/>
        </dgm:presLayoutVars>
      </dgm:prSet>
      <dgm:spPr/>
    </dgm:pt>
    <dgm:pt modelId="{097D5831-7865-4C2B-83B1-3C69F9AE2558}" type="pres">
      <dgm:prSet presAssocID="{25FB9107-F674-419A-B451-668B2458AE3E}" presName="parSpace" presStyleCnt="0"/>
      <dgm:spPr/>
    </dgm:pt>
    <dgm:pt modelId="{5FAE45F5-6A05-40BC-BF62-F53B837430DC}" type="pres">
      <dgm:prSet presAssocID="{DE38C539-41A9-4E07-81AC-BEB92589C108}" presName="parTxOnly" presStyleLbl="node1" presStyleIdx="1" presStyleCnt="8">
        <dgm:presLayoutVars>
          <dgm:bulletEnabled val="1"/>
        </dgm:presLayoutVars>
      </dgm:prSet>
      <dgm:spPr/>
    </dgm:pt>
    <dgm:pt modelId="{8F7D4400-4A5C-4E75-A7D3-9BECC7DA9E9B}" type="pres">
      <dgm:prSet presAssocID="{F6EDBD7B-0772-4C1A-AFDB-0B9A717CF845}" presName="parSpace" presStyleCnt="0"/>
      <dgm:spPr/>
    </dgm:pt>
    <dgm:pt modelId="{40C9B2DF-57F2-4D7A-A8F3-7310629EB107}" type="pres">
      <dgm:prSet presAssocID="{83FD66CD-0EFC-4B14-97FD-BB1261AA766E}" presName="parTxOnly" presStyleLbl="node1" presStyleIdx="2" presStyleCnt="8">
        <dgm:presLayoutVars>
          <dgm:bulletEnabled val="1"/>
        </dgm:presLayoutVars>
      </dgm:prSet>
      <dgm:spPr/>
    </dgm:pt>
    <dgm:pt modelId="{BDC7F5FF-4582-482F-A8B8-D6345182CAC7}" type="pres">
      <dgm:prSet presAssocID="{E94ED2B4-5985-48A1-9753-06F8A9F33384}" presName="parSpace" presStyleCnt="0"/>
      <dgm:spPr/>
    </dgm:pt>
    <dgm:pt modelId="{F5E38D07-E7BF-40B8-A6F8-D9B6ED7C70AB}" type="pres">
      <dgm:prSet presAssocID="{92378E4F-C3B1-43FC-9134-279D37C118C6}" presName="parTxOnly" presStyleLbl="node1" presStyleIdx="3" presStyleCnt="8">
        <dgm:presLayoutVars>
          <dgm:bulletEnabled val="1"/>
        </dgm:presLayoutVars>
      </dgm:prSet>
      <dgm:spPr/>
    </dgm:pt>
    <dgm:pt modelId="{15BB239E-5876-4374-B5BE-BD7ED7A0E75B}" type="pres">
      <dgm:prSet presAssocID="{299B0D2A-0D9F-4FF8-9C57-677E226A89DC}" presName="parSpace" presStyleCnt="0"/>
      <dgm:spPr/>
    </dgm:pt>
    <dgm:pt modelId="{1A45DC18-65BA-46E4-AA32-5AF455E30B02}" type="pres">
      <dgm:prSet presAssocID="{6E883797-E544-4E13-B3A1-7A96FC6CA78F}" presName="parTxOnly" presStyleLbl="node1" presStyleIdx="4" presStyleCnt="8">
        <dgm:presLayoutVars>
          <dgm:bulletEnabled val="1"/>
        </dgm:presLayoutVars>
      </dgm:prSet>
      <dgm:spPr/>
    </dgm:pt>
    <dgm:pt modelId="{53593CDB-7458-4D3C-ADE3-AE06E4354500}" type="pres">
      <dgm:prSet presAssocID="{9B2859BF-EB42-4DB6-9F45-9B97B6FA5243}" presName="parSpace" presStyleCnt="0"/>
      <dgm:spPr/>
    </dgm:pt>
    <dgm:pt modelId="{054A696B-C371-4853-A90B-861864E61580}" type="pres">
      <dgm:prSet presAssocID="{8F68D21A-4524-40A1-8C5A-9B0ACA5B8F0D}" presName="parTxOnly" presStyleLbl="node1" presStyleIdx="5" presStyleCnt="8">
        <dgm:presLayoutVars>
          <dgm:bulletEnabled val="1"/>
        </dgm:presLayoutVars>
      </dgm:prSet>
      <dgm:spPr/>
    </dgm:pt>
    <dgm:pt modelId="{E55F57F8-6EE9-4438-87BB-E48EB9C1805E}" type="pres">
      <dgm:prSet presAssocID="{26D8BAE3-6F27-401D-B758-33FBA22B582E}" presName="parSpace" presStyleCnt="0"/>
      <dgm:spPr/>
    </dgm:pt>
    <dgm:pt modelId="{6F752C57-479F-490B-B872-867672885E37}" type="pres">
      <dgm:prSet presAssocID="{86569564-DC94-4CF6-9506-85507740BB6A}" presName="parTxOnly" presStyleLbl="node1" presStyleIdx="6" presStyleCnt="8">
        <dgm:presLayoutVars>
          <dgm:bulletEnabled val="1"/>
        </dgm:presLayoutVars>
      </dgm:prSet>
      <dgm:spPr/>
    </dgm:pt>
    <dgm:pt modelId="{30819881-A78E-478E-A341-310411FB33CB}" type="pres">
      <dgm:prSet presAssocID="{0ACD890B-D95D-4D7A-A8C9-5A39EE6C706C}" presName="parSpace" presStyleCnt="0"/>
      <dgm:spPr/>
    </dgm:pt>
    <dgm:pt modelId="{55090AA7-C529-4260-8AA7-90D844F8F4CD}" type="pres">
      <dgm:prSet presAssocID="{602C7772-EB5F-4646-AE50-A48A5880EF07}" presName="parTxOnly" presStyleLbl="node1" presStyleIdx="7" presStyleCnt="8">
        <dgm:presLayoutVars>
          <dgm:bulletEnabled val="1"/>
        </dgm:presLayoutVars>
      </dgm:prSet>
      <dgm:spPr/>
    </dgm:pt>
  </dgm:ptLst>
  <dgm:cxnLst>
    <dgm:cxn modelId="{08E6CA17-0E68-454E-9B83-F5EDCCF0ECD1}" type="presOf" srcId="{7085953D-5707-4E21-BE33-041E1976ABF0}" destId="{5E6E4992-CF45-43C7-B989-A7E8AFD2B7BA}" srcOrd="0" destOrd="0" presId="urn:microsoft.com/office/officeart/2005/8/layout/hChevron3"/>
    <dgm:cxn modelId="{A97FED32-6D81-4D4C-90D1-5E56CD63C90D}" srcId="{7085953D-5707-4E21-BE33-041E1976ABF0}" destId="{6E883797-E544-4E13-B3A1-7A96FC6CA78F}" srcOrd="4" destOrd="0" parTransId="{00A85005-96FC-43C4-BFEC-1F2A4F503DE1}" sibTransId="{9B2859BF-EB42-4DB6-9F45-9B97B6FA5243}"/>
    <dgm:cxn modelId="{0CC63C41-F1D0-4E4E-B8CB-7B0B66223725}" type="presOf" srcId="{8F68D21A-4524-40A1-8C5A-9B0ACA5B8F0D}" destId="{054A696B-C371-4853-A90B-861864E61580}" srcOrd="0" destOrd="0" presId="urn:microsoft.com/office/officeart/2005/8/layout/hChevron3"/>
    <dgm:cxn modelId="{49902246-C0B5-4E2C-9F93-C038D4CC6D2B}" srcId="{7085953D-5707-4E21-BE33-041E1976ABF0}" destId="{8F68D21A-4524-40A1-8C5A-9B0ACA5B8F0D}" srcOrd="5" destOrd="0" parTransId="{0B083E9D-E5FF-4E88-8E20-229CB8B1EE39}" sibTransId="{26D8BAE3-6F27-401D-B758-33FBA22B582E}"/>
    <dgm:cxn modelId="{CBE46057-3AFB-4898-8D76-648BBDA41E39}" type="presOf" srcId="{92378E4F-C3B1-43FC-9134-279D37C118C6}" destId="{F5E38D07-E7BF-40B8-A6F8-D9B6ED7C70AB}" srcOrd="0" destOrd="0" presId="urn:microsoft.com/office/officeart/2005/8/layout/hChevron3"/>
    <dgm:cxn modelId="{A4A5915C-7AD7-42F6-9FB6-E0B684254AB4}" type="presOf" srcId="{86569564-DC94-4CF6-9506-85507740BB6A}" destId="{6F752C57-479F-490B-B872-867672885E37}" srcOrd="0" destOrd="0" presId="urn:microsoft.com/office/officeart/2005/8/layout/hChevron3"/>
    <dgm:cxn modelId="{E6439A79-ECF5-4A04-B922-9D0F57ED189F}" srcId="{7085953D-5707-4E21-BE33-041E1976ABF0}" destId="{602C7772-EB5F-4646-AE50-A48A5880EF07}" srcOrd="7" destOrd="0" parTransId="{0E5D93CB-FCA2-4C45-ADC7-D2EAB1826998}" sibTransId="{311A4CB3-E75E-4005-BCBC-162ADA776F8F}"/>
    <dgm:cxn modelId="{23BE258D-FDD9-47D0-A7E5-D9D45829734F}" type="presOf" srcId="{6E883797-E544-4E13-B3A1-7A96FC6CA78F}" destId="{1A45DC18-65BA-46E4-AA32-5AF455E30B02}" srcOrd="0" destOrd="0" presId="urn:microsoft.com/office/officeart/2005/8/layout/hChevron3"/>
    <dgm:cxn modelId="{3465EC98-82EB-4FC4-B8BC-F1E848456BE0}" srcId="{7085953D-5707-4E21-BE33-041E1976ABF0}" destId="{DE38C539-41A9-4E07-81AC-BEB92589C108}" srcOrd="1" destOrd="0" parTransId="{0915026C-9848-48A5-81A8-E6C9D3DB28FC}" sibTransId="{F6EDBD7B-0772-4C1A-AFDB-0B9A717CF845}"/>
    <dgm:cxn modelId="{B33EE09A-4005-438A-BF9B-9770E1456F5C}" type="presOf" srcId="{5783DC9B-DE17-41F6-A65C-0FE69B596323}" destId="{C1161168-84CB-4F7B-B64F-1D08B29AED19}" srcOrd="0" destOrd="0" presId="urn:microsoft.com/office/officeart/2005/8/layout/hChevron3"/>
    <dgm:cxn modelId="{5612C1A3-AD00-45D3-9F35-21372AAF0E60}" srcId="{7085953D-5707-4E21-BE33-041E1976ABF0}" destId="{83FD66CD-0EFC-4B14-97FD-BB1261AA766E}" srcOrd="2" destOrd="0" parTransId="{068DC544-C879-499A-AF7C-22156E57179F}" sibTransId="{E94ED2B4-5985-48A1-9753-06F8A9F33384}"/>
    <dgm:cxn modelId="{CA5949A8-3B71-4281-8E85-BA54A0BA32AA}" srcId="{7085953D-5707-4E21-BE33-041E1976ABF0}" destId="{5783DC9B-DE17-41F6-A65C-0FE69B596323}" srcOrd="0" destOrd="0" parTransId="{ED80C0A9-763D-4ACC-9F50-4C03A3844655}" sibTransId="{25FB9107-F674-419A-B451-668B2458AE3E}"/>
    <dgm:cxn modelId="{D6A1B3AE-CEA5-4606-B61B-EE7DEAD4135B}" type="presOf" srcId="{83FD66CD-0EFC-4B14-97FD-BB1261AA766E}" destId="{40C9B2DF-57F2-4D7A-A8F3-7310629EB107}" srcOrd="0" destOrd="0" presId="urn:microsoft.com/office/officeart/2005/8/layout/hChevron3"/>
    <dgm:cxn modelId="{C30387C4-F336-42B9-9962-E1B51ED7F497}" type="presOf" srcId="{602C7772-EB5F-4646-AE50-A48A5880EF07}" destId="{55090AA7-C529-4260-8AA7-90D844F8F4CD}" srcOrd="0" destOrd="0" presId="urn:microsoft.com/office/officeart/2005/8/layout/hChevron3"/>
    <dgm:cxn modelId="{1B2BBFCD-A099-426D-8D32-4F05A95A76F5}" srcId="{7085953D-5707-4E21-BE33-041E1976ABF0}" destId="{86569564-DC94-4CF6-9506-85507740BB6A}" srcOrd="6" destOrd="0" parTransId="{EC3B1AC6-F4F5-457A-9AF4-547E51169F04}" sibTransId="{0ACD890B-D95D-4D7A-A8C9-5A39EE6C706C}"/>
    <dgm:cxn modelId="{64DCE2E7-95B4-4098-B998-D3720D3E9ED1}" type="presOf" srcId="{DE38C539-41A9-4E07-81AC-BEB92589C108}" destId="{5FAE45F5-6A05-40BC-BF62-F53B837430DC}" srcOrd="0" destOrd="0" presId="urn:microsoft.com/office/officeart/2005/8/layout/hChevron3"/>
    <dgm:cxn modelId="{ED20D0FF-B759-4FA9-89DE-2F8B3AF203DF}" srcId="{7085953D-5707-4E21-BE33-041E1976ABF0}" destId="{92378E4F-C3B1-43FC-9134-279D37C118C6}" srcOrd="3" destOrd="0" parTransId="{2DCAEDE5-699C-4920-98F0-FA703565A9EC}" sibTransId="{299B0D2A-0D9F-4FF8-9C57-677E226A89DC}"/>
    <dgm:cxn modelId="{C0D9D114-6B50-4341-AE6A-553063F0B8EC}" type="presParOf" srcId="{5E6E4992-CF45-43C7-B989-A7E8AFD2B7BA}" destId="{C1161168-84CB-4F7B-B64F-1D08B29AED19}" srcOrd="0" destOrd="0" presId="urn:microsoft.com/office/officeart/2005/8/layout/hChevron3"/>
    <dgm:cxn modelId="{7E43263F-1AED-472A-8600-8A99B7E81D95}" type="presParOf" srcId="{5E6E4992-CF45-43C7-B989-A7E8AFD2B7BA}" destId="{097D5831-7865-4C2B-83B1-3C69F9AE2558}" srcOrd="1" destOrd="0" presId="urn:microsoft.com/office/officeart/2005/8/layout/hChevron3"/>
    <dgm:cxn modelId="{060C9BD1-41F2-48AA-A6AE-5F87D154D3D2}" type="presParOf" srcId="{5E6E4992-CF45-43C7-B989-A7E8AFD2B7BA}" destId="{5FAE45F5-6A05-40BC-BF62-F53B837430DC}" srcOrd="2" destOrd="0" presId="urn:microsoft.com/office/officeart/2005/8/layout/hChevron3"/>
    <dgm:cxn modelId="{801A54E9-8EBA-4BBF-A474-AB44B1D9BEE0}" type="presParOf" srcId="{5E6E4992-CF45-43C7-B989-A7E8AFD2B7BA}" destId="{8F7D4400-4A5C-4E75-A7D3-9BECC7DA9E9B}" srcOrd="3" destOrd="0" presId="urn:microsoft.com/office/officeart/2005/8/layout/hChevron3"/>
    <dgm:cxn modelId="{9C7D4AE6-8C59-4D05-AA90-B7AA11892532}" type="presParOf" srcId="{5E6E4992-CF45-43C7-B989-A7E8AFD2B7BA}" destId="{40C9B2DF-57F2-4D7A-A8F3-7310629EB107}" srcOrd="4" destOrd="0" presId="urn:microsoft.com/office/officeart/2005/8/layout/hChevron3"/>
    <dgm:cxn modelId="{2E068194-9E8C-4E65-9687-DF5A348D4932}" type="presParOf" srcId="{5E6E4992-CF45-43C7-B989-A7E8AFD2B7BA}" destId="{BDC7F5FF-4582-482F-A8B8-D6345182CAC7}" srcOrd="5" destOrd="0" presId="urn:microsoft.com/office/officeart/2005/8/layout/hChevron3"/>
    <dgm:cxn modelId="{6FD1D3AD-8878-487A-B90A-52CE7D223FA4}" type="presParOf" srcId="{5E6E4992-CF45-43C7-B989-A7E8AFD2B7BA}" destId="{F5E38D07-E7BF-40B8-A6F8-D9B6ED7C70AB}" srcOrd="6" destOrd="0" presId="urn:microsoft.com/office/officeart/2005/8/layout/hChevron3"/>
    <dgm:cxn modelId="{AF6F2058-409B-4839-8E6F-AAA6F517D6D6}" type="presParOf" srcId="{5E6E4992-CF45-43C7-B989-A7E8AFD2B7BA}" destId="{15BB239E-5876-4374-B5BE-BD7ED7A0E75B}" srcOrd="7" destOrd="0" presId="urn:microsoft.com/office/officeart/2005/8/layout/hChevron3"/>
    <dgm:cxn modelId="{7987CD73-36C5-4304-8B7F-0864AD07185E}" type="presParOf" srcId="{5E6E4992-CF45-43C7-B989-A7E8AFD2B7BA}" destId="{1A45DC18-65BA-46E4-AA32-5AF455E30B02}" srcOrd="8" destOrd="0" presId="urn:microsoft.com/office/officeart/2005/8/layout/hChevron3"/>
    <dgm:cxn modelId="{FA2C3AA0-F848-4105-9BDA-580830057B1F}" type="presParOf" srcId="{5E6E4992-CF45-43C7-B989-A7E8AFD2B7BA}" destId="{53593CDB-7458-4D3C-ADE3-AE06E4354500}" srcOrd="9" destOrd="0" presId="urn:microsoft.com/office/officeart/2005/8/layout/hChevron3"/>
    <dgm:cxn modelId="{532B22E2-B235-44A8-B219-F29BD8865993}" type="presParOf" srcId="{5E6E4992-CF45-43C7-B989-A7E8AFD2B7BA}" destId="{054A696B-C371-4853-A90B-861864E61580}" srcOrd="10" destOrd="0" presId="urn:microsoft.com/office/officeart/2005/8/layout/hChevron3"/>
    <dgm:cxn modelId="{D211F0F1-1B42-429E-9608-DA0688D6779F}" type="presParOf" srcId="{5E6E4992-CF45-43C7-B989-A7E8AFD2B7BA}" destId="{E55F57F8-6EE9-4438-87BB-E48EB9C1805E}" srcOrd="11" destOrd="0" presId="urn:microsoft.com/office/officeart/2005/8/layout/hChevron3"/>
    <dgm:cxn modelId="{DE277FFE-874C-4163-BD50-C29E5327F010}" type="presParOf" srcId="{5E6E4992-CF45-43C7-B989-A7E8AFD2B7BA}" destId="{6F752C57-479F-490B-B872-867672885E37}" srcOrd="12" destOrd="0" presId="urn:microsoft.com/office/officeart/2005/8/layout/hChevron3"/>
    <dgm:cxn modelId="{52DE329A-44C0-49A4-B8B4-2BE04D349124}" type="presParOf" srcId="{5E6E4992-CF45-43C7-B989-A7E8AFD2B7BA}" destId="{30819881-A78E-478E-A341-310411FB33CB}" srcOrd="13" destOrd="0" presId="urn:microsoft.com/office/officeart/2005/8/layout/hChevron3"/>
    <dgm:cxn modelId="{2CA9215F-C12B-4050-BE70-8831A5A24EE1}" type="presParOf" srcId="{5E6E4992-CF45-43C7-B989-A7E8AFD2B7BA}" destId="{55090AA7-C529-4260-8AA7-90D844F8F4CD}" srcOrd="14"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161168-84CB-4F7B-B64F-1D08B29AED19}">
      <dsp:nvSpPr>
        <dsp:cNvPr id="0" name=""/>
        <dsp:cNvSpPr/>
      </dsp:nvSpPr>
      <dsp:spPr>
        <a:xfrm>
          <a:off x="4247" y="2038547"/>
          <a:ext cx="1316637" cy="526655"/>
        </a:xfrm>
        <a:prstGeom prst="homePlate">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Sample registration</a:t>
          </a:r>
        </a:p>
      </dsp:txBody>
      <dsp:txXfrm>
        <a:off x="4247" y="2038547"/>
        <a:ext cx="1184973" cy="526655"/>
      </dsp:txXfrm>
    </dsp:sp>
    <dsp:sp modelId="{5FAE45F5-6A05-40BC-BF62-F53B837430DC}">
      <dsp:nvSpPr>
        <dsp:cNvPr id="0" name=""/>
        <dsp:cNvSpPr/>
      </dsp:nvSpPr>
      <dsp:spPr>
        <a:xfrm>
          <a:off x="1057557" y="2038547"/>
          <a:ext cx="1316637" cy="52665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Sample Collection</a:t>
          </a:r>
        </a:p>
      </dsp:txBody>
      <dsp:txXfrm>
        <a:off x="1320885" y="2038547"/>
        <a:ext cx="789982" cy="526655"/>
      </dsp:txXfrm>
    </dsp:sp>
    <dsp:sp modelId="{40C9B2DF-57F2-4D7A-A8F3-7310629EB107}">
      <dsp:nvSpPr>
        <dsp:cNvPr id="0" name=""/>
        <dsp:cNvSpPr/>
      </dsp:nvSpPr>
      <dsp:spPr>
        <a:xfrm>
          <a:off x="2110867" y="2038547"/>
          <a:ext cx="1316637" cy="52665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Accessioning</a:t>
          </a:r>
        </a:p>
      </dsp:txBody>
      <dsp:txXfrm>
        <a:off x="2374195" y="2038547"/>
        <a:ext cx="789982" cy="526655"/>
      </dsp:txXfrm>
    </dsp:sp>
    <dsp:sp modelId="{F5E38D07-E7BF-40B8-A6F8-D9B6ED7C70AB}">
      <dsp:nvSpPr>
        <dsp:cNvPr id="0" name=""/>
        <dsp:cNvSpPr/>
      </dsp:nvSpPr>
      <dsp:spPr>
        <a:xfrm>
          <a:off x="3164177" y="2038547"/>
          <a:ext cx="1316637" cy="52665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Testing</a:t>
          </a:r>
        </a:p>
      </dsp:txBody>
      <dsp:txXfrm>
        <a:off x="3427505" y="2038547"/>
        <a:ext cx="789982" cy="526655"/>
      </dsp:txXfrm>
    </dsp:sp>
    <dsp:sp modelId="{1A45DC18-65BA-46E4-AA32-5AF455E30B02}">
      <dsp:nvSpPr>
        <dsp:cNvPr id="0" name=""/>
        <dsp:cNvSpPr/>
      </dsp:nvSpPr>
      <dsp:spPr>
        <a:xfrm>
          <a:off x="4217487" y="2038547"/>
          <a:ext cx="1316637" cy="52665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Result</a:t>
          </a:r>
        </a:p>
      </dsp:txBody>
      <dsp:txXfrm>
        <a:off x="4480815" y="2038547"/>
        <a:ext cx="789982" cy="526655"/>
      </dsp:txXfrm>
    </dsp:sp>
    <dsp:sp modelId="{054A696B-C371-4853-A90B-861864E61580}">
      <dsp:nvSpPr>
        <dsp:cNvPr id="0" name=""/>
        <dsp:cNvSpPr/>
      </dsp:nvSpPr>
      <dsp:spPr>
        <a:xfrm>
          <a:off x="5270797" y="2038547"/>
          <a:ext cx="1316637" cy="52665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Interpretation</a:t>
          </a:r>
        </a:p>
      </dsp:txBody>
      <dsp:txXfrm>
        <a:off x="5534125" y="2038547"/>
        <a:ext cx="789982" cy="526655"/>
      </dsp:txXfrm>
    </dsp:sp>
    <dsp:sp modelId="{6F752C57-479F-490B-B872-867672885E37}">
      <dsp:nvSpPr>
        <dsp:cNvPr id="0" name=""/>
        <dsp:cNvSpPr/>
      </dsp:nvSpPr>
      <dsp:spPr>
        <a:xfrm>
          <a:off x="6324107" y="2038547"/>
          <a:ext cx="1316637" cy="52665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Reporting</a:t>
          </a:r>
        </a:p>
      </dsp:txBody>
      <dsp:txXfrm>
        <a:off x="6587435" y="2038547"/>
        <a:ext cx="789982" cy="526655"/>
      </dsp:txXfrm>
    </dsp:sp>
    <dsp:sp modelId="{55090AA7-C529-4260-8AA7-90D844F8F4CD}">
      <dsp:nvSpPr>
        <dsp:cNvPr id="0" name=""/>
        <dsp:cNvSpPr/>
      </dsp:nvSpPr>
      <dsp:spPr>
        <a:xfrm>
          <a:off x="7377417" y="2038547"/>
          <a:ext cx="1316637" cy="52665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Completed</a:t>
          </a:r>
        </a:p>
      </dsp:txBody>
      <dsp:txXfrm>
        <a:off x="7640745" y="2038547"/>
        <a:ext cx="789982" cy="52665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161168-84CB-4F7B-B64F-1D08B29AED19}">
      <dsp:nvSpPr>
        <dsp:cNvPr id="0" name=""/>
        <dsp:cNvSpPr/>
      </dsp:nvSpPr>
      <dsp:spPr>
        <a:xfrm>
          <a:off x="4247" y="2038547"/>
          <a:ext cx="1316637" cy="526655"/>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Sample registration</a:t>
          </a:r>
        </a:p>
      </dsp:txBody>
      <dsp:txXfrm>
        <a:off x="4247" y="2038547"/>
        <a:ext cx="1184973" cy="526655"/>
      </dsp:txXfrm>
    </dsp:sp>
    <dsp:sp modelId="{5FAE45F5-6A05-40BC-BF62-F53B837430DC}">
      <dsp:nvSpPr>
        <dsp:cNvPr id="0" name=""/>
        <dsp:cNvSpPr/>
      </dsp:nvSpPr>
      <dsp:spPr>
        <a:xfrm>
          <a:off x="1035435" y="2045921"/>
          <a:ext cx="1316637" cy="526655"/>
        </a:xfrm>
        <a:prstGeom prst="chevron">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Sample Collection</a:t>
          </a:r>
        </a:p>
      </dsp:txBody>
      <dsp:txXfrm>
        <a:off x="1298763" y="2045921"/>
        <a:ext cx="789982" cy="526655"/>
      </dsp:txXfrm>
    </dsp:sp>
    <dsp:sp modelId="{40C9B2DF-57F2-4D7A-A8F3-7310629EB107}">
      <dsp:nvSpPr>
        <dsp:cNvPr id="0" name=""/>
        <dsp:cNvSpPr/>
      </dsp:nvSpPr>
      <dsp:spPr>
        <a:xfrm>
          <a:off x="2110867" y="2038547"/>
          <a:ext cx="1316637" cy="52665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Accessioning</a:t>
          </a:r>
        </a:p>
      </dsp:txBody>
      <dsp:txXfrm>
        <a:off x="2374195" y="2038547"/>
        <a:ext cx="789982" cy="526655"/>
      </dsp:txXfrm>
    </dsp:sp>
    <dsp:sp modelId="{F5E38D07-E7BF-40B8-A6F8-D9B6ED7C70AB}">
      <dsp:nvSpPr>
        <dsp:cNvPr id="0" name=""/>
        <dsp:cNvSpPr/>
      </dsp:nvSpPr>
      <dsp:spPr>
        <a:xfrm>
          <a:off x="3164177" y="2038547"/>
          <a:ext cx="1316637" cy="52665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Testing</a:t>
          </a:r>
        </a:p>
      </dsp:txBody>
      <dsp:txXfrm>
        <a:off x="3427505" y="2038547"/>
        <a:ext cx="789982" cy="526655"/>
      </dsp:txXfrm>
    </dsp:sp>
    <dsp:sp modelId="{1A45DC18-65BA-46E4-AA32-5AF455E30B02}">
      <dsp:nvSpPr>
        <dsp:cNvPr id="0" name=""/>
        <dsp:cNvSpPr/>
      </dsp:nvSpPr>
      <dsp:spPr>
        <a:xfrm>
          <a:off x="4217487" y="2038547"/>
          <a:ext cx="1316637" cy="52665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Result</a:t>
          </a:r>
        </a:p>
      </dsp:txBody>
      <dsp:txXfrm>
        <a:off x="4480815" y="2038547"/>
        <a:ext cx="789982" cy="526655"/>
      </dsp:txXfrm>
    </dsp:sp>
    <dsp:sp modelId="{054A696B-C371-4853-A90B-861864E61580}">
      <dsp:nvSpPr>
        <dsp:cNvPr id="0" name=""/>
        <dsp:cNvSpPr/>
      </dsp:nvSpPr>
      <dsp:spPr>
        <a:xfrm>
          <a:off x="5270797" y="2038547"/>
          <a:ext cx="1316637" cy="52665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Interpretation</a:t>
          </a:r>
        </a:p>
      </dsp:txBody>
      <dsp:txXfrm>
        <a:off x="5534125" y="2038547"/>
        <a:ext cx="789982" cy="526655"/>
      </dsp:txXfrm>
    </dsp:sp>
    <dsp:sp modelId="{6F752C57-479F-490B-B872-867672885E37}">
      <dsp:nvSpPr>
        <dsp:cNvPr id="0" name=""/>
        <dsp:cNvSpPr/>
      </dsp:nvSpPr>
      <dsp:spPr>
        <a:xfrm>
          <a:off x="6324107" y="2038547"/>
          <a:ext cx="1316637" cy="52665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Reporting</a:t>
          </a:r>
        </a:p>
      </dsp:txBody>
      <dsp:txXfrm>
        <a:off x="6587435" y="2038547"/>
        <a:ext cx="789982" cy="526655"/>
      </dsp:txXfrm>
    </dsp:sp>
    <dsp:sp modelId="{55090AA7-C529-4260-8AA7-90D844F8F4CD}">
      <dsp:nvSpPr>
        <dsp:cNvPr id="0" name=""/>
        <dsp:cNvSpPr/>
      </dsp:nvSpPr>
      <dsp:spPr>
        <a:xfrm>
          <a:off x="7377417" y="2038547"/>
          <a:ext cx="1316637" cy="52665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Completed</a:t>
          </a:r>
        </a:p>
      </dsp:txBody>
      <dsp:txXfrm>
        <a:off x="7640745" y="2038547"/>
        <a:ext cx="789982" cy="52665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161168-84CB-4F7B-B64F-1D08B29AED19}">
      <dsp:nvSpPr>
        <dsp:cNvPr id="0" name=""/>
        <dsp:cNvSpPr/>
      </dsp:nvSpPr>
      <dsp:spPr>
        <a:xfrm>
          <a:off x="4247" y="2038547"/>
          <a:ext cx="1316637" cy="526655"/>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Sample registration</a:t>
          </a:r>
        </a:p>
      </dsp:txBody>
      <dsp:txXfrm>
        <a:off x="4247" y="2038547"/>
        <a:ext cx="1184973" cy="526655"/>
      </dsp:txXfrm>
    </dsp:sp>
    <dsp:sp modelId="{5FAE45F5-6A05-40BC-BF62-F53B837430DC}">
      <dsp:nvSpPr>
        <dsp:cNvPr id="0" name=""/>
        <dsp:cNvSpPr/>
      </dsp:nvSpPr>
      <dsp:spPr>
        <a:xfrm>
          <a:off x="1057557" y="2038547"/>
          <a:ext cx="1316637" cy="52665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Sample Collection</a:t>
          </a:r>
        </a:p>
      </dsp:txBody>
      <dsp:txXfrm>
        <a:off x="1320885" y="2038547"/>
        <a:ext cx="789982" cy="526655"/>
      </dsp:txXfrm>
    </dsp:sp>
    <dsp:sp modelId="{40C9B2DF-57F2-4D7A-A8F3-7310629EB107}">
      <dsp:nvSpPr>
        <dsp:cNvPr id="0" name=""/>
        <dsp:cNvSpPr/>
      </dsp:nvSpPr>
      <dsp:spPr>
        <a:xfrm>
          <a:off x="2110867" y="2038547"/>
          <a:ext cx="1316637" cy="526655"/>
        </a:xfrm>
        <a:prstGeom prst="chevron">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Accessioning</a:t>
          </a:r>
        </a:p>
      </dsp:txBody>
      <dsp:txXfrm>
        <a:off x="2374195" y="2038547"/>
        <a:ext cx="789982" cy="526655"/>
      </dsp:txXfrm>
    </dsp:sp>
    <dsp:sp modelId="{F5E38D07-E7BF-40B8-A6F8-D9B6ED7C70AB}">
      <dsp:nvSpPr>
        <dsp:cNvPr id="0" name=""/>
        <dsp:cNvSpPr/>
      </dsp:nvSpPr>
      <dsp:spPr>
        <a:xfrm>
          <a:off x="3164177" y="2038547"/>
          <a:ext cx="1316637" cy="52665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Testing</a:t>
          </a:r>
        </a:p>
      </dsp:txBody>
      <dsp:txXfrm>
        <a:off x="3427505" y="2038547"/>
        <a:ext cx="789982" cy="526655"/>
      </dsp:txXfrm>
    </dsp:sp>
    <dsp:sp modelId="{1A45DC18-65BA-46E4-AA32-5AF455E30B02}">
      <dsp:nvSpPr>
        <dsp:cNvPr id="0" name=""/>
        <dsp:cNvSpPr/>
      </dsp:nvSpPr>
      <dsp:spPr>
        <a:xfrm>
          <a:off x="4217487" y="2038547"/>
          <a:ext cx="1316637" cy="52665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Result</a:t>
          </a:r>
        </a:p>
      </dsp:txBody>
      <dsp:txXfrm>
        <a:off x="4480815" y="2038547"/>
        <a:ext cx="789982" cy="526655"/>
      </dsp:txXfrm>
    </dsp:sp>
    <dsp:sp modelId="{054A696B-C371-4853-A90B-861864E61580}">
      <dsp:nvSpPr>
        <dsp:cNvPr id="0" name=""/>
        <dsp:cNvSpPr/>
      </dsp:nvSpPr>
      <dsp:spPr>
        <a:xfrm>
          <a:off x="5270797" y="2038547"/>
          <a:ext cx="1316637" cy="52665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Interpretation</a:t>
          </a:r>
        </a:p>
      </dsp:txBody>
      <dsp:txXfrm>
        <a:off x="5534125" y="2038547"/>
        <a:ext cx="789982" cy="526655"/>
      </dsp:txXfrm>
    </dsp:sp>
    <dsp:sp modelId="{6F752C57-479F-490B-B872-867672885E37}">
      <dsp:nvSpPr>
        <dsp:cNvPr id="0" name=""/>
        <dsp:cNvSpPr/>
      </dsp:nvSpPr>
      <dsp:spPr>
        <a:xfrm>
          <a:off x="6324107" y="2038547"/>
          <a:ext cx="1316637" cy="52665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Reporting</a:t>
          </a:r>
        </a:p>
      </dsp:txBody>
      <dsp:txXfrm>
        <a:off x="6587435" y="2038547"/>
        <a:ext cx="789982" cy="526655"/>
      </dsp:txXfrm>
    </dsp:sp>
    <dsp:sp modelId="{55090AA7-C529-4260-8AA7-90D844F8F4CD}">
      <dsp:nvSpPr>
        <dsp:cNvPr id="0" name=""/>
        <dsp:cNvSpPr/>
      </dsp:nvSpPr>
      <dsp:spPr>
        <a:xfrm>
          <a:off x="7377417" y="2038547"/>
          <a:ext cx="1316637" cy="52665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Completed</a:t>
          </a:r>
        </a:p>
      </dsp:txBody>
      <dsp:txXfrm>
        <a:off x="7640745" y="2038547"/>
        <a:ext cx="789982" cy="52665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161168-84CB-4F7B-B64F-1D08B29AED19}">
      <dsp:nvSpPr>
        <dsp:cNvPr id="0" name=""/>
        <dsp:cNvSpPr/>
      </dsp:nvSpPr>
      <dsp:spPr>
        <a:xfrm>
          <a:off x="4247" y="2038547"/>
          <a:ext cx="1316637" cy="526655"/>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Sample registration</a:t>
          </a:r>
        </a:p>
      </dsp:txBody>
      <dsp:txXfrm>
        <a:off x="4247" y="2038547"/>
        <a:ext cx="1184973" cy="526655"/>
      </dsp:txXfrm>
    </dsp:sp>
    <dsp:sp modelId="{5FAE45F5-6A05-40BC-BF62-F53B837430DC}">
      <dsp:nvSpPr>
        <dsp:cNvPr id="0" name=""/>
        <dsp:cNvSpPr/>
      </dsp:nvSpPr>
      <dsp:spPr>
        <a:xfrm>
          <a:off x="1057557" y="2038547"/>
          <a:ext cx="1316637" cy="52665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Sample Collection</a:t>
          </a:r>
        </a:p>
      </dsp:txBody>
      <dsp:txXfrm>
        <a:off x="1320885" y="2038547"/>
        <a:ext cx="789982" cy="526655"/>
      </dsp:txXfrm>
    </dsp:sp>
    <dsp:sp modelId="{40C9B2DF-57F2-4D7A-A8F3-7310629EB107}">
      <dsp:nvSpPr>
        <dsp:cNvPr id="0" name=""/>
        <dsp:cNvSpPr/>
      </dsp:nvSpPr>
      <dsp:spPr>
        <a:xfrm>
          <a:off x="2110867" y="2038547"/>
          <a:ext cx="1316637" cy="52665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Accessioning</a:t>
          </a:r>
        </a:p>
      </dsp:txBody>
      <dsp:txXfrm>
        <a:off x="2374195" y="2038547"/>
        <a:ext cx="789982" cy="526655"/>
      </dsp:txXfrm>
    </dsp:sp>
    <dsp:sp modelId="{F5E38D07-E7BF-40B8-A6F8-D9B6ED7C70AB}">
      <dsp:nvSpPr>
        <dsp:cNvPr id="0" name=""/>
        <dsp:cNvSpPr/>
      </dsp:nvSpPr>
      <dsp:spPr>
        <a:xfrm>
          <a:off x="3164177" y="2038547"/>
          <a:ext cx="1316637" cy="526655"/>
        </a:xfrm>
        <a:prstGeom prst="chevron">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Testing</a:t>
          </a:r>
        </a:p>
      </dsp:txBody>
      <dsp:txXfrm>
        <a:off x="3427505" y="2038547"/>
        <a:ext cx="789982" cy="526655"/>
      </dsp:txXfrm>
    </dsp:sp>
    <dsp:sp modelId="{1A45DC18-65BA-46E4-AA32-5AF455E30B02}">
      <dsp:nvSpPr>
        <dsp:cNvPr id="0" name=""/>
        <dsp:cNvSpPr/>
      </dsp:nvSpPr>
      <dsp:spPr>
        <a:xfrm>
          <a:off x="4217487" y="2038547"/>
          <a:ext cx="1316637" cy="52665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Result</a:t>
          </a:r>
        </a:p>
      </dsp:txBody>
      <dsp:txXfrm>
        <a:off x="4480815" y="2038547"/>
        <a:ext cx="789982" cy="526655"/>
      </dsp:txXfrm>
    </dsp:sp>
    <dsp:sp modelId="{054A696B-C371-4853-A90B-861864E61580}">
      <dsp:nvSpPr>
        <dsp:cNvPr id="0" name=""/>
        <dsp:cNvSpPr/>
      </dsp:nvSpPr>
      <dsp:spPr>
        <a:xfrm>
          <a:off x="5270797" y="2038547"/>
          <a:ext cx="1316637" cy="52665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Interpretation</a:t>
          </a:r>
        </a:p>
      </dsp:txBody>
      <dsp:txXfrm>
        <a:off x="5534125" y="2038547"/>
        <a:ext cx="789982" cy="526655"/>
      </dsp:txXfrm>
    </dsp:sp>
    <dsp:sp modelId="{6F752C57-479F-490B-B872-867672885E37}">
      <dsp:nvSpPr>
        <dsp:cNvPr id="0" name=""/>
        <dsp:cNvSpPr/>
      </dsp:nvSpPr>
      <dsp:spPr>
        <a:xfrm>
          <a:off x="6324107" y="2038547"/>
          <a:ext cx="1316637" cy="52665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Reporting</a:t>
          </a:r>
        </a:p>
      </dsp:txBody>
      <dsp:txXfrm>
        <a:off x="6587435" y="2038547"/>
        <a:ext cx="789982" cy="526655"/>
      </dsp:txXfrm>
    </dsp:sp>
    <dsp:sp modelId="{55090AA7-C529-4260-8AA7-90D844F8F4CD}">
      <dsp:nvSpPr>
        <dsp:cNvPr id="0" name=""/>
        <dsp:cNvSpPr/>
      </dsp:nvSpPr>
      <dsp:spPr>
        <a:xfrm>
          <a:off x="7377417" y="2038547"/>
          <a:ext cx="1316637" cy="52665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Completed</a:t>
          </a:r>
        </a:p>
      </dsp:txBody>
      <dsp:txXfrm>
        <a:off x="7640745" y="2038547"/>
        <a:ext cx="789982" cy="52665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161168-84CB-4F7B-B64F-1D08B29AED19}">
      <dsp:nvSpPr>
        <dsp:cNvPr id="0" name=""/>
        <dsp:cNvSpPr/>
      </dsp:nvSpPr>
      <dsp:spPr>
        <a:xfrm>
          <a:off x="5662" y="2718063"/>
          <a:ext cx="1755516" cy="702206"/>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342"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Sample registration</a:t>
          </a:r>
        </a:p>
      </dsp:txBody>
      <dsp:txXfrm>
        <a:off x="5662" y="2718063"/>
        <a:ext cx="1579965" cy="702206"/>
      </dsp:txXfrm>
    </dsp:sp>
    <dsp:sp modelId="{5FAE45F5-6A05-40BC-BF62-F53B837430DC}">
      <dsp:nvSpPr>
        <dsp:cNvPr id="0" name=""/>
        <dsp:cNvSpPr/>
      </dsp:nvSpPr>
      <dsp:spPr>
        <a:xfrm>
          <a:off x="1410076" y="2718063"/>
          <a:ext cx="1755516" cy="70220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Sample Collection</a:t>
          </a:r>
        </a:p>
      </dsp:txBody>
      <dsp:txXfrm>
        <a:off x="1761179" y="2718063"/>
        <a:ext cx="1053310" cy="702206"/>
      </dsp:txXfrm>
    </dsp:sp>
    <dsp:sp modelId="{40C9B2DF-57F2-4D7A-A8F3-7310629EB107}">
      <dsp:nvSpPr>
        <dsp:cNvPr id="0" name=""/>
        <dsp:cNvSpPr/>
      </dsp:nvSpPr>
      <dsp:spPr>
        <a:xfrm>
          <a:off x="2814489" y="2718063"/>
          <a:ext cx="1755516" cy="70220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Accessioning</a:t>
          </a:r>
        </a:p>
      </dsp:txBody>
      <dsp:txXfrm>
        <a:off x="3165592" y="2718063"/>
        <a:ext cx="1053310" cy="702206"/>
      </dsp:txXfrm>
    </dsp:sp>
    <dsp:sp modelId="{F5E38D07-E7BF-40B8-A6F8-D9B6ED7C70AB}">
      <dsp:nvSpPr>
        <dsp:cNvPr id="0" name=""/>
        <dsp:cNvSpPr/>
      </dsp:nvSpPr>
      <dsp:spPr>
        <a:xfrm>
          <a:off x="4218902" y="2718063"/>
          <a:ext cx="1755516" cy="70220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Testing</a:t>
          </a:r>
        </a:p>
      </dsp:txBody>
      <dsp:txXfrm>
        <a:off x="4570005" y="2718063"/>
        <a:ext cx="1053310" cy="702206"/>
      </dsp:txXfrm>
    </dsp:sp>
    <dsp:sp modelId="{1A45DC18-65BA-46E4-AA32-5AF455E30B02}">
      <dsp:nvSpPr>
        <dsp:cNvPr id="0" name=""/>
        <dsp:cNvSpPr/>
      </dsp:nvSpPr>
      <dsp:spPr>
        <a:xfrm>
          <a:off x="5623316" y="2718063"/>
          <a:ext cx="1755516" cy="702206"/>
        </a:xfrm>
        <a:prstGeom prst="chevron">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Result</a:t>
          </a:r>
        </a:p>
      </dsp:txBody>
      <dsp:txXfrm>
        <a:off x="5974419" y="2718063"/>
        <a:ext cx="1053310" cy="702206"/>
      </dsp:txXfrm>
    </dsp:sp>
    <dsp:sp modelId="{054A696B-C371-4853-A90B-861864E61580}">
      <dsp:nvSpPr>
        <dsp:cNvPr id="0" name=""/>
        <dsp:cNvSpPr/>
      </dsp:nvSpPr>
      <dsp:spPr>
        <a:xfrm>
          <a:off x="7027729" y="2718063"/>
          <a:ext cx="1755516" cy="70220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Interpretation</a:t>
          </a:r>
        </a:p>
      </dsp:txBody>
      <dsp:txXfrm>
        <a:off x="7378832" y="2718063"/>
        <a:ext cx="1053310" cy="702206"/>
      </dsp:txXfrm>
    </dsp:sp>
    <dsp:sp modelId="{6F752C57-479F-490B-B872-867672885E37}">
      <dsp:nvSpPr>
        <dsp:cNvPr id="0" name=""/>
        <dsp:cNvSpPr/>
      </dsp:nvSpPr>
      <dsp:spPr>
        <a:xfrm>
          <a:off x="8432143" y="2718063"/>
          <a:ext cx="1755516" cy="70220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Reporting</a:t>
          </a:r>
        </a:p>
      </dsp:txBody>
      <dsp:txXfrm>
        <a:off x="8783246" y="2718063"/>
        <a:ext cx="1053310" cy="702206"/>
      </dsp:txXfrm>
    </dsp:sp>
    <dsp:sp modelId="{55090AA7-C529-4260-8AA7-90D844F8F4CD}">
      <dsp:nvSpPr>
        <dsp:cNvPr id="0" name=""/>
        <dsp:cNvSpPr/>
      </dsp:nvSpPr>
      <dsp:spPr>
        <a:xfrm>
          <a:off x="9836556" y="2718063"/>
          <a:ext cx="1755516" cy="70220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Completed</a:t>
          </a:r>
        </a:p>
      </dsp:txBody>
      <dsp:txXfrm>
        <a:off x="10187659" y="2718063"/>
        <a:ext cx="1053310" cy="70220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161168-84CB-4F7B-B64F-1D08B29AED19}">
      <dsp:nvSpPr>
        <dsp:cNvPr id="0" name=""/>
        <dsp:cNvSpPr/>
      </dsp:nvSpPr>
      <dsp:spPr>
        <a:xfrm>
          <a:off x="5662" y="2718063"/>
          <a:ext cx="1755516" cy="702206"/>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342"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Sample registration</a:t>
          </a:r>
        </a:p>
      </dsp:txBody>
      <dsp:txXfrm>
        <a:off x="5662" y="2718063"/>
        <a:ext cx="1579965" cy="702206"/>
      </dsp:txXfrm>
    </dsp:sp>
    <dsp:sp modelId="{5FAE45F5-6A05-40BC-BF62-F53B837430DC}">
      <dsp:nvSpPr>
        <dsp:cNvPr id="0" name=""/>
        <dsp:cNvSpPr/>
      </dsp:nvSpPr>
      <dsp:spPr>
        <a:xfrm>
          <a:off x="1410076" y="2718063"/>
          <a:ext cx="1755516" cy="70220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Sample Collection</a:t>
          </a:r>
        </a:p>
      </dsp:txBody>
      <dsp:txXfrm>
        <a:off x="1761179" y="2718063"/>
        <a:ext cx="1053310" cy="702206"/>
      </dsp:txXfrm>
    </dsp:sp>
    <dsp:sp modelId="{40C9B2DF-57F2-4D7A-A8F3-7310629EB107}">
      <dsp:nvSpPr>
        <dsp:cNvPr id="0" name=""/>
        <dsp:cNvSpPr/>
      </dsp:nvSpPr>
      <dsp:spPr>
        <a:xfrm>
          <a:off x="2814489" y="2718063"/>
          <a:ext cx="1755516" cy="70220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Accessioning</a:t>
          </a:r>
        </a:p>
      </dsp:txBody>
      <dsp:txXfrm>
        <a:off x="3165592" y="2718063"/>
        <a:ext cx="1053310" cy="702206"/>
      </dsp:txXfrm>
    </dsp:sp>
    <dsp:sp modelId="{F5E38D07-E7BF-40B8-A6F8-D9B6ED7C70AB}">
      <dsp:nvSpPr>
        <dsp:cNvPr id="0" name=""/>
        <dsp:cNvSpPr/>
      </dsp:nvSpPr>
      <dsp:spPr>
        <a:xfrm>
          <a:off x="4218902" y="2718063"/>
          <a:ext cx="1755516" cy="70220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Testing</a:t>
          </a:r>
        </a:p>
      </dsp:txBody>
      <dsp:txXfrm>
        <a:off x="4570005" y="2718063"/>
        <a:ext cx="1053310" cy="702206"/>
      </dsp:txXfrm>
    </dsp:sp>
    <dsp:sp modelId="{1A45DC18-65BA-46E4-AA32-5AF455E30B02}">
      <dsp:nvSpPr>
        <dsp:cNvPr id="0" name=""/>
        <dsp:cNvSpPr/>
      </dsp:nvSpPr>
      <dsp:spPr>
        <a:xfrm>
          <a:off x="5623316" y="2718063"/>
          <a:ext cx="1755516" cy="70220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Result</a:t>
          </a:r>
        </a:p>
      </dsp:txBody>
      <dsp:txXfrm>
        <a:off x="5974419" y="2718063"/>
        <a:ext cx="1053310" cy="702206"/>
      </dsp:txXfrm>
    </dsp:sp>
    <dsp:sp modelId="{054A696B-C371-4853-A90B-861864E61580}">
      <dsp:nvSpPr>
        <dsp:cNvPr id="0" name=""/>
        <dsp:cNvSpPr/>
      </dsp:nvSpPr>
      <dsp:spPr>
        <a:xfrm>
          <a:off x="7027729" y="2718063"/>
          <a:ext cx="1755516" cy="702206"/>
        </a:xfrm>
        <a:prstGeom prst="chevron">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Interpretation</a:t>
          </a:r>
        </a:p>
      </dsp:txBody>
      <dsp:txXfrm>
        <a:off x="7378832" y="2718063"/>
        <a:ext cx="1053310" cy="702206"/>
      </dsp:txXfrm>
    </dsp:sp>
    <dsp:sp modelId="{6F752C57-479F-490B-B872-867672885E37}">
      <dsp:nvSpPr>
        <dsp:cNvPr id="0" name=""/>
        <dsp:cNvSpPr/>
      </dsp:nvSpPr>
      <dsp:spPr>
        <a:xfrm>
          <a:off x="8432143" y="2718063"/>
          <a:ext cx="1755516" cy="70220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Reporting</a:t>
          </a:r>
        </a:p>
      </dsp:txBody>
      <dsp:txXfrm>
        <a:off x="8783246" y="2718063"/>
        <a:ext cx="1053310" cy="702206"/>
      </dsp:txXfrm>
    </dsp:sp>
    <dsp:sp modelId="{55090AA7-C529-4260-8AA7-90D844F8F4CD}">
      <dsp:nvSpPr>
        <dsp:cNvPr id="0" name=""/>
        <dsp:cNvSpPr/>
      </dsp:nvSpPr>
      <dsp:spPr>
        <a:xfrm>
          <a:off x="9836556" y="2718063"/>
          <a:ext cx="1755516" cy="70220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Completed</a:t>
          </a:r>
        </a:p>
      </dsp:txBody>
      <dsp:txXfrm>
        <a:off x="10187659" y="2718063"/>
        <a:ext cx="1053310" cy="70220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161168-84CB-4F7B-B64F-1D08B29AED19}">
      <dsp:nvSpPr>
        <dsp:cNvPr id="0" name=""/>
        <dsp:cNvSpPr/>
      </dsp:nvSpPr>
      <dsp:spPr>
        <a:xfrm>
          <a:off x="4247" y="2038547"/>
          <a:ext cx="1316637" cy="526655"/>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Sample registration</a:t>
          </a:r>
        </a:p>
      </dsp:txBody>
      <dsp:txXfrm>
        <a:off x="4247" y="2038547"/>
        <a:ext cx="1184973" cy="526655"/>
      </dsp:txXfrm>
    </dsp:sp>
    <dsp:sp modelId="{5FAE45F5-6A05-40BC-BF62-F53B837430DC}">
      <dsp:nvSpPr>
        <dsp:cNvPr id="0" name=""/>
        <dsp:cNvSpPr/>
      </dsp:nvSpPr>
      <dsp:spPr>
        <a:xfrm>
          <a:off x="1057557" y="2038547"/>
          <a:ext cx="1316637" cy="52665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Sample Collection</a:t>
          </a:r>
        </a:p>
      </dsp:txBody>
      <dsp:txXfrm>
        <a:off x="1320885" y="2038547"/>
        <a:ext cx="789982" cy="526655"/>
      </dsp:txXfrm>
    </dsp:sp>
    <dsp:sp modelId="{40C9B2DF-57F2-4D7A-A8F3-7310629EB107}">
      <dsp:nvSpPr>
        <dsp:cNvPr id="0" name=""/>
        <dsp:cNvSpPr/>
      </dsp:nvSpPr>
      <dsp:spPr>
        <a:xfrm>
          <a:off x="2110867" y="2038547"/>
          <a:ext cx="1316637" cy="52665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Accessioning</a:t>
          </a:r>
        </a:p>
      </dsp:txBody>
      <dsp:txXfrm>
        <a:off x="2374195" y="2038547"/>
        <a:ext cx="789982" cy="526655"/>
      </dsp:txXfrm>
    </dsp:sp>
    <dsp:sp modelId="{F5E38D07-E7BF-40B8-A6F8-D9B6ED7C70AB}">
      <dsp:nvSpPr>
        <dsp:cNvPr id="0" name=""/>
        <dsp:cNvSpPr/>
      </dsp:nvSpPr>
      <dsp:spPr>
        <a:xfrm>
          <a:off x="3164177" y="2038547"/>
          <a:ext cx="1316637" cy="52665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Testing</a:t>
          </a:r>
        </a:p>
      </dsp:txBody>
      <dsp:txXfrm>
        <a:off x="3427505" y="2038547"/>
        <a:ext cx="789982" cy="526655"/>
      </dsp:txXfrm>
    </dsp:sp>
    <dsp:sp modelId="{1A45DC18-65BA-46E4-AA32-5AF455E30B02}">
      <dsp:nvSpPr>
        <dsp:cNvPr id="0" name=""/>
        <dsp:cNvSpPr/>
      </dsp:nvSpPr>
      <dsp:spPr>
        <a:xfrm>
          <a:off x="4217487" y="2038547"/>
          <a:ext cx="1316637" cy="52665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Result</a:t>
          </a:r>
        </a:p>
      </dsp:txBody>
      <dsp:txXfrm>
        <a:off x="4480815" y="2038547"/>
        <a:ext cx="789982" cy="526655"/>
      </dsp:txXfrm>
    </dsp:sp>
    <dsp:sp modelId="{054A696B-C371-4853-A90B-861864E61580}">
      <dsp:nvSpPr>
        <dsp:cNvPr id="0" name=""/>
        <dsp:cNvSpPr/>
      </dsp:nvSpPr>
      <dsp:spPr>
        <a:xfrm>
          <a:off x="5270797" y="2038547"/>
          <a:ext cx="1316637" cy="52665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Interpretation</a:t>
          </a:r>
        </a:p>
      </dsp:txBody>
      <dsp:txXfrm>
        <a:off x="5534125" y="2038547"/>
        <a:ext cx="789982" cy="526655"/>
      </dsp:txXfrm>
    </dsp:sp>
    <dsp:sp modelId="{6F752C57-479F-490B-B872-867672885E37}">
      <dsp:nvSpPr>
        <dsp:cNvPr id="0" name=""/>
        <dsp:cNvSpPr/>
      </dsp:nvSpPr>
      <dsp:spPr>
        <a:xfrm>
          <a:off x="6324107" y="2038547"/>
          <a:ext cx="1316637" cy="526655"/>
        </a:xfrm>
        <a:prstGeom prst="chevron">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Reporting</a:t>
          </a:r>
        </a:p>
      </dsp:txBody>
      <dsp:txXfrm>
        <a:off x="6587435" y="2038547"/>
        <a:ext cx="789982" cy="526655"/>
      </dsp:txXfrm>
    </dsp:sp>
    <dsp:sp modelId="{55090AA7-C529-4260-8AA7-90D844F8F4CD}">
      <dsp:nvSpPr>
        <dsp:cNvPr id="0" name=""/>
        <dsp:cNvSpPr/>
      </dsp:nvSpPr>
      <dsp:spPr>
        <a:xfrm>
          <a:off x="7377417" y="2038547"/>
          <a:ext cx="1316637" cy="526655"/>
        </a:xfrm>
        <a:prstGeom prst="chevron">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t>Completed</a:t>
          </a:r>
        </a:p>
      </dsp:txBody>
      <dsp:txXfrm>
        <a:off x="7640745" y="2038547"/>
        <a:ext cx="789982" cy="526655"/>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7.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323863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61962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1cfe66061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2" name="Google Shape;52;g31cfe66061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31cfe660619_0_9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80" name="Google Shape;80;g31cfe660619_0_9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1cfe660619_0_9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8" name="Google Shape;118;g31cfe660619_0_9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1cfe660619_0_9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44" name="Google Shape;144;g31cfe660619_0_9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1cfe660619_0_9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69" name="Google Shape;169;g31cfe660619_0_9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1cfe660619_0_10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95" name="Google Shape;195;g31cfe660619_0_10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213f0a88d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21" name="Google Shape;221;g3213f0a88d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diagramData" Target="../diagrams/data2.xml"/><Relationship Id="rId3" Type="http://schemas.openxmlformats.org/officeDocument/2006/relationships/diagramLayout" Target="../diagrams/layout2.xml"/><Relationship Id="rId4" Type="http://schemas.openxmlformats.org/officeDocument/2006/relationships/diagramQuickStyle" Target="../diagrams/quickStyle2.xml"/><Relationship Id="rId5" Type="http://schemas.openxmlformats.org/officeDocument/2006/relationships/diagramColors" Target="../diagrams/colors2.xml"/><Relationship Id="rId6" Type="http://schemas.microsoft.com/office/2007/relationships/diagramDrawing" Target="../diagrams/drawing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diagramData" Target="../diagrams/data3.xml"/><Relationship Id="rId3" Type="http://schemas.openxmlformats.org/officeDocument/2006/relationships/diagramLayout" Target="../diagrams/layout3.xml"/><Relationship Id="rId4" Type="http://schemas.openxmlformats.org/officeDocument/2006/relationships/diagramQuickStyle" Target="../diagrams/quickStyle3.xml"/><Relationship Id="rId5" Type="http://schemas.openxmlformats.org/officeDocument/2006/relationships/diagramColors" Target="../diagrams/colors3.xml"/><Relationship Id="rId6" Type="http://schemas.microsoft.com/office/2007/relationships/diagramDrawing" Target="../diagrams/drawing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diagramData" Target="../diagrams/data4.xml"/><Relationship Id="rId3" Type="http://schemas.openxmlformats.org/officeDocument/2006/relationships/diagramLayout" Target="../diagrams/layout4.xml"/><Relationship Id="rId4" Type="http://schemas.openxmlformats.org/officeDocument/2006/relationships/diagramQuickStyle" Target="../diagrams/quickStyle4.xml"/><Relationship Id="rId5" Type="http://schemas.openxmlformats.org/officeDocument/2006/relationships/diagramColors" Target="../diagrams/colors4.xml"/><Relationship Id="rId6" Type="http://schemas.microsoft.com/office/2007/relationships/diagramDrawing" Target="../diagrams/drawing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diagramData" Target="../diagrams/data5.xml"/><Relationship Id="rId3" Type="http://schemas.openxmlformats.org/officeDocument/2006/relationships/diagramLayout" Target="../diagrams/layout5.xml"/><Relationship Id="rId4" Type="http://schemas.openxmlformats.org/officeDocument/2006/relationships/diagramQuickStyle" Target="../diagrams/quickStyle5.xml"/><Relationship Id="rId5" Type="http://schemas.openxmlformats.org/officeDocument/2006/relationships/diagramColors" Target="../diagrams/colors5.xml"/><Relationship Id="rId6" Type="http://schemas.microsoft.com/office/2007/relationships/diagramDrawing" Target="../diagrams/drawing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diagramData" Target="../diagrams/data6.xml"/><Relationship Id="rId3" Type="http://schemas.openxmlformats.org/officeDocument/2006/relationships/diagramLayout" Target="../diagrams/layout6.xml"/><Relationship Id="rId4" Type="http://schemas.openxmlformats.org/officeDocument/2006/relationships/diagramQuickStyle" Target="../diagrams/quickStyle6.xml"/><Relationship Id="rId5" Type="http://schemas.openxmlformats.org/officeDocument/2006/relationships/diagramColors" Target="../diagrams/colors6.xml"/><Relationship Id="rId6" Type="http://schemas.microsoft.com/office/2007/relationships/diagramDrawing" Target="../diagrams/drawing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diagramData" Target="../diagrams/data7.xml"/><Relationship Id="rId3" Type="http://schemas.openxmlformats.org/officeDocument/2006/relationships/diagramLayout" Target="../diagrams/layout7.xml"/><Relationship Id="rId4" Type="http://schemas.openxmlformats.org/officeDocument/2006/relationships/diagramQuickStyle" Target="../diagrams/quickStyle7.xml"/><Relationship Id="rId5" Type="http://schemas.openxmlformats.org/officeDocument/2006/relationships/diagramColors" Target="../diagrams/colors7.xml"/><Relationship Id="rId6" Type="http://schemas.microsoft.com/office/2007/relationships/diagramDrawing" Target="../diagrams/drawing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comments" Target="../comments/commen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comments" Target="../comments/commen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comments" Target="../comments/commen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comments" Target="../comments/commen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comments" Target="../comments/commen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comments" Target="../comments/commen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680DA-D9DC-70CA-5405-D59241C19DE8}"/>
              </a:ext>
            </a:extLst>
          </p:cNvPr>
          <p:cNvSpPr>
            <a:spLocks noGrp="1"/>
          </p:cNvSpPr>
          <p:nvPr>
            <p:ph type="title"/>
          </p:nvPr>
        </p:nvSpPr>
        <p:spPr>
          <a:xfrm>
            <a:off x="311700" y="1095657"/>
            <a:ext cx="8520600" cy="572700"/>
          </a:xfrm>
        </p:spPr>
        <p:txBody>
          <a:bodyPr>
            <a:normAutofit fontScale="90000"/>
          </a:bodyPr>
          <a:lstStyle/>
          <a:p>
            <a:pPr algn="ctr"/>
            <a:br>
              <a:rPr lang="en-US" dirty="0"/>
            </a:br>
            <a:br>
              <a:rPr lang="en-US" dirty="0"/>
            </a:br>
            <a:r>
              <a:rPr lang="en-US" dirty="0"/>
              <a:t>Data Workflow Overview</a:t>
            </a:r>
            <a:br>
              <a:rPr lang="en-US" dirty="0"/>
            </a:br>
            <a:br>
              <a:rPr lang="en-US" dirty="0"/>
            </a:br>
            <a:r>
              <a:rPr lang="en-US" dirty="0"/>
              <a:t>October 2025</a:t>
            </a:r>
          </a:p>
        </p:txBody>
      </p:sp>
      <p:sp>
        <p:nvSpPr>
          <p:cNvPr id="3" name="Text Placeholder 2">
            <a:extLst>
              <a:ext uri="{FF2B5EF4-FFF2-40B4-BE49-F238E27FC236}">
                <a16:creationId xmlns:a16="http://schemas.microsoft.com/office/drawing/2014/main" id="{909F8D28-D2C8-CA2F-F4EE-5C0C9BA275F7}"/>
              </a:ext>
            </a:extLst>
          </p:cNvPr>
          <p:cNvSpPr>
            <a:spLocks noGrp="1"/>
          </p:cNvSpPr>
          <p:nvPr>
            <p:ph type="body" idx="1"/>
          </p:nvPr>
        </p:nvSpPr>
        <p:spPr>
          <a:xfrm>
            <a:off x="311700" y="3586514"/>
            <a:ext cx="8520600" cy="1503290"/>
          </a:xfrm>
        </p:spPr>
        <p:txBody>
          <a:bodyPr>
            <a:normAutofit lnSpcReduction="10000"/>
          </a:bodyPr>
          <a:lstStyle/>
          <a:p>
            <a:pPr marL="114300" indent="0">
              <a:buNone/>
            </a:pPr>
            <a:endParaRPr lang="en-US" dirty="0"/>
          </a:p>
          <a:p>
            <a:pPr marL="114300" indent="0">
              <a:buNone/>
            </a:pPr>
            <a:endParaRPr lang="en-US" dirty="0"/>
          </a:p>
          <a:p>
            <a:pPr marL="114300" indent="0" algn="ctr">
              <a:buNone/>
            </a:pPr>
            <a:endParaRPr lang="en-US" dirty="0">
              <a:solidFill>
                <a:schemeClr val="tx1"/>
              </a:solidFill>
            </a:endParaRPr>
          </a:p>
          <a:p>
            <a:pPr marL="114300" indent="0" algn="ctr">
              <a:buNone/>
            </a:pPr>
            <a:r>
              <a:rPr lang="en-US" sz="1200" dirty="0">
                <a:solidFill>
                  <a:schemeClr val="tx1"/>
                </a:solidFill>
              </a:rPr>
              <a:t>Confidential and Proprietary Information of KIHEALTH. Unauthorized distribution prohibited.</a:t>
            </a:r>
          </a:p>
          <a:p>
            <a:pPr marL="114300" indent="0" algn="ctr">
              <a:buNone/>
            </a:pPr>
            <a:r>
              <a:rPr lang="en-US" sz="1200" dirty="0">
                <a:solidFill>
                  <a:schemeClr val="tx1"/>
                </a:solidFill>
              </a:rPr>
              <a:t>© 2025 KIHEALTH</a:t>
            </a:r>
          </a:p>
          <a:p>
            <a:endParaRPr lang="en-US" dirty="0"/>
          </a:p>
        </p:txBody>
      </p:sp>
      <p:pic>
        <p:nvPicPr>
          <p:cNvPr id="5" name="Picture 4">
            <a:extLst>
              <a:ext uri="{FF2B5EF4-FFF2-40B4-BE49-F238E27FC236}">
                <a16:creationId xmlns:a16="http://schemas.microsoft.com/office/drawing/2014/main" id="{759B1F67-3973-93D5-A5D6-79D02F1A7252}"/>
              </a:ext>
            </a:extLst>
          </p:cNvPr>
          <p:cNvPicPr>
            <a:picLocks noChangeAspect="1"/>
          </p:cNvPicPr>
          <p:nvPr/>
        </p:nvPicPr>
        <p:blipFill>
          <a:blip r:embed="rId2"/>
          <a:stretch>
            <a:fillRect/>
          </a:stretch>
        </p:blipFill>
        <p:spPr>
          <a:xfrm>
            <a:off x="2740232" y="497824"/>
            <a:ext cx="3663536" cy="774130"/>
          </a:xfrm>
          <a:prstGeom prst="rect">
            <a:avLst/>
          </a:prstGeom>
        </p:spPr>
      </p:pic>
    </p:spTree>
    <p:extLst>
      <p:ext uri="{BB962C8B-B14F-4D97-AF65-F5344CB8AC3E}">
        <p14:creationId xmlns:p14="http://schemas.microsoft.com/office/powerpoint/2010/main" val="837771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20C80-FBE4-4AA9-A1F2-A735B65D71C4}"/>
              </a:ext>
            </a:extLst>
          </p:cNvPr>
          <p:cNvSpPr>
            <a:spLocks noGrp="1"/>
          </p:cNvSpPr>
          <p:nvPr>
            <p:ph type="title"/>
          </p:nvPr>
        </p:nvSpPr>
        <p:spPr>
          <a:xfrm>
            <a:off x="311700" y="1999050"/>
            <a:ext cx="8520600" cy="572700"/>
          </a:xfrm>
        </p:spPr>
        <p:txBody>
          <a:bodyPr>
            <a:normAutofit fontScale="90000"/>
          </a:bodyPr>
          <a:lstStyle/>
          <a:p>
            <a:pPr algn="ctr"/>
            <a:r>
              <a:rPr lang="en-US" dirty="0"/>
              <a:t>Network Scheme</a:t>
            </a:r>
          </a:p>
        </p:txBody>
      </p:sp>
    </p:spTree>
    <p:extLst>
      <p:ext uri="{BB962C8B-B14F-4D97-AF65-F5344CB8AC3E}">
        <p14:creationId xmlns:p14="http://schemas.microsoft.com/office/powerpoint/2010/main" val="529155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6" name="Curved Connector 75">
            <a:extLst>
              <a:ext uri="{FF2B5EF4-FFF2-40B4-BE49-F238E27FC236}">
                <a16:creationId xmlns:a16="http://schemas.microsoft.com/office/drawing/2014/main" id="{BAF38D0C-16A4-08C5-3596-7FE69356A495}"/>
              </a:ext>
            </a:extLst>
          </p:cNvPr>
          <p:cNvCxnSpPr>
            <a:stCxn id="22" idx="3"/>
            <a:endCxn id="5" idx="3"/>
          </p:cNvCxnSpPr>
          <p:nvPr/>
        </p:nvCxnSpPr>
        <p:spPr>
          <a:xfrm flipV="1">
            <a:off x="4928473" y="317308"/>
            <a:ext cx="12700" cy="993052"/>
          </a:xfrm>
          <a:prstGeom prst="curvedConnector3">
            <a:avLst>
              <a:gd name="adj1" fmla="val 5400000"/>
            </a:avLst>
          </a:prstGeom>
          <a:ln>
            <a:prstDash val="sysDot"/>
            <a:tailEnd type="triangle"/>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63C2577A-D218-6ADD-31BB-4A1CC6827613}"/>
              </a:ext>
            </a:extLst>
          </p:cNvPr>
          <p:cNvSpPr/>
          <p:nvPr/>
        </p:nvSpPr>
        <p:spPr>
          <a:xfrm>
            <a:off x="7380307" y="3471134"/>
            <a:ext cx="965430" cy="512866"/>
          </a:xfrm>
          <a:prstGeom prst="ellipse">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5675702-6D3B-DB44-75A9-FA1D270AD2A5}"/>
              </a:ext>
            </a:extLst>
          </p:cNvPr>
          <p:cNvSpPr/>
          <p:nvPr/>
        </p:nvSpPr>
        <p:spPr>
          <a:xfrm rot="2700000">
            <a:off x="7648645" y="4362321"/>
            <a:ext cx="475378" cy="475378"/>
          </a:xfrm>
          <a:prstGeom prst="rect">
            <a:avLst/>
          </a:prstGeom>
          <a:solidFill>
            <a:srgbClr val="FF7B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0BB8AD3-6B76-E666-E627-A682FE3A9DA4}"/>
              </a:ext>
            </a:extLst>
          </p:cNvPr>
          <p:cNvSpPr/>
          <p:nvPr/>
        </p:nvSpPr>
        <p:spPr>
          <a:xfrm rot="2700000">
            <a:off x="7648644" y="2664786"/>
            <a:ext cx="475378" cy="475378"/>
          </a:xfrm>
          <a:prstGeom prst="rect">
            <a:avLst/>
          </a:prstGeom>
          <a:solidFill>
            <a:srgbClr val="FF7B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14E766BE-2E39-9DCE-61E0-DF9CFA01CDC7}"/>
              </a:ext>
            </a:extLst>
          </p:cNvPr>
          <p:cNvSpPr/>
          <p:nvPr/>
        </p:nvSpPr>
        <p:spPr>
          <a:xfrm>
            <a:off x="6996944" y="1820950"/>
            <a:ext cx="1778630" cy="512866"/>
          </a:xfrm>
          <a:prstGeom prst="ellipse">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AE86C9C1-F271-0E09-56C4-492E903975C2}"/>
              </a:ext>
            </a:extLst>
          </p:cNvPr>
          <p:cNvSpPr/>
          <p:nvPr/>
        </p:nvSpPr>
        <p:spPr>
          <a:xfrm>
            <a:off x="5040576" y="1800975"/>
            <a:ext cx="1429555" cy="512866"/>
          </a:xfrm>
          <a:prstGeom prst="ellipse">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DB6BCC0-1E45-0A78-7E59-646930692F72}"/>
              </a:ext>
            </a:extLst>
          </p:cNvPr>
          <p:cNvSpPr/>
          <p:nvPr/>
        </p:nvSpPr>
        <p:spPr>
          <a:xfrm>
            <a:off x="158671" y="1807417"/>
            <a:ext cx="1429555" cy="512866"/>
          </a:xfrm>
          <a:prstGeom prst="ellipse">
            <a:avLst/>
          </a:prstGeom>
          <a:solidFill>
            <a:srgbClr val="85F6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36FFC556-B7C9-09FC-0070-794B2DBFDBC8}"/>
              </a:ext>
            </a:extLst>
          </p:cNvPr>
          <p:cNvSpPr/>
          <p:nvPr/>
        </p:nvSpPr>
        <p:spPr>
          <a:xfrm>
            <a:off x="2092497" y="1845740"/>
            <a:ext cx="1429555" cy="512866"/>
          </a:xfrm>
          <a:prstGeom prst="ellipse">
            <a:avLst/>
          </a:prstGeom>
          <a:solidFill>
            <a:srgbClr val="85F6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EA6564A-C615-E823-DFD8-536B4997A421}"/>
              </a:ext>
            </a:extLst>
          </p:cNvPr>
          <p:cNvSpPr/>
          <p:nvPr/>
        </p:nvSpPr>
        <p:spPr>
          <a:xfrm rot="2700000">
            <a:off x="560574" y="3079446"/>
            <a:ext cx="475378" cy="475378"/>
          </a:xfrm>
          <a:prstGeom prst="rect">
            <a:avLst/>
          </a:prstGeom>
          <a:solidFill>
            <a:srgbClr val="FF7B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EB10E58-98B1-F808-DF70-ACD7D4C1C615}"/>
              </a:ext>
            </a:extLst>
          </p:cNvPr>
          <p:cNvSpPr/>
          <p:nvPr/>
        </p:nvSpPr>
        <p:spPr>
          <a:xfrm rot="2700000">
            <a:off x="2542674" y="3097033"/>
            <a:ext cx="475378" cy="475378"/>
          </a:xfrm>
          <a:prstGeom prst="rect">
            <a:avLst/>
          </a:prstGeom>
          <a:solidFill>
            <a:srgbClr val="FF7B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8612BF2-E43C-927D-46DD-425A8F34DCBB}"/>
              </a:ext>
            </a:extLst>
          </p:cNvPr>
          <p:cNvSpPr/>
          <p:nvPr/>
        </p:nvSpPr>
        <p:spPr>
          <a:xfrm>
            <a:off x="3593205" y="1078540"/>
            <a:ext cx="1335268" cy="4636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8E17A3A-3076-2F52-DD96-510284FA85BA}"/>
              </a:ext>
            </a:extLst>
          </p:cNvPr>
          <p:cNvSpPr/>
          <p:nvPr/>
        </p:nvSpPr>
        <p:spPr>
          <a:xfrm>
            <a:off x="3593205" y="79850"/>
            <a:ext cx="1335268" cy="4636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933E621F-E695-B8FE-E912-472DDA558660}"/>
              </a:ext>
            </a:extLst>
          </p:cNvPr>
          <p:cNvSpPr/>
          <p:nvPr/>
        </p:nvSpPr>
        <p:spPr>
          <a:xfrm>
            <a:off x="5470947" y="498296"/>
            <a:ext cx="1778630" cy="624574"/>
          </a:xfrm>
          <a:prstGeom prst="ellipse">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3663C06-F3C4-D5C0-E09B-5DD23A651AC5}"/>
              </a:ext>
            </a:extLst>
          </p:cNvPr>
          <p:cNvSpPr txBox="1"/>
          <p:nvPr/>
        </p:nvSpPr>
        <p:spPr>
          <a:xfrm>
            <a:off x="3668192" y="163419"/>
            <a:ext cx="1260281" cy="307777"/>
          </a:xfrm>
          <a:prstGeom prst="rect">
            <a:avLst/>
          </a:prstGeom>
          <a:noFill/>
        </p:spPr>
        <p:txBody>
          <a:bodyPr wrap="none" rtlCol="0">
            <a:spAutoFit/>
          </a:bodyPr>
          <a:lstStyle/>
          <a:p>
            <a:r>
              <a:rPr lang="en-US" dirty="0"/>
              <a:t>Patient Portal</a:t>
            </a:r>
          </a:p>
        </p:txBody>
      </p:sp>
      <p:sp>
        <p:nvSpPr>
          <p:cNvPr id="6" name="TextBox 5">
            <a:extLst>
              <a:ext uri="{FF2B5EF4-FFF2-40B4-BE49-F238E27FC236}">
                <a16:creationId xmlns:a16="http://schemas.microsoft.com/office/drawing/2014/main" id="{68E86E54-B918-E080-BF75-1EAC13200EA0}"/>
              </a:ext>
            </a:extLst>
          </p:cNvPr>
          <p:cNvSpPr txBox="1"/>
          <p:nvPr/>
        </p:nvSpPr>
        <p:spPr>
          <a:xfrm>
            <a:off x="4033854" y="1168064"/>
            <a:ext cx="453970" cy="307777"/>
          </a:xfrm>
          <a:prstGeom prst="rect">
            <a:avLst/>
          </a:prstGeom>
          <a:noFill/>
        </p:spPr>
        <p:txBody>
          <a:bodyPr wrap="none" rtlCol="0">
            <a:spAutoFit/>
          </a:bodyPr>
          <a:lstStyle/>
          <a:p>
            <a:r>
              <a:rPr lang="en-US" dirty="0"/>
              <a:t>LIS</a:t>
            </a:r>
          </a:p>
        </p:txBody>
      </p:sp>
      <p:sp>
        <p:nvSpPr>
          <p:cNvPr id="9" name="TextBox 8">
            <a:extLst>
              <a:ext uri="{FF2B5EF4-FFF2-40B4-BE49-F238E27FC236}">
                <a16:creationId xmlns:a16="http://schemas.microsoft.com/office/drawing/2014/main" id="{5677EAE8-128B-5A1F-73F6-DBA0706B1FC3}"/>
              </a:ext>
            </a:extLst>
          </p:cNvPr>
          <p:cNvSpPr txBox="1"/>
          <p:nvPr/>
        </p:nvSpPr>
        <p:spPr>
          <a:xfrm>
            <a:off x="253670" y="1852178"/>
            <a:ext cx="1138453" cy="469359"/>
          </a:xfrm>
          <a:prstGeom prst="rect">
            <a:avLst/>
          </a:prstGeom>
          <a:noFill/>
        </p:spPr>
        <p:txBody>
          <a:bodyPr wrap="none" rtlCol="0">
            <a:spAutoFit/>
          </a:bodyPr>
          <a:lstStyle/>
          <a:p>
            <a:pPr algn="ctr"/>
            <a:r>
              <a:rPr lang="en-US" dirty="0"/>
              <a:t>Thunderbolt</a:t>
            </a:r>
          </a:p>
          <a:p>
            <a:pPr algn="ctr"/>
            <a:r>
              <a:rPr lang="en-US" sz="1000" dirty="0"/>
              <a:t>ELISA</a:t>
            </a:r>
          </a:p>
        </p:txBody>
      </p:sp>
      <p:sp>
        <p:nvSpPr>
          <p:cNvPr id="10" name="TextBox 9">
            <a:extLst>
              <a:ext uri="{FF2B5EF4-FFF2-40B4-BE49-F238E27FC236}">
                <a16:creationId xmlns:a16="http://schemas.microsoft.com/office/drawing/2014/main" id="{297D1FFB-8AD2-75AF-34F8-DAB35DBF461D}"/>
              </a:ext>
            </a:extLst>
          </p:cNvPr>
          <p:cNvSpPr txBox="1"/>
          <p:nvPr/>
        </p:nvSpPr>
        <p:spPr>
          <a:xfrm>
            <a:off x="2202783" y="1852176"/>
            <a:ext cx="1208985" cy="461665"/>
          </a:xfrm>
          <a:prstGeom prst="rect">
            <a:avLst/>
          </a:prstGeom>
          <a:noFill/>
        </p:spPr>
        <p:txBody>
          <a:bodyPr wrap="none" rtlCol="0">
            <a:spAutoFit/>
          </a:bodyPr>
          <a:lstStyle/>
          <a:p>
            <a:pPr algn="ctr"/>
            <a:r>
              <a:rPr lang="en-US" dirty="0"/>
              <a:t>Diazyme</a:t>
            </a:r>
          </a:p>
          <a:p>
            <a:pPr algn="ctr"/>
            <a:r>
              <a:rPr lang="en-US" sz="1000" dirty="0"/>
              <a:t>Chemistry Assays</a:t>
            </a:r>
          </a:p>
        </p:txBody>
      </p:sp>
      <p:sp>
        <p:nvSpPr>
          <p:cNvPr id="11" name="TextBox 10">
            <a:extLst>
              <a:ext uri="{FF2B5EF4-FFF2-40B4-BE49-F238E27FC236}">
                <a16:creationId xmlns:a16="http://schemas.microsoft.com/office/drawing/2014/main" id="{DB6CC63E-F5D4-B82E-8326-E8EF034E0E63}"/>
              </a:ext>
            </a:extLst>
          </p:cNvPr>
          <p:cNvSpPr txBox="1"/>
          <p:nvPr/>
        </p:nvSpPr>
        <p:spPr>
          <a:xfrm>
            <a:off x="5233476" y="1800975"/>
            <a:ext cx="1079142" cy="461665"/>
          </a:xfrm>
          <a:prstGeom prst="rect">
            <a:avLst/>
          </a:prstGeom>
          <a:noFill/>
        </p:spPr>
        <p:txBody>
          <a:bodyPr wrap="none" rtlCol="0">
            <a:spAutoFit/>
          </a:bodyPr>
          <a:lstStyle/>
          <a:p>
            <a:pPr algn="ctr"/>
            <a:r>
              <a:rPr lang="en-US" dirty="0"/>
              <a:t>OpenTrons</a:t>
            </a:r>
          </a:p>
          <a:p>
            <a:pPr algn="ctr"/>
            <a:r>
              <a:rPr lang="en-US" sz="1000" dirty="0"/>
              <a:t>Liquid Handler</a:t>
            </a:r>
          </a:p>
        </p:txBody>
      </p:sp>
      <p:sp>
        <p:nvSpPr>
          <p:cNvPr id="13" name="TextBox 12">
            <a:extLst>
              <a:ext uri="{FF2B5EF4-FFF2-40B4-BE49-F238E27FC236}">
                <a16:creationId xmlns:a16="http://schemas.microsoft.com/office/drawing/2014/main" id="{F145F1F9-2B80-3F4F-3924-95B68C534AC5}"/>
              </a:ext>
            </a:extLst>
          </p:cNvPr>
          <p:cNvSpPr txBox="1"/>
          <p:nvPr/>
        </p:nvSpPr>
        <p:spPr>
          <a:xfrm>
            <a:off x="7113103" y="1814513"/>
            <a:ext cx="1598515" cy="461665"/>
          </a:xfrm>
          <a:prstGeom prst="rect">
            <a:avLst/>
          </a:prstGeom>
          <a:noFill/>
        </p:spPr>
        <p:txBody>
          <a:bodyPr wrap="none" rtlCol="0">
            <a:spAutoFit/>
          </a:bodyPr>
          <a:lstStyle/>
          <a:p>
            <a:pPr algn="ctr"/>
            <a:r>
              <a:rPr lang="en-US" dirty="0"/>
              <a:t>TapeStation</a:t>
            </a:r>
          </a:p>
          <a:p>
            <a:pPr algn="ctr"/>
            <a:r>
              <a:rPr lang="en-US" sz="1000" dirty="0"/>
              <a:t>Capillary Electrophoresis</a:t>
            </a:r>
          </a:p>
        </p:txBody>
      </p:sp>
      <p:sp>
        <p:nvSpPr>
          <p:cNvPr id="14" name="TextBox 13">
            <a:extLst>
              <a:ext uri="{FF2B5EF4-FFF2-40B4-BE49-F238E27FC236}">
                <a16:creationId xmlns:a16="http://schemas.microsoft.com/office/drawing/2014/main" id="{6167696E-1567-9FC9-6E44-9C3C72EA92BB}"/>
              </a:ext>
            </a:extLst>
          </p:cNvPr>
          <p:cNvSpPr txBox="1"/>
          <p:nvPr/>
        </p:nvSpPr>
        <p:spPr>
          <a:xfrm>
            <a:off x="7515003" y="3496513"/>
            <a:ext cx="742511" cy="461665"/>
          </a:xfrm>
          <a:prstGeom prst="rect">
            <a:avLst/>
          </a:prstGeom>
          <a:noFill/>
        </p:spPr>
        <p:txBody>
          <a:bodyPr wrap="none" rtlCol="0">
            <a:spAutoFit/>
          </a:bodyPr>
          <a:lstStyle/>
          <a:p>
            <a:pPr algn="ctr"/>
            <a:r>
              <a:rPr lang="en-US" dirty="0"/>
              <a:t>QX200</a:t>
            </a:r>
          </a:p>
          <a:p>
            <a:pPr algn="ctr"/>
            <a:r>
              <a:rPr lang="en-US" sz="1000" dirty="0"/>
              <a:t>ddPCR</a:t>
            </a:r>
          </a:p>
        </p:txBody>
      </p:sp>
      <p:sp>
        <p:nvSpPr>
          <p:cNvPr id="15" name="TextBox 14">
            <a:extLst>
              <a:ext uri="{FF2B5EF4-FFF2-40B4-BE49-F238E27FC236}">
                <a16:creationId xmlns:a16="http://schemas.microsoft.com/office/drawing/2014/main" id="{0A2453A4-7368-C892-9127-2C3691136DE6}"/>
              </a:ext>
            </a:extLst>
          </p:cNvPr>
          <p:cNvSpPr txBox="1"/>
          <p:nvPr/>
        </p:nvSpPr>
        <p:spPr>
          <a:xfrm>
            <a:off x="5504524" y="645603"/>
            <a:ext cx="1656223" cy="307777"/>
          </a:xfrm>
          <a:prstGeom prst="rect">
            <a:avLst/>
          </a:prstGeom>
          <a:noFill/>
        </p:spPr>
        <p:txBody>
          <a:bodyPr wrap="none" rtlCol="0">
            <a:spAutoFit/>
          </a:bodyPr>
          <a:lstStyle/>
          <a:p>
            <a:r>
              <a:rPr lang="en-US" dirty="0"/>
              <a:t>Report Generation</a:t>
            </a:r>
          </a:p>
        </p:txBody>
      </p:sp>
      <p:sp>
        <p:nvSpPr>
          <p:cNvPr id="16" name="TextBox 15">
            <a:extLst>
              <a:ext uri="{FF2B5EF4-FFF2-40B4-BE49-F238E27FC236}">
                <a16:creationId xmlns:a16="http://schemas.microsoft.com/office/drawing/2014/main" id="{2FC9BABC-4702-06B9-8AA2-B459B9E9D0E9}"/>
              </a:ext>
            </a:extLst>
          </p:cNvPr>
          <p:cNvSpPr txBox="1"/>
          <p:nvPr/>
        </p:nvSpPr>
        <p:spPr>
          <a:xfrm>
            <a:off x="571279" y="3134879"/>
            <a:ext cx="453970" cy="307777"/>
          </a:xfrm>
          <a:prstGeom prst="rect">
            <a:avLst/>
          </a:prstGeom>
          <a:noFill/>
        </p:spPr>
        <p:txBody>
          <a:bodyPr wrap="none" rtlCol="0">
            <a:spAutoFit/>
          </a:bodyPr>
          <a:lstStyle/>
          <a:p>
            <a:r>
              <a:rPr lang="en-US" dirty="0"/>
              <a:t>QC</a:t>
            </a:r>
          </a:p>
        </p:txBody>
      </p:sp>
      <p:sp>
        <p:nvSpPr>
          <p:cNvPr id="17" name="TextBox 16">
            <a:extLst>
              <a:ext uri="{FF2B5EF4-FFF2-40B4-BE49-F238E27FC236}">
                <a16:creationId xmlns:a16="http://schemas.microsoft.com/office/drawing/2014/main" id="{26E7859B-06A5-C9A7-9BD2-55D994CFE4A0}"/>
              </a:ext>
            </a:extLst>
          </p:cNvPr>
          <p:cNvSpPr txBox="1"/>
          <p:nvPr/>
        </p:nvSpPr>
        <p:spPr>
          <a:xfrm>
            <a:off x="7609657" y="2748587"/>
            <a:ext cx="553357" cy="307777"/>
          </a:xfrm>
          <a:prstGeom prst="rect">
            <a:avLst/>
          </a:prstGeom>
          <a:noFill/>
        </p:spPr>
        <p:txBody>
          <a:bodyPr wrap="none" rtlCol="0">
            <a:spAutoFit/>
          </a:bodyPr>
          <a:lstStyle/>
          <a:p>
            <a:r>
              <a:rPr lang="en-US" dirty="0"/>
              <a:t>QC1</a:t>
            </a:r>
          </a:p>
        </p:txBody>
      </p:sp>
      <p:sp>
        <p:nvSpPr>
          <p:cNvPr id="18" name="TextBox 17">
            <a:extLst>
              <a:ext uri="{FF2B5EF4-FFF2-40B4-BE49-F238E27FC236}">
                <a16:creationId xmlns:a16="http://schemas.microsoft.com/office/drawing/2014/main" id="{FC31A4BF-3271-8EF1-92FD-FBFB1172ED60}"/>
              </a:ext>
            </a:extLst>
          </p:cNvPr>
          <p:cNvSpPr txBox="1"/>
          <p:nvPr/>
        </p:nvSpPr>
        <p:spPr>
          <a:xfrm>
            <a:off x="7609655" y="4446121"/>
            <a:ext cx="553357" cy="307777"/>
          </a:xfrm>
          <a:prstGeom prst="rect">
            <a:avLst/>
          </a:prstGeom>
          <a:noFill/>
        </p:spPr>
        <p:txBody>
          <a:bodyPr wrap="none" rtlCol="0">
            <a:spAutoFit/>
          </a:bodyPr>
          <a:lstStyle/>
          <a:p>
            <a:r>
              <a:rPr lang="en-US" dirty="0"/>
              <a:t>QC2</a:t>
            </a:r>
          </a:p>
        </p:txBody>
      </p:sp>
      <p:sp>
        <p:nvSpPr>
          <p:cNvPr id="19" name="TextBox 18">
            <a:extLst>
              <a:ext uri="{FF2B5EF4-FFF2-40B4-BE49-F238E27FC236}">
                <a16:creationId xmlns:a16="http://schemas.microsoft.com/office/drawing/2014/main" id="{6CD6774D-8156-0C97-CDA4-5236DC34C018}"/>
              </a:ext>
            </a:extLst>
          </p:cNvPr>
          <p:cNvSpPr txBox="1"/>
          <p:nvPr/>
        </p:nvSpPr>
        <p:spPr>
          <a:xfrm>
            <a:off x="2552175" y="3167123"/>
            <a:ext cx="453970" cy="307777"/>
          </a:xfrm>
          <a:prstGeom prst="rect">
            <a:avLst/>
          </a:prstGeom>
          <a:noFill/>
        </p:spPr>
        <p:txBody>
          <a:bodyPr wrap="none" rtlCol="0">
            <a:spAutoFit/>
          </a:bodyPr>
          <a:lstStyle/>
          <a:p>
            <a:r>
              <a:rPr lang="en-US" dirty="0"/>
              <a:t>QC</a:t>
            </a:r>
          </a:p>
        </p:txBody>
      </p:sp>
      <p:cxnSp>
        <p:nvCxnSpPr>
          <p:cNvPr id="35" name="Straight Arrow Connector 34">
            <a:extLst>
              <a:ext uri="{FF2B5EF4-FFF2-40B4-BE49-F238E27FC236}">
                <a16:creationId xmlns:a16="http://schemas.microsoft.com/office/drawing/2014/main" id="{380FEAF3-4D71-6F92-4AF3-BA2CE544D7FA}"/>
              </a:ext>
            </a:extLst>
          </p:cNvPr>
          <p:cNvCxnSpPr>
            <a:stCxn id="21" idx="2"/>
            <a:endCxn id="22" idx="0"/>
          </p:cNvCxnSpPr>
          <p:nvPr/>
        </p:nvCxnSpPr>
        <p:spPr>
          <a:xfrm>
            <a:off x="4260839" y="543490"/>
            <a:ext cx="0" cy="53505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E77BB5F2-AD50-4916-F2EE-DC4FFE6C824E}"/>
              </a:ext>
            </a:extLst>
          </p:cNvPr>
          <p:cNvSpPr txBox="1"/>
          <p:nvPr/>
        </p:nvSpPr>
        <p:spPr>
          <a:xfrm rot="5400000">
            <a:off x="4150471" y="687599"/>
            <a:ext cx="389850" cy="246221"/>
          </a:xfrm>
          <a:prstGeom prst="rect">
            <a:avLst/>
          </a:prstGeom>
          <a:noFill/>
        </p:spPr>
        <p:txBody>
          <a:bodyPr wrap="none" rtlCol="0">
            <a:spAutoFit/>
          </a:bodyPr>
          <a:lstStyle/>
          <a:p>
            <a:r>
              <a:rPr lang="en-US" sz="1000" dirty="0"/>
              <a:t>API</a:t>
            </a:r>
          </a:p>
        </p:txBody>
      </p:sp>
      <p:cxnSp>
        <p:nvCxnSpPr>
          <p:cNvPr id="38" name="Straight Connector 37">
            <a:extLst>
              <a:ext uri="{FF2B5EF4-FFF2-40B4-BE49-F238E27FC236}">
                <a16:creationId xmlns:a16="http://schemas.microsoft.com/office/drawing/2014/main" id="{7B8B86A3-D379-90AB-C994-2AC1F307D28B}"/>
              </a:ext>
            </a:extLst>
          </p:cNvPr>
          <p:cNvCxnSpPr>
            <a:stCxn id="22" idx="1"/>
          </p:cNvCxnSpPr>
          <p:nvPr/>
        </p:nvCxnSpPr>
        <p:spPr>
          <a:xfrm flipH="1">
            <a:off x="822896" y="1310360"/>
            <a:ext cx="2770309" cy="11592"/>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9FCA6A8B-6F28-4EE6-439C-9F8CA58204B4}"/>
              </a:ext>
            </a:extLst>
          </p:cNvPr>
          <p:cNvCxnSpPr/>
          <p:nvPr/>
        </p:nvCxnSpPr>
        <p:spPr>
          <a:xfrm>
            <a:off x="2768639" y="1315513"/>
            <a:ext cx="0" cy="4790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7BE12824-3D2D-189A-DD95-8242009061B0}"/>
              </a:ext>
            </a:extLst>
          </p:cNvPr>
          <p:cNvCxnSpPr/>
          <p:nvPr/>
        </p:nvCxnSpPr>
        <p:spPr>
          <a:xfrm>
            <a:off x="822896" y="1316799"/>
            <a:ext cx="0" cy="4790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6FBC99C1-F36E-C36D-419A-E6BD31EABA7A}"/>
              </a:ext>
            </a:extLst>
          </p:cNvPr>
          <p:cNvSpPr txBox="1"/>
          <p:nvPr/>
        </p:nvSpPr>
        <p:spPr>
          <a:xfrm>
            <a:off x="1702418" y="1078540"/>
            <a:ext cx="596638" cy="246221"/>
          </a:xfrm>
          <a:prstGeom prst="rect">
            <a:avLst/>
          </a:prstGeom>
          <a:noFill/>
        </p:spPr>
        <p:txBody>
          <a:bodyPr wrap="none" rtlCol="0">
            <a:spAutoFit/>
          </a:bodyPr>
          <a:lstStyle/>
          <a:p>
            <a:r>
              <a:rPr lang="en-US" sz="1000" dirty="0"/>
              <a:t>TCP/IP</a:t>
            </a:r>
          </a:p>
        </p:txBody>
      </p:sp>
      <p:cxnSp>
        <p:nvCxnSpPr>
          <p:cNvPr id="45" name="Straight Arrow Connector 44">
            <a:extLst>
              <a:ext uri="{FF2B5EF4-FFF2-40B4-BE49-F238E27FC236}">
                <a16:creationId xmlns:a16="http://schemas.microsoft.com/office/drawing/2014/main" id="{FF677203-300C-0DAD-32D8-F7E7A61EF771}"/>
              </a:ext>
            </a:extLst>
          </p:cNvPr>
          <p:cNvCxnSpPr>
            <a:cxnSpLocks/>
          </p:cNvCxnSpPr>
          <p:nvPr/>
        </p:nvCxnSpPr>
        <p:spPr>
          <a:xfrm>
            <a:off x="798263" y="2332238"/>
            <a:ext cx="0" cy="6236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38BA0BFA-B268-5BC9-DD4E-2189E7D0B72E}"/>
              </a:ext>
            </a:extLst>
          </p:cNvPr>
          <p:cNvCxnSpPr>
            <a:cxnSpLocks/>
          </p:cNvCxnSpPr>
          <p:nvPr/>
        </p:nvCxnSpPr>
        <p:spPr>
          <a:xfrm>
            <a:off x="2781456" y="2358606"/>
            <a:ext cx="0" cy="6236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B89727EC-3E96-365C-0144-9CD191184D02}"/>
              </a:ext>
            </a:extLst>
          </p:cNvPr>
          <p:cNvCxnSpPr>
            <a:cxnSpLocks/>
          </p:cNvCxnSpPr>
          <p:nvPr/>
        </p:nvCxnSpPr>
        <p:spPr>
          <a:xfrm flipH="1">
            <a:off x="4928473" y="1324506"/>
            <a:ext cx="774804" cy="3242"/>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EF2D7543-3E82-DCFA-6AE0-D4A9E2CD1C50}"/>
              </a:ext>
            </a:extLst>
          </p:cNvPr>
          <p:cNvCxnSpPr/>
          <p:nvPr/>
        </p:nvCxnSpPr>
        <p:spPr>
          <a:xfrm>
            <a:off x="5697415" y="1321375"/>
            <a:ext cx="0" cy="4790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BBA8B19F-2BB4-A568-7652-F6A04113489F}"/>
              </a:ext>
            </a:extLst>
          </p:cNvPr>
          <p:cNvSpPr txBox="1"/>
          <p:nvPr/>
        </p:nvSpPr>
        <p:spPr>
          <a:xfrm rot="5400000">
            <a:off x="5535549" y="1397062"/>
            <a:ext cx="505267" cy="246221"/>
          </a:xfrm>
          <a:prstGeom prst="rect">
            <a:avLst/>
          </a:prstGeom>
          <a:noFill/>
        </p:spPr>
        <p:txBody>
          <a:bodyPr wrap="none" rtlCol="0">
            <a:spAutoFit/>
          </a:bodyPr>
          <a:lstStyle/>
          <a:p>
            <a:r>
              <a:rPr lang="en-US" sz="1000" dirty="0"/>
              <a:t>UTF8</a:t>
            </a:r>
          </a:p>
        </p:txBody>
      </p:sp>
      <p:cxnSp>
        <p:nvCxnSpPr>
          <p:cNvPr id="53" name="Straight Connector 52">
            <a:extLst>
              <a:ext uri="{FF2B5EF4-FFF2-40B4-BE49-F238E27FC236}">
                <a16:creationId xmlns:a16="http://schemas.microsoft.com/office/drawing/2014/main" id="{9C58865E-F927-5FC2-5788-C7BE3FB7C258}"/>
              </a:ext>
            </a:extLst>
          </p:cNvPr>
          <p:cNvCxnSpPr>
            <a:cxnSpLocks/>
          </p:cNvCxnSpPr>
          <p:nvPr/>
        </p:nvCxnSpPr>
        <p:spPr>
          <a:xfrm>
            <a:off x="811172" y="4196862"/>
            <a:ext cx="312595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4116F89A-2E66-D255-D953-BAB6556A68E9}"/>
              </a:ext>
            </a:extLst>
          </p:cNvPr>
          <p:cNvCxnSpPr/>
          <p:nvPr/>
        </p:nvCxnSpPr>
        <p:spPr>
          <a:xfrm flipV="1">
            <a:off x="3944815" y="1555024"/>
            <a:ext cx="0" cy="2641838"/>
          </a:xfrm>
          <a:prstGeom prst="straightConnector1">
            <a:avLst/>
          </a:prstGeom>
          <a:ln>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B2574CF-09C2-D82E-B3D7-A86BE4ADD3E3}"/>
              </a:ext>
            </a:extLst>
          </p:cNvPr>
          <p:cNvCxnSpPr>
            <a:cxnSpLocks/>
          </p:cNvCxnSpPr>
          <p:nvPr/>
        </p:nvCxnSpPr>
        <p:spPr>
          <a:xfrm>
            <a:off x="798263" y="3653279"/>
            <a:ext cx="0" cy="537721"/>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713909A-4E4E-765F-AA0B-8D00AD2D409C}"/>
              </a:ext>
            </a:extLst>
          </p:cNvPr>
          <p:cNvCxnSpPr>
            <a:cxnSpLocks/>
          </p:cNvCxnSpPr>
          <p:nvPr/>
        </p:nvCxnSpPr>
        <p:spPr>
          <a:xfrm>
            <a:off x="2779160" y="3665772"/>
            <a:ext cx="0" cy="537721"/>
          </a:xfrm>
          <a:prstGeom prst="line">
            <a:avLst/>
          </a:prstGeom>
          <a:ln>
            <a:prstDash val="sysDot"/>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9C1F90BA-5023-AB12-E7D8-4892F13A5141}"/>
              </a:ext>
            </a:extLst>
          </p:cNvPr>
          <p:cNvSpPr txBox="1"/>
          <p:nvPr/>
        </p:nvSpPr>
        <p:spPr>
          <a:xfrm>
            <a:off x="1470049" y="3977847"/>
            <a:ext cx="958917" cy="246221"/>
          </a:xfrm>
          <a:prstGeom prst="rect">
            <a:avLst/>
          </a:prstGeom>
          <a:noFill/>
        </p:spPr>
        <p:txBody>
          <a:bodyPr wrap="none" rtlCol="0">
            <a:spAutoFit/>
          </a:bodyPr>
          <a:lstStyle/>
          <a:p>
            <a:r>
              <a:rPr lang="en-US" sz="1000" dirty="0"/>
              <a:t>HL7 or ASTM</a:t>
            </a:r>
          </a:p>
        </p:txBody>
      </p:sp>
      <p:cxnSp>
        <p:nvCxnSpPr>
          <p:cNvPr id="63" name="Straight Arrow Connector 62">
            <a:extLst>
              <a:ext uri="{FF2B5EF4-FFF2-40B4-BE49-F238E27FC236}">
                <a16:creationId xmlns:a16="http://schemas.microsoft.com/office/drawing/2014/main" id="{36371E0A-29FB-C5F0-67F2-204C33A50406}"/>
              </a:ext>
            </a:extLst>
          </p:cNvPr>
          <p:cNvCxnSpPr>
            <a:stCxn id="32" idx="6"/>
          </p:cNvCxnSpPr>
          <p:nvPr/>
        </p:nvCxnSpPr>
        <p:spPr>
          <a:xfrm>
            <a:off x="6470131" y="2057408"/>
            <a:ext cx="4816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A903485A-457A-1D8A-DA23-CCFCEFFC6A2B}"/>
              </a:ext>
            </a:extLst>
          </p:cNvPr>
          <p:cNvCxnSpPr>
            <a:stCxn id="33" idx="4"/>
          </p:cNvCxnSpPr>
          <p:nvPr/>
        </p:nvCxnSpPr>
        <p:spPr>
          <a:xfrm flipH="1">
            <a:off x="7886258" y="2333816"/>
            <a:ext cx="1" cy="2325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66F4C603-356A-5CD2-C538-6EA8AE2AF98B}"/>
              </a:ext>
            </a:extLst>
          </p:cNvPr>
          <p:cNvCxnSpPr/>
          <p:nvPr/>
        </p:nvCxnSpPr>
        <p:spPr>
          <a:xfrm flipH="1">
            <a:off x="7886258" y="3237825"/>
            <a:ext cx="1" cy="2325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7BD562C2-C95D-C44E-5079-D8DBA78E56BC}"/>
              </a:ext>
            </a:extLst>
          </p:cNvPr>
          <p:cNvCxnSpPr/>
          <p:nvPr/>
        </p:nvCxnSpPr>
        <p:spPr>
          <a:xfrm flipH="1">
            <a:off x="7886258" y="4005529"/>
            <a:ext cx="1" cy="2325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3B599F47-0798-680D-539E-9392ED83309D}"/>
              </a:ext>
            </a:extLst>
          </p:cNvPr>
          <p:cNvCxnSpPr>
            <a:cxnSpLocks/>
          </p:cNvCxnSpPr>
          <p:nvPr/>
        </p:nvCxnSpPr>
        <p:spPr>
          <a:xfrm>
            <a:off x="4642338" y="4600009"/>
            <a:ext cx="2907851"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1BDD8403-A739-3D30-3A37-2D129705608C}"/>
              </a:ext>
            </a:extLst>
          </p:cNvPr>
          <p:cNvCxnSpPr>
            <a:cxnSpLocks/>
          </p:cNvCxnSpPr>
          <p:nvPr/>
        </p:nvCxnSpPr>
        <p:spPr>
          <a:xfrm flipV="1">
            <a:off x="4648199" y="1549162"/>
            <a:ext cx="0" cy="3044985"/>
          </a:xfrm>
          <a:prstGeom prst="straightConnector1">
            <a:avLst/>
          </a:prstGeom>
          <a:ln>
            <a:prstDash val="sysDot"/>
            <a:tailEnd type="triangle"/>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149FEBE0-BAB2-DA25-51D9-83EADB3B5490}"/>
              </a:ext>
            </a:extLst>
          </p:cNvPr>
          <p:cNvSpPr txBox="1"/>
          <p:nvPr/>
        </p:nvSpPr>
        <p:spPr>
          <a:xfrm>
            <a:off x="6744310" y="4390888"/>
            <a:ext cx="505267" cy="246221"/>
          </a:xfrm>
          <a:prstGeom prst="rect">
            <a:avLst/>
          </a:prstGeom>
          <a:noFill/>
        </p:spPr>
        <p:txBody>
          <a:bodyPr wrap="none" rtlCol="0">
            <a:spAutoFit/>
          </a:bodyPr>
          <a:lstStyle/>
          <a:p>
            <a:r>
              <a:rPr lang="en-US" sz="1000" dirty="0"/>
              <a:t>UTF8</a:t>
            </a:r>
          </a:p>
        </p:txBody>
      </p:sp>
      <p:sp>
        <p:nvSpPr>
          <p:cNvPr id="74" name="Oval 73">
            <a:extLst>
              <a:ext uri="{FF2B5EF4-FFF2-40B4-BE49-F238E27FC236}">
                <a16:creationId xmlns:a16="http://schemas.microsoft.com/office/drawing/2014/main" id="{E1491E23-38E3-50E2-F028-3BB74A43B01D}"/>
              </a:ext>
            </a:extLst>
          </p:cNvPr>
          <p:cNvSpPr/>
          <p:nvPr/>
        </p:nvSpPr>
        <p:spPr>
          <a:xfrm>
            <a:off x="5742622" y="4395625"/>
            <a:ext cx="798061" cy="40876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User</a:t>
            </a:r>
          </a:p>
        </p:txBody>
      </p:sp>
    </p:spTree>
    <p:extLst>
      <p:ext uri="{BB962C8B-B14F-4D97-AF65-F5344CB8AC3E}">
        <p14:creationId xmlns:p14="http://schemas.microsoft.com/office/powerpoint/2010/main" val="1624996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725C9-EAD2-5F80-DB3B-932622E5CC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1BCEC8-4491-FAF2-424C-18AC9FD78684}"/>
              </a:ext>
            </a:extLst>
          </p:cNvPr>
          <p:cNvSpPr>
            <a:spLocks noGrp="1"/>
          </p:cNvSpPr>
          <p:nvPr>
            <p:ph type="title"/>
          </p:nvPr>
        </p:nvSpPr>
        <p:spPr>
          <a:xfrm>
            <a:off x="311700" y="1999050"/>
            <a:ext cx="8520600" cy="572700"/>
          </a:xfrm>
        </p:spPr>
        <p:txBody>
          <a:bodyPr>
            <a:normAutofit fontScale="90000"/>
          </a:bodyPr>
          <a:lstStyle/>
          <a:p>
            <a:pPr algn="ctr"/>
            <a:r>
              <a:rPr lang="en-US" dirty="0"/>
              <a:t>I/O</a:t>
            </a:r>
          </a:p>
        </p:txBody>
      </p:sp>
    </p:spTree>
    <p:extLst>
      <p:ext uri="{BB962C8B-B14F-4D97-AF65-F5344CB8AC3E}">
        <p14:creationId xmlns:p14="http://schemas.microsoft.com/office/powerpoint/2010/main" val="3648712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15526F1-55D6-64CE-0B78-374C8C85B619}"/>
              </a:ext>
            </a:extLst>
          </p:cNvPr>
          <p:cNvSpPr/>
          <p:nvPr/>
        </p:nvSpPr>
        <p:spPr>
          <a:xfrm>
            <a:off x="4572000" y="611535"/>
            <a:ext cx="4436772" cy="4644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33EFB61-F7E4-9097-0132-818FF3002877}"/>
              </a:ext>
            </a:extLst>
          </p:cNvPr>
          <p:cNvSpPr/>
          <p:nvPr/>
        </p:nvSpPr>
        <p:spPr>
          <a:xfrm>
            <a:off x="273063" y="617369"/>
            <a:ext cx="3577720" cy="4644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2">
            <a:extLst>
              <a:ext uri="{FF2B5EF4-FFF2-40B4-BE49-F238E27FC236}">
                <a16:creationId xmlns:a16="http://schemas.microsoft.com/office/drawing/2014/main" id="{8594135D-BC63-7CAD-DA51-877AB0013316}"/>
              </a:ext>
            </a:extLst>
          </p:cNvPr>
          <p:cNvSpPr>
            <a:spLocks noChangeArrowheads="1"/>
          </p:cNvSpPr>
          <p:nvPr/>
        </p:nvSpPr>
        <p:spPr bwMode="auto">
          <a:xfrm>
            <a:off x="273063" y="617369"/>
            <a:ext cx="3577720" cy="3908762"/>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bg1"/>
                </a:solidFill>
                <a:effectLst/>
                <a:latin typeface="Arial" panose="020B0604020202020204" pitchFamily="34" charset="0"/>
              </a:rPr>
              <a:t>Input</a:t>
            </a:r>
            <a:endParaRPr kumimoji="0" lang="en-US" altLang="en-US" sz="1200" b="1"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rgbClr val="00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000000"/>
                </a:solidFill>
                <a:effectLst/>
                <a:latin typeface="Arial" panose="020B0604020202020204" pitchFamily="34" charset="0"/>
              </a:rPr>
              <a:t>Participant Information</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dirty="0">
                <a:ln>
                  <a:noFill/>
                </a:ln>
                <a:solidFill>
                  <a:srgbClr val="000000"/>
                </a:solidFill>
                <a:effectLst/>
                <a:latin typeface="Arial" panose="020B0604020202020204" pitchFamily="34" charset="0"/>
              </a:rPr>
              <a:t>Demographics: Name, date of birth, contact details, MRN</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dirty="0">
                <a:ln>
                  <a:noFill/>
                </a:ln>
                <a:solidFill>
                  <a:srgbClr val="000000"/>
                </a:solidFill>
                <a:effectLst/>
                <a:latin typeface="Arial" panose="020B0604020202020204" pitchFamily="34" charset="0"/>
              </a:rPr>
              <a:t>Medical </a:t>
            </a:r>
            <a:r>
              <a:rPr kumimoji="0" lang="en-US" altLang="en-US" sz="1200" i="0" u="none" strike="noStrike" cap="none" normalizeH="0" baseline="0" dirty="0" err="1">
                <a:ln>
                  <a:noFill/>
                </a:ln>
                <a:solidFill>
                  <a:srgbClr val="000000"/>
                </a:solidFill>
                <a:effectLst/>
                <a:latin typeface="Arial" panose="020B0604020202020204" pitchFamily="34" charset="0"/>
              </a:rPr>
              <a:t>Hx</a:t>
            </a:r>
            <a:r>
              <a:rPr kumimoji="0" lang="en-US" altLang="en-US" sz="1200" i="0" u="none" strike="noStrike" cap="none" normalizeH="0" baseline="0" dirty="0">
                <a:ln>
                  <a:noFill/>
                </a:ln>
                <a:solidFill>
                  <a:srgbClr val="000000"/>
                </a:solidFill>
                <a:effectLst/>
                <a:latin typeface="Arial" panose="020B0604020202020204" pitchFamily="34" charset="0"/>
              </a:rPr>
              <a:t>: </a:t>
            </a:r>
            <a:r>
              <a:rPr kumimoji="0" lang="en-US" altLang="en-US" sz="1200" b="0" i="0" u="none" strike="noStrike" cap="none" normalizeH="0" baseline="0" dirty="0">
                <a:ln>
                  <a:noFill/>
                </a:ln>
                <a:solidFill>
                  <a:srgbClr val="000000"/>
                </a:solidFill>
                <a:effectLst/>
                <a:latin typeface="Arial" panose="020B0604020202020204" pitchFamily="34" charset="0"/>
              </a:rPr>
              <a:t>Structured questionnaire (10 items on health status, diagnoses, and medications)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rgbClr val="00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000000"/>
                </a:solidFill>
                <a:effectLst/>
                <a:latin typeface="Arial" panose="020B0604020202020204" pitchFamily="34" charset="0"/>
              </a:rPr>
              <a:t>Biological Specimens</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dirty="0">
                <a:ln>
                  <a:noFill/>
                </a:ln>
                <a:solidFill>
                  <a:srgbClr val="000000"/>
                </a:solidFill>
                <a:effectLst/>
                <a:latin typeface="Arial" panose="020B0604020202020204" pitchFamily="34" charset="0"/>
              </a:rPr>
              <a:t>Serum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dirty="0">
                <a:ln>
                  <a:noFill/>
                </a:ln>
                <a:solidFill>
                  <a:srgbClr val="000000"/>
                </a:solidFill>
                <a:effectLst/>
                <a:latin typeface="Arial" panose="020B0604020202020204" pitchFamily="34" charset="0"/>
              </a:rPr>
              <a:t>Plasma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dirty="0">
                <a:ln>
                  <a:noFill/>
                </a:ln>
                <a:solidFill>
                  <a:srgbClr val="000000"/>
                </a:solidFill>
                <a:effectLst/>
                <a:latin typeface="Arial" panose="020B0604020202020204" pitchFamily="34" charset="0"/>
              </a:rPr>
              <a:t>Whole Blood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200" b="0" i="0" u="none" strike="noStrike" cap="none" normalizeH="0" baseline="0" dirty="0">
              <a:ln>
                <a:noFill/>
              </a:ln>
              <a:solidFill>
                <a:srgbClr val="00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000000"/>
                </a:solidFill>
                <a:effectLst/>
                <a:latin typeface="Arial" panose="020B0604020202020204" pitchFamily="34" charset="0"/>
              </a:rPr>
              <a:t>Metadata &amp; Accessioning</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rgbClr val="000000"/>
                </a:solidFill>
                <a:effectLst/>
                <a:latin typeface="Arial" panose="020B0604020202020204" pitchFamily="34" charset="0"/>
              </a:rPr>
              <a:t>Sample collection date, processing time, and storage conditions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rgbClr val="000000"/>
                </a:solidFill>
                <a:effectLst/>
                <a:latin typeface="Arial" panose="020B0604020202020204" pitchFamily="34" charset="0"/>
              </a:rPr>
              <a:t>Linked consent forms and study identifiers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200" dirty="0">
              <a:solidFill>
                <a:srgbClr val="000000"/>
              </a:solidFill>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200" b="0" i="0" u="none" strike="noStrike" cap="none" normalizeH="0" baseline="0" dirty="0">
              <a:ln>
                <a:noFill/>
              </a:ln>
              <a:solidFill>
                <a:srgbClr val="00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852C0845-D4D3-A7CB-6ED2-4E8AB57412F8}"/>
              </a:ext>
            </a:extLst>
          </p:cNvPr>
          <p:cNvSpPr txBox="1"/>
          <p:nvPr/>
        </p:nvSpPr>
        <p:spPr>
          <a:xfrm>
            <a:off x="4572000" y="623203"/>
            <a:ext cx="4436772" cy="3724096"/>
          </a:xfrm>
          <a:prstGeom prst="rect">
            <a:avLst/>
          </a:prstGeom>
          <a:noFill/>
          <a:ln>
            <a:solidFill>
              <a:schemeClr val="accent1"/>
            </a:solidFill>
          </a:ln>
        </p:spPr>
        <p:txBody>
          <a:bodyPr wrap="square">
            <a:spAutoFit/>
          </a:bodyPr>
          <a:lstStyle/>
          <a:p>
            <a:pPr algn="l">
              <a:buNone/>
            </a:pPr>
            <a:r>
              <a:rPr lang="en-US" sz="2000" b="1" i="0" u="none" strike="noStrike" dirty="0">
                <a:solidFill>
                  <a:schemeClr val="bg1"/>
                </a:solidFill>
                <a:effectLst/>
              </a:rPr>
              <a:t>Output</a:t>
            </a:r>
          </a:p>
          <a:p>
            <a:pPr algn="l">
              <a:buNone/>
            </a:pPr>
            <a:endParaRPr lang="en-US" sz="1200" b="1" i="0" u="none" strike="noStrike" dirty="0">
              <a:solidFill>
                <a:srgbClr val="000000"/>
              </a:solidFill>
              <a:effectLst/>
            </a:endParaRPr>
          </a:p>
          <a:p>
            <a:pPr algn="l">
              <a:buNone/>
            </a:pPr>
            <a:r>
              <a:rPr lang="en-US" sz="1200" b="1" i="0" u="none" strike="noStrike" dirty="0">
                <a:solidFill>
                  <a:srgbClr val="000000"/>
                </a:solidFill>
                <a:effectLst/>
              </a:rPr>
              <a:t>Processed Data</a:t>
            </a:r>
            <a:endParaRPr lang="en-US" sz="1200" b="0" i="0" u="none" strike="noStrike" dirty="0">
              <a:solidFill>
                <a:srgbClr val="000000"/>
              </a:solidFill>
              <a:effectLst/>
            </a:endParaRPr>
          </a:p>
          <a:p>
            <a:pPr marL="171450" indent="-171450" algn="l">
              <a:buFont typeface="Arial" panose="020B0604020202020204" pitchFamily="34" charset="0"/>
              <a:buChar char="•"/>
            </a:pPr>
            <a:r>
              <a:rPr lang="en-US" sz="1200" b="0" i="0" u="none" strike="noStrike" dirty="0">
                <a:solidFill>
                  <a:srgbClr val="000000"/>
                </a:solidFill>
                <a:effectLst/>
              </a:rPr>
              <a:t>ELISA assay results (quantitative or qualitative antibody levels)</a:t>
            </a:r>
          </a:p>
          <a:p>
            <a:pPr marL="171450" indent="-171450" algn="l">
              <a:buFont typeface="Arial" panose="020B0604020202020204" pitchFamily="34" charset="0"/>
              <a:buChar char="•"/>
            </a:pPr>
            <a:r>
              <a:rPr lang="en-US" sz="1200" b="0" i="0" u="none" strike="noStrike" dirty="0">
                <a:solidFill>
                  <a:srgbClr val="000000"/>
                </a:solidFill>
                <a:effectLst/>
              </a:rPr>
              <a:t>ddPCR data (copy number, concentration results, internal control, % unmethylated)</a:t>
            </a:r>
          </a:p>
          <a:p>
            <a:pPr algn="l">
              <a:buFont typeface="Arial" panose="020B0604020202020204" pitchFamily="34" charset="0"/>
              <a:buChar char="•"/>
            </a:pPr>
            <a:endParaRPr lang="en-US" sz="1200" b="0" i="0" u="none" strike="noStrike" dirty="0">
              <a:solidFill>
                <a:srgbClr val="000000"/>
              </a:solidFill>
              <a:effectLst/>
            </a:endParaRPr>
          </a:p>
          <a:p>
            <a:pPr algn="l">
              <a:buNone/>
            </a:pPr>
            <a:r>
              <a:rPr lang="en-US" sz="1200" b="1" i="0" u="none" strike="noStrike" dirty="0">
                <a:solidFill>
                  <a:srgbClr val="000000"/>
                </a:solidFill>
                <a:effectLst/>
              </a:rPr>
              <a:t>Derived Results / Reports</a:t>
            </a:r>
            <a:endParaRPr lang="en-US" sz="1200" b="0" i="0" u="none" strike="noStrike" dirty="0">
              <a:solidFill>
                <a:srgbClr val="000000"/>
              </a:solidFill>
              <a:effectLst/>
            </a:endParaRPr>
          </a:p>
          <a:p>
            <a:pPr marL="171450" indent="-171450" algn="l">
              <a:buFont typeface="Arial" panose="020B0604020202020204" pitchFamily="34" charset="0"/>
              <a:buChar char="•"/>
            </a:pPr>
            <a:r>
              <a:rPr lang="en-US" sz="1200" b="0" i="0" u="none" strike="noStrike" dirty="0">
                <a:solidFill>
                  <a:srgbClr val="000000"/>
                </a:solidFill>
                <a:effectLst/>
              </a:rPr>
              <a:t>Normalized and QC-checked dataset (linked to sample ID)</a:t>
            </a:r>
          </a:p>
          <a:p>
            <a:pPr marL="171450" indent="-171450" algn="l">
              <a:buFont typeface="Arial" panose="020B0604020202020204" pitchFamily="34" charset="0"/>
              <a:buChar char="•"/>
            </a:pPr>
            <a:r>
              <a:rPr lang="en-US" sz="1200" b="0" i="0" u="none" strike="noStrike" dirty="0">
                <a:solidFill>
                  <a:srgbClr val="000000"/>
                </a:solidFill>
                <a:effectLst/>
              </a:rPr>
              <a:t>Summary tables or visualizations (e.g., response profiles, molecular quantification)</a:t>
            </a:r>
          </a:p>
          <a:p>
            <a:pPr marL="171450" indent="-171450" algn="l">
              <a:buFont typeface="Arial" panose="020B0604020202020204" pitchFamily="34" charset="0"/>
              <a:buChar char="•"/>
            </a:pPr>
            <a:r>
              <a:rPr lang="en-US" sz="1200" b="0" i="0" u="none" strike="noStrike" dirty="0">
                <a:solidFill>
                  <a:srgbClr val="000000"/>
                </a:solidFill>
                <a:effectLst/>
              </a:rPr>
              <a:t>Flags for assay failures, outliers, or re-test recommendations</a:t>
            </a:r>
          </a:p>
          <a:p>
            <a:pPr algn="l">
              <a:buFont typeface="Arial" panose="020B0604020202020204" pitchFamily="34" charset="0"/>
              <a:buChar char="•"/>
            </a:pPr>
            <a:endParaRPr lang="en-US" sz="1200" b="0" i="0" u="none" strike="noStrike" dirty="0">
              <a:solidFill>
                <a:srgbClr val="000000"/>
              </a:solidFill>
              <a:effectLst/>
            </a:endParaRPr>
          </a:p>
          <a:p>
            <a:pPr algn="l">
              <a:buNone/>
            </a:pPr>
            <a:r>
              <a:rPr lang="en-US" sz="1200" b="1" i="0" u="none" strike="noStrike" dirty="0">
                <a:solidFill>
                  <a:srgbClr val="000000"/>
                </a:solidFill>
                <a:effectLst/>
              </a:rPr>
              <a:t>Data Storage / Integration</a:t>
            </a:r>
            <a:endParaRPr lang="en-US" sz="1200" b="0" i="0" u="none" strike="noStrike" dirty="0">
              <a:solidFill>
                <a:srgbClr val="000000"/>
              </a:solidFill>
              <a:effectLst/>
            </a:endParaRPr>
          </a:p>
          <a:p>
            <a:pPr marL="171450" indent="-171450" algn="l">
              <a:buFont typeface="Arial" panose="020B0604020202020204" pitchFamily="34" charset="0"/>
              <a:buChar char="•"/>
            </a:pPr>
            <a:r>
              <a:rPr lang="en-US" sz="1200" b="0" i="0" u="none" strike="noStrike" dirty="0">
                <a:solidFill>
                  <a:srgbClr val="000000"/>
                </a:solidFill>
                <a:effectLst/>
              </a:rPr>
              <a:t>Structured results uploaded to LIMS or central database</a:t>
            </a:r>
          </a:p>
          <a:p>
            <a:pPr marL="171450" indent="-171450" algn="l">
              <a:buFont typeface="Arial" panose="020B0604020202020204" pitchFamily="34" charset="0"/>
              <a:buChar char="•"/>
            </a:pPr>
            <a:r>
              <a:rPr lang="en-US" sz="1200" b="0" i="0" u="none" strike="noStrike" dirty="0">
                <a:solidFill>
                  <a:srgbClr val="000000"/>
                </a:solidFill>
                <a:effectLst/>
              </a:rPr>
              <a:t>De-identified datasets exported for statistical analysis or publication</a:t>
            </a:r>
          </a:p>
        </p:txBody>
      </p:sp>
      <p:sp>
        <p:nvSpPr>
          <p:cNvPr id="11" name="Right Arrow 10">
            <a:extLst>
              <a:ext uri="{FF2B5EF4-FFF2-40B4-BE49-F238E27FC236}">
                <a16:creationId xmlns:a16="http://schemas.microsoft.com/office/drawing/2014/main" id="{3E4D6F3B-205F-76CE-EF27-A95614972EF8}"/>
              </a:ext>
            </a:extLst>
          </p:cNvPr>
          <p:cNvSpPr/>
          <p:nvPr/>
        </p:nvSpPr>
        <p:spPr>
          <a:xfrm>
            <a:off x="3966693" y="2260242"/>
            <a:ext cx="502276" cy="4378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09377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35EEA-7A4C-6D1E-6BEA-C20ACE3B2E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89016D-90E4-1845-A91F-E5C631A3672E}"/>
              </a:ext>
            </a:extLst>
          </p:cNvPr>
          <p:cNvSpPr>
            <a:spLocks noGrp="1"/>
          </p:cNvSpPr>
          <p:nvPr>
            <p:ph type="title"/>
          </p:nvPr>
        </p:nvSpPr>
        <p:spPr>
          <a:xfrm>
            <a:off x="311700" y="1999050"/>
            <a:ext cx="8520600" cy="572700"/>
          </a:xfrm>
        </p:spPr>
        <p:txBody>
          <a:bodyPr>
            <a:normAutofit fontScale="90000"/>
          </a:bodyPr>
          <a:lstStyle/>
          <a:p>
            <a:pPr algn="ctr"/>
            <a:r>
              <a:rPr lang="en-US" dirty="0"/>
              <a:t>LIS Workflow</a:t>
            </a:r>
          </a:p>
        </p:txBody>
      </p:sp>
    </p:spTree>
    <p:extLst>
      <p:ext uri="{BB962C8B-B14F-4D97-AF65-F5344CB8AC3E}">
        <p14:creationId xmlns:p14="http://schemas.microsoft.com/office/powerpoint/2010/main" val="2380564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192864C-5D4F-8BDC-406E-2A7E012C177C}"/>
              </a:ext>
            </a:extLst>
          </p:cNvPr>
          <p:cNvGraphicFramePr>
            <a:graphicFrameLocks noGrp="1"/>
          </p:cNvGraphicFramePr>
          <p:nvPr/>
        </p:nvGraphicFramePr>
        <p:xfrm>
          <a:off x="530941" y="1263343"/>
          <a:ext cx="8000999" cy="1447800"/>
        </p:xfrm>
        <a:graphic>
          <a:graphicData uri="http://schemas.openxmlformats.org/drawingml/2006/table">
            <a:tbl>
              <a:tblPr firstRow="1" bandRow="1">
                <a:tableStyleId>{5C22544A-7EE6-4342-B048-85BDC9FD1C3A}</a:tableStyleId>
              </a:tblPr>
              <a:tblGrid>
                <a:gridCol w="915446">
                  <a:extLst>
                    <a:ext uri="{9D8B030D-6E8A-4147-A177-3AD203B41FA5}">
                      <a16:colId xmlns:a16="http://schemas.microsoft.com/office/drawing/2014/main" val="110122033"/>
                    </a:ext>
                  </a:extLst>
                </a:gridCol>
                <a:gridCol w="1038199">
                  <a:extLst>
                    <a:ext uri="{9D8B030D-6E8A-4147-A177-3AD203B41FA5}">
                      <a16:colId xmlns:a16="http://schemas.microsoft.com/office/drawing/2014/main" val="2918422301"/>
                    </a:ext>
                  </a:extLst>
                </a:gridCol>
                <a:gridCol w="1105937">
                  <a:extLst>
                    <a:ext uri="{9D8B030D-6E8A-4147-A177-3AD203B41FA5}">
                      <a16:colId xmlns:a16="http://schemas.microsoft.com/office/drawing/2014/main" val="2457982736"/>
                    </a:ext>
                  </a:extLst>
                </a:gridCol>
                <a:gridCol w="1105937">
                  <a:extLst>
                    <a:ext uri="{9D8B030D-6E8A-4147-A177-3AD203B41FA5}">
                      <a16:colId xmlns:a16="http://schemas.microsoft.com/office/drawing/2014/main" val="2014948353"/>
                    </a:ext>
                  </a:extLst>
                </a:gridCol>
                <a:gridCol w="1522427">
                  <a:extLst>
                    <a:ext uri="{9D8B030D-6E8A-4147-A177-3AD203B41FA5}">
                      <a16:colId xmlns:a16="http://schemas.microsoft.com/office/drawing/2014/main" val="2729118294"/>
                    </a:ext>
                  </a:extLst>
                </a:gridCol>
                <a:gridCol w="1156527">
                  <a:extLst>
                    <a:ext uri="{9D8B030D-6E8A-4147-A177-3AD203B41FA5}">
                      <a16:colId xmlns:a16="http://schemas.microsoft.com/office/drawing/2014/main" val="1185555390"/>
                    </a:ext>
                  </a:extLst>
                </a:gridCol>
                <a:gridCol w="1156527">
                  <a:extLst>
                    <a:ext uri="{9D8B030D-6E8A-4147-A177-3AD203B41FA5}">
                      <a16:colId xmlns:a16="http://schemas.microsoft.com/office/drawing/2014/main" val="402765161"/>
                    </a:ext>
                  </a:extLst>
                </a:gridCol>
              </a:tblGrid>
              <a:tr h="548640">
                <a:tc>
                  <a:txBody>
                    <a:bodyPr/>
                    <a:lstStyle/>
                    <a:p>
                      <a:pPr algn="ctr"/>
                      <a:r>
                        <a:rPr lang="en-US" sz="1100" dirty="0"/>
                        <a:t>Sample registration date</a:t>
                      </a: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t>Sample collection date</a:t>
                      </a:r>
                    </a:p>
                  </a:txBody>
                  <a:tcPr marL="68580" marR="68580" marT="34290" marB="34290" anchor="ctr"/>
                </a:tc>
                <a:tc>
                  <a:txBody>
                    <a:bodyPr/>
                    <a:lstStyle/>
                    <a:p>
                      <a:pPr algn="ctr"/>
                      <a:r>
                        <a:rPr lang="en-US" sz="1100" dirty="0"/>
                        <a:t>Accession</a:t>
                      </a:r>
                    </a:p>
                    <a:p>
                      <a:pPr algn="ctr"/>
                      <a:r>
                        <a:rPr lang="en-US" sz="1100" dirty="0"/>
                        <a:t>(receiving)</a:t>
                      </a:r>
                    </a:p>
                  </a:txBody>
                  <a:tcPr marL="68580" marR="68580" marT="34290" marB="34290" anchor="ctr"/>
                </a:tc>
                <a:tc>
                  <a:txBody>
                    <a:bodyPr/>
                    <a:lstStyle/>
                    <a:p>
                      <a:pPr algn="ctr"/>
                      <a:r>
                        <a:rPr lang="en-US" sz="1100" dirty="0"/>
                        <a:t>Patient Name</a:t>
                      </a:r>
                    </a:p>
                  </a:txBody>
                  <a:tcPr marL="68580" marR="68580" marT="34290" marB="34290" anchor="ctr"/>
                </a:tc>
                <a:tc>
                  <a:txBody>
                    <a:bodyPr/>
                    <a:lstStyle/>
                    <a:p>
                      <a:pPr algn="ctr"/>
                      <a:r>
                        <a:rPr lang="en-US" sz="1100" dirty="0"/>
                        <a:t>Accession number</a:t>
                      </a:r>
                    </a:p>
                  </a:txBody>
                  <a:tcPr marL="68580" marR="68580" marT="34290" marB="34290" anchor="ctr"/>
                </a:tc>
                <a:tc>
                  <a:txBody>
                    <a:bodyPr/>
                    <a:lstStyle/>
                    <a:p>
                      <a:pPr algn="ctr"/>
                      <a:r>
                        <a:rPr lang="en-US" sz="1100" dirty="0"/>
                        <a:t>Workflow step</a:t>
                      </a:r>
                    </a:p>
                  </a:txBody>
                  <a:tcPr marL="68580" marR="68580" marT="34290" marB="34290" anchor="ctr"/>
                </a:tc>
                <a:tc>
                  <a:txBody>
                    <a:bodyPr/>
                    <a:lstStyle/>
                    <a:p>
                      <a:pPr algn="ctr"/>
                      <a:r>
                        <a:rPr lang="en-US" sz="1100" dirty="0"/>
                        <a:t>Notifications</a:t>
                      </a:r>
                    </a:p>
                  </a:txBody>
                  <a:tcPr marL="68580" marR="68580" marT="34290" marB="34290" anchor="ctr"/>
                </a:tc>
                <a:extLst>
                  <a:ext uri="{0D108BD9-81ED-4DB2-BD59-A6C34878D82A}">
                    <a16:rowId xmlns:a16="http://schemas.microsoft.com/office/drawing/2014/main" val="440971751"/>
                  </a:ext>
                </a:extLst>
              </a:tr>
              <a:tr h="480060">
                <a:tc>
                  <a:txBody>
                    <a:bodyPr/>
                    <a:lstStyle/>
                    <a:p>
                      <a:r>
                        <a:rPr lang="en-US" sz="900" dirty="0"/>
                        <a:t>Kit activated on</a:t>
                      </a:r>
                    </a:p>
                    <a:p>
                      <a:r>
                        <a:rPr lang="en-US" sz="900" dirty="0"/>
                        <a:t>08/10/2025</a:t>
                      </a:r>
                    </a:p>
                  </a:txBody>
                  <a:tcPr marL="68580" marR="68580" marT="34290" marB="34290"/>
                </a:tc>
                <a:tc>
                  <a:txBody>
                    <a:bodyPr/>
                    <a:lstStyle/>
                    <a:p>
                      <a:r>
                        <a:rPr lang="en-US" sz="900" dirty="0"/>
                        <a:t>Collection date</a:t>
                      </a:r>
                    </a:p>
                    <a:p>
                      <a:r>
                        <a:rPr lang="en-US" sz="900" dirty="0"/>
                        <a:t>08/22/2025</a:t>
                      </a:r>
                    </a:p>
                  </a:txBody>
                  <a:tcPr marL="68580" marR="68580" marT="34290" marB="34290"/>
                </a:tc>
                <a:tc>
                  <a:txBody>
                    <a:bodyPr/>
                    <a:lstStyle/>
                    <a:p>
                      <a:r>
                        <a:rPr lang="en-US" sz="900" dirty="0"/>
                        <a:t>08/23/2025</a:t>
                      </a:r>
                    </a:p>
                  </a:txBody>
                  <a:tcPr marL="68580" marR="68580" marT="34290" marB="34290"/>
                </a:tc>
                <a:tc>
                  <a:txBody>
                    <a:bodyPr/>
                    <a:lstStyle/>
                    <a:p>
                      <a:r>
                        <a:rPr lang="en-US" sz="900" dirty="0"/>
                        <a:t>Patricia Barbalho</a:t>
                      </a:r>
                    </a:p>
                  </a:txBody>
                  <a:tcPr marL="68580" marR="68580" marT="34290" marB="34290"/>
                </a:tc>
                <a:tc>
                  <a:txBody>
                    <a:bodyPr/>
                    <a:lstStyle/>
                    <a:p>
                      <a:r>
                        <a:rPr lang="en-US" sz="900" dirty="0"/>
                        <a:t>DIAXXXXXXXX</a:t>
                      </a:r>
                    </a:p>
                  </a:txBody>
                  <a:tcPr marL="68580" marR="68580" marT="34290" marB="34290"/>
                </a:tc>
                <a:tc>
                  <a:txBody>
                    <a:bodyPr/>
                    <a:lstStyle/>
                    <a:p>
                      <a:r>
                        <a:rPr lang="en-US" sz="900" dirty="0"/>
                        <a:t>Testing</a:t>
                      </a:r>
                    </a:p>
                  </a:txBody>
                  <a:tcPr marL="68580" marR="68580" marT="34290" marB="34290"/>
                </a:tc>
                <a:tc>
                  <a:txBody>
                    <a:bodyPr/>
                    <a:lstStyle/>
                    <a:p>
                      <a:r>
                        <a:rPr lang="en-US" sz="900" dirty="0"/>
                        <a:t>Re-testing</a:t>
                      </a:r>
                    </a:p>
                    <a:p>
                      <a:r>
                        <a:rPr lang="en-US" sz="900"/>
                        <a:t>Re-extraction</a:t>
                      </a:r>
                      <a:endParaRPr lang="en-US" sz="900" dirty="0"/>
                    </a:p>
                  </a:txBody>
                  <a:tcPr marL="68580" marR="68580" marT="34290" marB="34290"/>
                </a:tc>
                <a:extLst>
                  <a:ext uri="{0D108BD9-81ED-4DB2-BD59-A6C34878D82A}">
                    <a16:rowId xmlns:a16="http://schemas.microsoft.com/office/drawing/2014/main" val="17219445"/>
                  </a:ext>
                </a:extLst>
              </a:tr>
              <a:tr h="278130">
                <a:tc>
                  <a:txBody>
                    <a:bodyPr/>
                    <a:lstStyle/>
                    <a:p>
                      <a:endParaRPr lang="en-US" sz="900" dirty="0"/>
                    </a:p>
                  </a:txBody>
                  <a:tcPr marL="68580" marR="68580" marT="34290" marB="34290"/>
                </a:tc>
                <a:tc>
                  <a:txBody>
                    <a:bodyPr/>
                    <a:lstStyle/>
                    <a:p>
                      <a:endParaRPr lang="en-US" sz="900" dirty="0"/>
                    </a:p>
                  </a:txBody>
                  <a:tcPr marL="68580" marR="68580" marT="34290" marB="34290"/>
                </a:tc>
                <a:tc>
                  <a:txBody>
                    <a:bodyPr/>
                    <a:lstStyle/>
                    <a:p>
                      <a:endParaRPr lang="en-US" sz="900" dirty="0"/>
                    </a:p>
                  </a:txBody>
                  <a:tcPr marL="68580" marR="68580" marT="34290" marB="34290"/>
                </a:tc>
                <a:tc>
                  <a:txBody>
                    <a:bodyPr/>
                    <a:lstStyle/>
                    <a:p>
                      <a:endParaRPr lang="en-US" sz="900" dirty="0"/>
                    </a:p>
                  </a:txBody>
                  <a:tcPr marL="68580" marR="68580" marT="34290" marB="34290"/>
                </a:tc>
                <a:tc>
                  <a:txBody>
                    <a:bodyPr/>
                    <a:lstStyle/>
                    <a:p>
                      <a:endParaRPr lang="en-US" sz="900" dirty="0"/>
                    </a:p>
                  </a:txBody>
                  <a:tcPr marL="68580" marR="68580" marT="34290" marB="34290"/>
                </a:tc>
                <a:tc>
                  <a:txBody>
                    <a:bodyPr/>
                    <a:lstStyle/>
                    <a:p>
                      <a:endParaRPr lang="en-US" sz="900" dirty="0"/>
                    </a:p>
                  </a:txBody>
                  <a:tcPr marL="68580" marR="68580" marT="34290" marB="34290"/>
                </a:tc>
                <a:tc>
                  <a:txBody>
                    <a:bodyPr/>
                    <a:lstStyle/>
                    <a:p>
                      <a:endParaRPr lang="en-US" sz="900" dirty="0"/>
                    </a:p>
                  </a:txBody>
                  <a:tcPr marL="68580" marR="68580" marT="34290" marB="34290"/>
                </a:tc>
                <a:extLst>
                  <a:ext uri="{0D108BD9-81ED-4DB2-BD59-A6C34878D82A}">
                    <a16:rowId xmlns:a16="http://schemas.microsoft.com/office/drawing/2014/main" val="1427527626"/>
                  </a:ext>
                </a:extLst>
              </a:tr>
              <a:tr h="278130">
                <a:tc>
                  <a:txBody>
                    <a:bodyPr/>
                    <a:lstStyle/>
                    <a:p>
                      <a:endParaRPr lang="en-US" sz="900" dirty="0"/>
                    </a:p>
                  </a:txBody>
                  <a:tcPr marL="68580" marR="68580" marT="34290" marB="34290"/>
                </a:tc>
                <a:tc>
                  <a:txBody>
                    <a:bodyPr/>
                    <a:lstStyle/>
                    <a:p>
                      <a:endParaRPr lang="en-US" sz="900" dirty="0"/>
                    </a:p>
                  </a:txBody>
                  <a:tcPr marL="68580" marR="68580" marT="34290" marB="34290"/>
                </a:tc>
                <a:tc>
                  <a:txBody>
                    <a:bodyPr/>
                    <a:lstStyle/>
                    <a:p>
                      <a:endParaRPr lang="en-US" sz="900" dirty="0"/>
                    </a:p>
                  </a:txBody>
                  <a:tcPr marL="68580" marR="68580" marT="34290" marB="34290"/>
                </a:tc>
                <a:tc>
                  <a:txBody>
                    <a:bodyPr/>
                    <a:lstStyle/>
                    <a:p>
                      <a:endParaRPr lang="en-US" sz="900" dirty="0"/>
                    </a:p>
                  </a:txBody>
                  <a:tcPr marL="68580" marR="68580" marT="34290" marB="34290"/>
                </a:tc>
                <a:tc>
                  <a:txBody>
                    <a:bodyPr/>
                    <a:lstStyle/>
                    <a:p>
                      <a:endParaRPr lang="en-US" sz="900" dirty="0"/>
                    </a:p>
                  </a:txBody>
                  <a:tcPr marL="68580" marR="68580" marT="34290" marB="34290"/>
                </a:tc>
                <a:tc>
                  <a:txBody>
                    <a:bodyPr/>
                    <a:lstStyle/>
                    <a:p>
                      <a:endParaRPr lang="en-US" sz="900" dirty="0"/>
                    </a:p>
                  </a:txBody>
                  <a:tcPr marL="68580" marR="68580" marT="34290" marB="34290"/>
                </a:tc>
                <a:tc>
                  <a:txBody>
                    <a:bodyPr/>
                    <a:lstStyle/>
                    <a:p>
                      <a:endParaRPr lang="en-US" sz="900" dirty="0"/>
                    </a:p>
                  </a:txBody>
                  <a:tcPr marL="68580" marR="68580" marT="34290" marB="34290"/>
                </a:tc>
                <a:extLst>
                  <a:ext uri="{0D108BD9-81ED-4DB2-BD59-A6C34878D82A}">
                    <a16:rowId xmlns:a16="http://schemas.microsoft.com/office/drawing/2014/main" val="1117830652"/>
                  </a:ext>
                </a:extLst>
              </a:tr>
            </a:tbl>
          </a:graphicData>
        </a:graphic>
      </p:graphicFrame>
      <p:sp>
        <p:nvSpPr>
          <p:cNvPr id="3" name="TextBox 2">
            <a:extLst>
              <a:ext uri="{FF2B5EF4-FFF2-40B4-BE49-F238E27FC236}">
                <a16:creationId xmlns:a16="http://schemas.microsoft.com/office/drawing/2014/main" id="{E5034596-933E-CF78-1213-9C669299EBAC}"/>
              </a:ext>
            </a:extLst>
          </p:cNvPr>
          <p:cNvSpPr txBox="1"/>
          <p:nvPr/>
        </p:nvSpPr>
        <p:spPr>
          <a:xfrm>
            <a:off x="707923" y="442451"/>
            <a:ext cx="1760418" cy="253916"/>
          </a:xfrm>
          <a:prstGeom prst="rect">
            <a:avLst/>
          </a:prstGeom>
          <a:noFill/>
        </p:spPr>
        <p:txBody>
          <a:bodyPr wrap="none" rtlCol="0">
            <a:spAutoFit/>
          </a:bodyPr>
          <a:lstStyle/>
          <a:p>
            <a:r>
              <a:rPr lang="en-US" sz="1050" b="1" dirty="0"/>
              <a:t>Clinical Dashboard - Tab</a:t>
            </a:r>
          </a:p>
        </p:txBody>
      </p:sp>
      <p:sp>
        <p:nvSpPr>
          <p:cNvPr id="5" name="TextBox 4">
            <a:extLst>
              <a:ext uri="{FF2B5EF4-FFF2-40B4-BE49-F238E27FC236}">
                <a16:creationId xmlns:a16="http://schemas.microsoft.com/office/drawing/2014/main" id="{ABC91B1D-CC23-C5C6-72AC-0121B0ACDFEA}"/>
              </a:ext>
            </a:extLst>
          </p:cNvPr>
          <p:cNvSpPr txBox="1"/>
          <p:nvPr/>
        </p:nvSpPr>
        <p:spPr>
          <a:xfrm>
            <a:off x="530942" y="743087"/>
            <a:ext cx="7713405" cy="253916"/>
          </a:xfrm>
          <a:prstGeom prst="rect">
            <a:avLst/>
          </a:prstGeom>
          <a:noFill/>
        </p:spPr>
        <p:txBody>
          <a:bodyPr wrap="square">
            <a:spAutoFit/>
          </a:bodyPr>
          <a:lstStyle/>
          <a:p>
            <a:pPr marL="214313" indent="-214313">
              <a:buFont typeface="Arial" panose="020B0604020202020204" pitchFamily="34" charset="0"/>
              <a:buChar char="•"/>
            </a:pPr>
            <a:r>
              <a:rPr lang="en-US" sz="1050" dirty="0"/>
              <a:t>The Clinical Dashboard should allow us to view a list of incoming, ongoing, pending, and completed cases.</a:t>
            </a:r>
          </a:p>
        </p:txBody>
      </p:sp>
      <p:sp>
        <p:nvSpPr>
          <p:cNvPr id="6" name="TextBox 5">
            <a:extLst>
              <a:ext uri="{FF2B5EF4-FFF2-40B4-BE49-F238E27FC236}">
                <a16:creationId xmlns:a16="http://schemas.microsoft.com/office/drawing/2014/main" id="{13E22CC5-008F-BA50-8D33-8CCE070D6E46}"/>
              </a:ext>
            </a:extLst>
          </p:cNvPr>
          <p:cNvSpPr txBox="1"/>
          <p:nvPr/>
        </p:nvSpPr>
        <p:spPr>
          <a:xfrm>
            <a:off x="597311" y="3027999"/>
            <a:ext cx="2233304" cy="253916"/>
          </a:xfrm>
          <a:prstGeom prst="rect">
            <a:avLst/>
          </a:prstGeom>
          <a:noFill/>
        </p:spPr>
        <p:txBody>
          <a:bodyPr wrap="none" rtlCol="0">
            <a:spAutoFit/>
          </a:bodyPr>
          <a:lstStyle/>
          <a:p>
            <a:r>
              <a:rPr lang="en-US" sz="1050" b="1" dirty="0"/>
              <a:t>Tests analytics dashboard - Tab</a:t>
            </a:r>
          </a:p>
        </p:txBody>
      </p:sp>
      <p:graphicFrame>
        <p:nvGraphicFramePr>
          <p:cNvPr id="7" name="Table 6">
            <a:extLst>
              <a:ext uri="{FF2B5EF4-FFF2-40B4-BE49-F238E27FC236}">
                <a16:creationId xmlns:a16="http://schemas.microsoft.com/office/drawing/2014/main" id="{ED089B25-E93C-6C9E-BB13-C411A5765349}"/>
              </a:ext>
            </a:extLst>
          </p:cNvPr>
          <p:cNvGraphicFramePr>
            <a:graphicFrameLocks noGrp="1"/>
          </p:cNvGraphicFramePr>
          <p:nvPr/>
        </p:nvGraphicFramePr>
        <p:xfrm>
          <a:off x="530942" y="3934841"/>
          <a:ext cx="8001000" cy="1005840"/>
        </p:xfrm>
        <a:graphic>
          <a:graphicData uri="http://schemas.openxmlformats.org/drawingml/2006/table">
            <a:tbl>
              <a:tblPr firstRow="1" bandRow="1">
                <a:tableStyleId>{5C22544A-7EE6-4342-B048-85BDC9FD1C3A}</a:tableStyleId>
              </a:tblPr>
              <a:tblGrid>
                <a:gridCol w="2185105">
                  <a:extLst>
                    <a:ext uri="{9D8B030D-6E8A-4147-A177-3AD203B41FA5}">
                      <a16:colId xmlns:a16="http://schemas.microsoft.com/office/drawing/2014/main" val="110122033"/>
                    </a:ext>
                  </a:extLst>
                </a:gridCol>
                <a:gridCol w="1791770">
                  <a:extLst>
                    <a:ext uri="{9D8B030D-6E8A-4147-A177-3AD203B41FA5}">
                      <a16:colId xmlns:a16="http://schemas.microsoft.com/office/drawing/2014/main" val="2918422301"/>
                    </a:ext>
                  </a:extLst>
                </a:gridCol>
                <a:gridCol w="1899876">
                  <a:extLst>
                    <a:ext uri="{9D8B030D-6E8A-4147-A177-3AD203B41FA5}">
                      <a16:colId xmlns:a16="http://schemas.microsoft.com/office/drawing/2014/main" val="2457982736"/>
                    </a:ext>
                  </a:extLst>
                </a:gridCol>
                <a:gridCol w="2124249">
                  <a:extLst>
                    <a:ext uri="{9D8B030D-6E8A-4147-A177-3AD203B41FA5}">
                      <a16:colId xmlns:a16="http://schemas.microsoft.com/office/drawing/2014/main" val="2014948353"/>
                    </a:ext>
                  </a:extLst>
                </a:gridCol>
              </a:tblGrid>
              <a:tr h="388620">
                <a:tc>
                  <a:txBody>
                    <a:bodyPr/>
                    <a:lstStyle/>
                    <a:p>
                      <a:pPr algn="ctr"/>
                      <a:r>
                        <a:rPr lang="en-US" sz="1100" dirty="0"/>
                        <a:t>TAT</a:t>
                      </a: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t>Clinical and PC Historical data</a:t>
                      </a:r>
                    </a:p>
                  </a:txBody>
                  <a:tcPr marL="68580" marR="68580" marT="34290" marB="34290" anchor="ctr"/>
                </a:tc>
                <a:tc>
                  <a:txBody>
                    <a:bodyPr/>
                    <a:lstStyle/>
                    <a:p>
                      <a:pPr algn="ctr"/>
                      <a:r>
                        <a:rPr lang="en-US" sz="1100" dirty="0"/>
                        <a:t>Levy-Jennings</a:t>
                      </a:r>
                    </a:p>
                  </a:txBody>
                  <a:tcPr marL="68580" marR="68580" marT="34290" marB="34290" anchor="ctr"/>
                </a:tc>
                <a:tc>
                  <a:txBody>
                    <a:bodyPr/>
                    <a:lstStyle/>
                    <a:p>
                      <a:pPr algn="ctr"/>
                      <a:r>
                        <a:rPr lang="en-US" sz="1100" dirty="0"/>
                        <a:t>Trends</a:t>
                      </a:r>
                    </a:p>
                  </a:txBody>
                  <a:tcPr marL="68580" marR="68580" marT="34290" marB="34290" anchor="ctr"/>
                </a:tc>
                <a:extLst>
                  <a:ext uri="{0D108BD9-81ED-4DB2-BD59-A6C34878D82A}">
                    <a16:rowId xmlns:a16="http://schemas.microsoft.com/office/drawing/2014/main" val="440971751"/>
                  </a:ext>
                </a:extLst>
              </a:tr>
              <a:tr h="617220">
                <a:tc>
                  <a:txBody>
                    <a:bodyPr/>
                    <a:lstStyle/>
                    <a:p>
                      <a:r>
                        <a:rPr lang="en-US" sz="900" dirty="0"/>
                        <a:t>Option to filter by week/month/year</a:t>
                      </a:r>
                    </a:p>
                    <a:p>
                      <a:r>
                        <a:rPr lang="en-US" sz="900" dirty="0"/>
                        <a:t>By test</a:t>
                      </a:r>
                    </a:p>
                    <a:p>
                      <a:r>
                        <a:rPr lang="en-US" sz="900" dirty="0"/>
                        <a:t>By workflow step</a:t>
                      </a:r>
                    </a:p>
                    <a:p>
                      <a:endParaRPr lang="en-US" sz="900" dirty="0"/>
                    </a:p>
                  </a:txBody>
                  <a:tcPr marL="68580" marR="68580" marT="34290" marB="34290"/>
                </a:tc>
                <a:tc>
                  <a:txBody>
                    <a:bodyPr/>
                    <a:lstStyle/>
                    <a:p>
                      <a:r>
                        <a:rPr lang="en-US" sz="900" dirty="0"/>
                        <a:t>Option to filter by week/month/year and combine and/or exclude outliers</a:t>
                      </a:r>
                    </a:p>
                  </a:txBody>
                  <a:tcPr marL="68580" marR="68580" marT="34290" marB="34290"/>
                </a:tc>
                <a:tc>
                  <a:txBody>
                    <a:bodyPr/>
                    <a:lstStyle/>
                    <a:p>
                      <a:endParaRPr lang="en-US" sz="900" dirty="0"/>
                    </a:p>
                  </a:txBody>
                  <a:tcPr marL="68580" marR="68580" marT="34290" marB="34290"/>
                </a:tc>
                <a:tc>
                  <a:txBody>
                    <a:bodyPr/>
                    <a:lstStyle/>
                    <a:p>
                      <a:endParaRPr lang="en-US" sz="900" dirty="0"/>
                    </a:p>
                  </a:txBody>
                  <a:tcPr marL="68580" marR="68580" marT="34290" marB="34290"/>
                </a:tc>
                <a:extLst>
                  <a:ext uri="{0D108BD9-81ED-4DB2-BD59-A6C34878D82A}">
                    <a16:rowId xmlns:a16="http://schemas.microsoft.com/office/drawing/2014/main" val="17219445"/>
                  </a:ext>
                </a:extLst>
              </a:tr>
            </a:tbl>
          </a:graphicData>
        </a:graphic>
      </p:graphicFrame>
      <p:sp>
        <p:nvSpPr>
          <p:cNvPr id="9" name="TextBox 8">
            <a:extLst>
              <a:ext uri="{FF2B5EF4-FFF2-40B4-BE49-F238E27FC236}">
                <a16:creationId xmlns:a16="http://schemas.microsoft.com/office/drawing/2014/main" id="{F873E5A8-2576-D3E4-41BD-419E7FBC9818}"/>
              </a:ext>
            </a:extLst>
          </p:cNvPr>
          <p:cNvSpPr txBox="1"/>
          <p:nvPr/>
        </p:nvSpPr>
        <p:spPr>
          <a:xfrm>
            <a:off x="387145" y="3400217"/>
            <a:ext cx="8001000" cy="415498"/>
          </a:xfrm>
          <a:prstGeom prst="rect">
            <a:avLst/>
          </a:prstGeom>
          <a:noFill/>
        </p:spPr>
        <p:txBody>
          <a:bodyPr wrap="square">
            <a:spAutoFit/>
          </a:bodyPr>
          <a:lstStyle/>
          <a:p>
            <a:pPr marL="214313" indent="-214313">
              <a:buFont typeface="Arial" panose="020B0604020202020204" pitchFamily="34" charset="0"/>
              <a:buChar char="•"/>
            </a:pPr>
            <a:r>
              <a:rPr lang="en-US" sz="1050" dirty="0"/>
              <a:t>The Test Analytics Dashboard should display turnaround time (TAT), clinical and PC historical data, Levey-Jennings charts, trends, and other key metrics.</a:t>
            </a:r>
          </a:p>
        </p:txBody>
      </p:sp>
    </p:spTree>
    <p:extLst>
      <p:ext uri="{BB962C8B-B14F-4D97-AF65-F5344CB8AC3E}">
        <p14:creationId xmlns:p14="http://schemas.microsoft.com/office/powerpoint/2010/main" val="32144876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A6F472AF-CB7F-6D33-CBE7-E7B2B9FA2C95}"/>
              </a:ext>
            </a:extLst>
          </p:cNvPr>
          <p:cNvGraphicFramePr/>
          <p:nvPr/>
        </p:nvGraphicFramePr>
        <p:xfrm>
          <a:off x="222849" y="-1414134"/>
          <a:ext cx="8698302" cy="46037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ECFFB4F8-1C4B-ACD3-FD0A-7171B0650313}"/>
              </a:ext>
            </a:extLst>
          </p:cNvPr>
          <p:cNvSpPr txBox="1"/>
          <p:nvPr/>
        </p:nvSpPr>
        <p:spPr>
          <a:xfrm>
            <a:off x="656303" y="1614948"/>
            <a:ext cx="3584956" cy="415498"/>
          </a:xfrm>
          <a:prstGeom prst="rect">
            <a:avLst/>
          </a:prstGeom>
          <a:noFill/>
        </p:spPr>
        <p:txBody>
          <a:bodyPr wrap="none" rtlCol="0">
            <a:spAutoFit/>
          </a:bodyPr>
          <a:lstStyle/>
          <a:p>
            <a:pPr marL="214313" indent="-214313">
              <a:buFont typeface="Arial" panose="020B0604020202020204" pitchFamily="34" charset="0"/>
              <a:buChar char="•"/>
            </a:pPr>
            <a:r>
              <a:rPr lang="en-US" sz="1050" dirty="0"/>
              <a:t>When the kit was registered on the website</a:t>
            </a:r>
          </a:p>
          <a:p>
            <a:pPr marL="214313" indent="-214313">
              <a:buFont typeface="Arial" panose="020B0604020202020204" pitchFamily="34" charset="0"/>
              <a:buChar char="•"/>
            </a:pPr>
            <a:r>
              <a:rPr lang="en-US" sz="1050" dirty="0"/>
              <a:t>Enables forecasting of required lab supplies/reagents</a:t>
            </a:r>
          </a:p>
        </p:txBody>
      </p:sp>
      <p:sp>
        <p:nvSpPr>
          <p:cNvPr id="4" name="TextBox 3">
            <a:extLst>
              <a:ext uri="{FF2B5EF4-FFF2-40B4-BE49-F238E27FC236}">
                <a16:creationId xmlns:a16="http://schemas.microsoft.com/office/drawing/2014/main" id="{25F089BD-ACCE-6CC6-E463-AB5AA3502450}"/>
              </a:ext>
            </a:extLst>
          </p:cNvPr>
          <p:cNvSpPr txBox="1"/>
          <p:nvPr/>
        </p:nvSpPr>
        <p:spPr>
          <a:xfrm>
            <a:off x="222849" y="248028"/>
            <a:ext cx="6910866" cy="253916"/>
          </a:xfrm>
          <a:prstGeom prst="rect">
            <a:avLst/>
          </a:prstGeom>
          <a:noFill/>
        </p:spPr>
        <p:txBody>
          <a:bodyPr wrap="none" rtlCol="0">
            <a:spAutoFit/>
          </a:bodyPr>
          <a:lstStyle/>
          <a:p>
            <a:r>
              <a:rPr lang="en-US" sz="1050" dirty="0"/>
              <a:t>Once you select the patient’s name or accession number, the complete workflow for that patient will be displayed</a:t>
            </a:r>
          </a:p>
        </p:txBody>
      </p:sp>
    </p:spTree>
    <p:extLst>
      <p:ext uri="{BB962C8B-B14F-4D97-AF65-F5344CB8AC3E}">
        <p14:creationId xmlns:p14="http://schemas.microsoft.com/office/powerpoint/2010/main" val="17771046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7BB40-910F-A418-BA18-9B91D70AAF20}"/>
            </a:ext>
          </a:extLst>
        </p:cNvPr>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C388AF64-9462-AEA3-2D20-0301AE1F18BF}"/>
              </a:ext>
            </a:extLst>
          </p:cNvPr>
          <p:cNvGraphicFramePr/>
          <p:nvPr/>
        </p:nvGraphicFramePr>
        <p:xfrm>
          <a:off x="222849" y="-1414134"/>
          <a:ext cx="8698302" cy="46037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A76E4443-BFE0-4424-5B12-6D8107447CD5}"/>
              </a:ext>
            </a:extLst>
          </p:cNvPr>
          <p:cNvSpPr txBox="1"/>
          <p:nvPr/>
        </p:nvSpPr>
        <p:spPr>
          <a:xfrm>
            <a:off x="656303" y="1614948"/>
            <a:ext cx="3823804" cy="415498"/>
          </a:xfrm>
          <a:prstGeom prst="rect">
            <a:avLst/>
          </a:prstGeom>
          <a:noFill/>
        </p:spPr>
        <p:txBody>
          <a:bodyPr wrap="none" rtlCol="0">
            <a:spAutoFit/>
          </a:bodyPr>
          <a:lstStyle/>
          <a:p>
            <a:pPr marL="214313" indent="-214313">
              <a:buFont typeface="Arial" panose="020B0604020202020204" pitchFamily="34" charset="0"/>
              <a:buChar char="•"/>
            </a:pPr>
            <a:r>
              <a:rPr lang="en-US" sz="1050" dirty="0"/>
              <a:t>Logged when the sample was collected by MOMS.</a:t>
            </a:r>
          </a:p>
          <a:p>
            <a:pPr marL="557213" lvl="1" indent="-214313">
              <a:buFont typeface="Arial" panose="020B0604020202020204" pitchFamily="34" charset="0"/>
              <a:buChar char="•"/>
            </a:pPr>
            <a:r>
              <a:rPr lang="en-US" sz="1050" dirty="0"/>
              <a:t>Helps predict when the sample will arrive at the lab.</a:t>
            </a:r>
          </a:p>
        </p:txBody>
      </p:sp>
    </p:spTree>
    <p:extLst>
      <p:ext uri="{BB962C8B-B14F-4D97-AF65-F5344CB8AC3E}">
        <p14:creationId xmlns:p14="http://schemas.microsoft.com/office/powerpoint/2010/main" val="2456659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8EA24-175A-816F-73F4-719CEDC67707}"/>
            </a:ext>
          </a:extLst>
        </p:cNvPr>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BCC677AF-CB5D-D395-7D8D-443789E3C5B1}"/>
              </a:ext>
            </a:extLst>
          </p:cNvPr>
          <p:cNvGraphicFramePr/>
          <p:nvPr/>
        </p:nvGraphicFramePr>
        <p:xfrm>
          <a:off x="222849" y="-1414134"/>
          <a:ext cx="8698302" cy="46037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B9278B9B-70F5-D4CE-EE1E-2CD79B4B91B6}"/>
              </a:ext>
            </a:extLst>
          </p:cNvPr>
          <p:cNvSpPr txBox="1"/>
          <p:nvPr/>
        </p:nvSpPr>
        <p:spPr>
          <a:xfrm>
            <a:off x="656304" y="1614949"/>
            <a:ext cx="5555047" cy="2354491"/>
          </a:xfrm>
          <a:prstGeom prst="rect">
            <a:avLst/>
          </a:prstGeom>
          <a:noFill/>
        </p:spPr>
        <p:txBody>
          <a:bodyPr wrap="none" rtlCol="0">
            <a:spAutoFit/>
          </a:bodyPr>
          <a:lstStyle/>
          <a:p>
            <a:pPr marL="214313" indent="-214313">
              <a:buFont typeface="Arial" panose="020B0604020202020204" pitchFamily="34" charset="0"/>
              <a:buChar char="•"/>
            </a:pPr>
            <a:r>
              <a:rPr lang="en-US" sz="1050" dirty="0"/>
              <a:t>When the sample is received in the lab, barcode ID enter in the system. </a:t>
            </a:r>
          </a:p>
          <a:p>
            <a:pPr marL="214313" indent="-214313">
              <a:buFont typeface="Arial" panose="020B0604020202020204" pitchFamily="34" charset="0"/>
              <a:buChar char="•"/>
            </a:pPr>
            <a:r>
              <a:rPr lang="en-US" sz="1050" dirty="0"/>
              <a:t>System should allow assignment of Reject Status based on criteria:</a:t>
            </a:r>
          </a:p>
          <a:p>
            <a:pPr marL="557213" lvl="1" indent="-214313">
              <a:buFont typeface="Arial" panose="020B0604020202020204" pitchFamily="34" charset="0"/>
              <a:buChar char="•"/>
            </a:pPr>
            <a:r>
              <a:rPr lang="en-US" sz="1050" b="1" dirty="0"/>
              <a:t>Sample Type:</a:t>
            </a:r>
            <a:r>
              <a:rPr lang="en-US" sz="1050" dirty="0"/>
              <a:t> Any tube other than SST (serum separator tube).</a:t>
            </a:r>
          </a:p>
          <a:p>
            <a:pPr marL="557213" lvl="1" indent="-214313">
              <a:buFont typeface="Arial" panose="020B0604020202020204" pitchFamily="34" charset="0"/>
              <a:buChar char="•"/>
            </a:pPr>
            <a:r>
              <a:rPr lang="en-US" sz="1050" b="1" dirty="0"/>
              <a:t>Sample Volume:</a:t>
            </a:r>
            <a:r>
              <a:rPr lang="en-US" sz="1050" dirty="0"/>
              <a:t> Insufficient volume (&lt;2 mL serum / &lt;5 mL whole blood).</a:t>
            </a:r>
          </a:p>
          <a:p>
            <a:pPr marL="557213" lvl="1" indent="-214313">
              <a:buFont typeface="Arial" panose="020B0604020202020204" pitchFamily="34" charset="0"/>
              <a:buChar char="•"/>
            </a:pPr>
            <a:r>
              <a:rPr lang="en-US" sz="1050" b="1" dirty="0"/>
              <a:t>Labeling/ID:</a:t>
            </a:r>
            <a:r>
              <a:rPr lang="en-US" sz="1050" dirty="0"/>
              <a:t> Unlabeled, mislabeled, illegible, missing, or mismatched identifiers.</a:t>
            </a:r>
          </a:p>
          <a:p>
            <a:pPr marL="557213" lvl="1" indent="-214313">
              <a:buFont typeface="Arial" panose="020B0604020202020204" pitchFamily="34" charset="0"/>
              <a:buChar char="•"/>
            </a:pPr>
            <a:r>
              <a:rPr lang="en-US" sz="1050" b="1" dirty="0"/>
              <a:t>Severe Hemolysis:</a:t>
            </a:r>
            <a:r>
              <a:rPr lang="en-US" sz="1050" dirty="0"/>
              <a:t> Dark red/brown serum indicating severe hemolysis.</a:t>
            </a:r>
          </a:p>
          <a:p>
            <a:pPr marL="557213" lvl="1" indent="-214313">
              <a:buFont typeface="Arial" panose="020B0604020202020204" pitchFamily="34" charset="0"/>
              <a:buChar char="•"/>
            </a:pPr>
            <a:r>
              <a:rPr lang="en-US" sz="1050" b="1" dirty="0"/>
              <a:t>Significant Clotting:</a:t>
            </a:r>
            <a:r>
              <a:rPr lang="en-US" sz="1050" dirty="0"/>
              <a:t> Large or obstructive clots in serum.</a:t>
            </a:r>
          </a:p>
          <a:p>
            <a:pPr marL="557213" lvl="1" indent="-214313">
              <a:buFont typeface="Arial" panose="020B0604020202020204" pitchFamily="34" charset="0"/>
              <a:buChar char="•"/>
            </a:pPr>
            <a:r>
              <a:rPr lang="en-US" sz="1050" b="1" dirty="0"/>
              <a:t>Delayed Transit:</a:t>
            </a:r>
            <a:r>
              <a:rPr lang="en-US" sz="1050" dirty="0"/>
              <a:t> Sample received &gt;5 days after collection.</a:t>
            </a:r>
          </a:p>
          <a:p>
            <a:pPr marL="557213" lvl="1" indent="-214313">
              <a:buFont typeface="Arial" panose="020B0604020202020204" pitchFamily="34" charset="0"/>
              <a:buChar char="•"/>
            </a:pPr>
            <a:r>
              <a:rPr lang="en-US" sz="1050" b="1" dirty="0"/>
              <a:t>Temperature Control:</a:t>
            </a:r>
            <a:r>
              <a:rPr lang="en-US" sz="1050" dirty="0"/>
              <a:t> Missing ice pack or shipment received warm.</a:t>
            </a:r>
          </a:p>
          <a:p>
            <a:pPr marL="557213" lvl="1" indent="-214313">
              <a:buFont typeface="Arial" panose="020B0604020202020204" pitchFamily="34" charset="0"/>
              <a:buChar char="•"/>
            </a:pPr>
            <a:r>
              <a:rPr lang="en-US" sz="1050" b="1" dirty="0"/>
              <a:t>Tube Integrity:</a:t>
            </a:r>
            <a:r>
              <a:rPr lang="en-US" sz="1050" dirty="0"/>
              <a:t> Any leaking tube, even if others in the kit remain intact.</a:t>
            </a:r>
          </a:p>
          <a:p>
            <a:pPr marL="557213" lvl="1" indent="-214313">
              <a:buFont typeface="Arial" panose="020B0604020202020204" pitchFamily="34" charset="0"/>
              <a:buChar char="•"/>
            </a:pPr>
            <a:r>
              <a:rPr lang="en-US" sz="1050" b="1" dirty="0"/>
              <a:t>Expired Kit/Tubes:</a:t>
            </a:r>
            <a:r>
              <a:rPr lang="en-US" sz="1050" dirty="0"/>
              <a:t> Used &gt;6 months past shipping date.</a:t>
            </a:r>
          </a:p>
          <a:p>
            <a:pPr marL="214313" indent="-214313">
              <a:buFont typeface="Arial" panose="020B0604020202020204" pitchFamily="34" charset="0"/>
              <a:buChar char="•"/>
            </a:pPr>
            <a:r>
              <a:rPr lang="en-US" sz="1050" dirty="0"/>
              <a:t>Select the test type (Diabetes)</a:t>
            </a:r>
          </a:p>
          <a:p>
            <a:pPr marL="214313" indent="-214313">
              <a:buFont typeface="Arial" panose="020B0604020202020204" pitchFamily="34" charset="0"/>
              <a:buChar char="•"/>
            </a:pPr>
            <a:r>
              <a:rPr lang="en-US" sz="1050" dirty="0"/>
              <a:t>Diabetes test: Molecular and Chemistry</a:t>
            </a:r>
          </a:p>
          <a:p>
            <a:pPr marL="214313" indent="-214313">
              <a:buFont typeface="Arial" panose="020B0604020202020204" pitchFamily="34" charset="0"/>
              <a:buChar char="•"/>
            </a:pPr>
            <a:endParaRPr lang="en-US" sz="1050" dirty="0"/>
          </a:p>
        </p:txBody>
      </p:sp>
    </p:spTree>
    <p:extLst>
      <p:ext uri="{BB962C8B-B14F-4D97-AF65-F5344CB8AC3E}">
        <p14:creationId xmlns:p14="http://schemas.microsoft.com/office/powerpoint/2010/main" val="671600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12830-9C04-5E40-B04D-6E45078BE087}"/>
            </a:ext>
          </a:extLst>
        </p:cNvPr>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72E6194A-69D9-FA17-258B-910267FFFECE}"/>
              </a:ext>
            </a:extLst>
          </p:cNvPr>
          <p:cNvGraphicFramePr/>
          <p:nvPr/>
        </p:nvGraphicFramePr>
        <p:xfrm>
          <a:off x="222849" y="-1414134"/>
          <a:ext cx="8698302" cy="46037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21A1BDEF-5077-B9D6-54B5-C5C9A56C2746}"/>
              </a:ext>
            </a:extLst>
          </p:cNvPr>
          <p:cNvSpPr txBox="1"/>
          <p:nvPr/>
        </p:nvSpPr>
        <p:spPr>
          <a:xfrm>
            <a:off x="656304" y="1614948"/>
            <a:ext cx="3483967" cy="738664"/>
          </a:xfrm>
          <a:prstGeom prst="rect">
            <a:avLst/>
          </a:prstGeom>
          <a:noFill/>
        </p:spPr>
        <p:txBody>
          <a:bodyPr wrap="none" rtlCol="0">
            <a:spAutoFit/>
          </a:bodyPr>
          <a:lstStyle/>
          <a:p>
            <a:pPr marL="214313" indent="-214313">
              <a:buFont typeface="Arial" panose="020B0604020202020204" pitchFamily="34" charset="0"/>
              <a:buChar char="•"/>
            </a:pPr>
            <a:r>
              <a:rPr lang="en-US" sz="1050" dirty="0"/>
              <a:t>LIS should display which testing type is in progress:</a:t>
            </a:r>
          </a:p>
          <a:p>
            <a:pPr marL="557213" lvl="1" indent="-214313">
              <a:buFont typeface="Arial" panose="020B0604020202020204" pitchFamily="34" charset="0"/>
              <a:buChar char="•"/>
            </a:pPr>
            <a:r>
              <a:rPr lang="en-US" sz="1050" b="1" dirty="0"/>
              <a:t>Molecular</a:t>
            </a:r>
            <a:endParaRPr lang="en-US" sz="1050" dirty="0"/>
          </a:p>
          <a:p>
            <a:pPr marL="557213" lvl="1" indent="-214313">
              <a:buFont typeface="Arial" panose="020B0604020202020204" pitchFamily="34" charset="0"/>
              <a:buChar char="•"/>
            </a:pPr>
            <a:r>
              <a:rPr lang="en-US" sz="1050" b="1" dirty="0"/>
              <a:t>Chemistry</a:t>
            </a:r>
            <a:endParaRPr lang="en-US" sz="1050" dirty="0"/>
          </a:p>
          <a:p>
            <a:pPr marL="214313" indent="-214313">
              <a:buFont typeface="Arial" panose="020B0604020202020204" pitchFamily="34" charset="0"/>
              <a:buChar char="•"/>
            </a:pPr>
            <a:endParaRPr lang="en-US" sz="1050" dirty="0"/>
          </a:p>
        </p:txBody>
      </p:sp>
    </p:spTree>
    <p:extLst>
      <p:ext uri="{BB962C8B-B14F-4D97-AF65-F5344CB8AC3E}">
        <p14:creationId xmlns:p14="http://schemas.microsoft.com/office/powerpoint/2010/main" val="440751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B051A-424D-7412-B9F0-EFEE011DBE63}"/>
            </a:ext>
          </a:extLst>
        </p:cNvPr>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4A9EE431-E82B-23A6-FF71-A2D40A5CC91A}"/>
              </a:ext>
            </a:extLst>
          </p:cNvPr>
          <p:cNvGraphicFramePr/>
          <p:nvPr/>
        </p:nvGraphicFramePr>
        <p:xfrm>
          <a:off x="222849" y="-1414134"/>
          <a:ext cx="8698302" cy="46037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4B12710A-CA71-717C-80FE-DC1FD485B823}"/>
              </a:ext>
            </a:extLst>
          </p:cNvPr>
          <p:cNvSpPr txBox="1"/>
          <p:nvPr/>
        </p:nvSpPr>
        <p:spPr>
          <a:xfrm>
            <a:off x="656304" y="1614948"/>
            <a:ext cx="7954297" cy="2516073"/>
          </a:xfrm>
          <a:prstGeom prst="rect">
            <a:avLst/>
          </a:prstGeom>
          <a:noFill/>
        </p:spPr>
        <p:txBody>
          <a:bodyPr wrap="square" rtlCol="0">
            <a:spAutoFit/>
          </a:bodyPr>
          <a:lstStyle/>
          <a:p>
            <a:pPr marL="214313" indent="-214313">
              <a:buFont typeface="Arial" panose="020B0604020202020204" pitchFamily="34" charset="0"/>
              <a:buChar char="•"/>
            </a:pPr>
            <a:r>
              <a:rPr lang="en-US" sz="1050" b="1" dirty="0"/>
              <a:t>Molecular</a:t>
            </a:r>
          </a:p>
          <a:p>
            <a:pPr marL="557213" lvl="1" indent="-214313">
              <a:buFont typeface="Arial" panose="020B0604020202020204" pitchFamily="34" charset="0"/>
              <a:buChar char="•"/>
            </a:pPr>
            <a:r>
              <a:rPr lang="en-US" sz="1050" dirty="0"/>
              <a:t>QC check visibility (pass/fail).</a:t>
            </a:r>
          </a:p>
          <a:p>
            <a:pPr marL="557213" lvl="1" indent="-214313">
              <a:buFont typeface="Arial" panose="020B0604020202020204" pitchFamily="34" charset="0"/>
              <a:buChar char="•"/>
            </a:pPr>
            <a:r>
              <a:rPr lang="en-US" sz="1050" dirty="0"/>
              <a:t>If a sample fails → re-test (re-extraction).</a:t>
            </a:r>
          </a:p>
          <a:p>
            <a:pPr marL="557213" lvl="1" indent="-214313">
              <a:buFont typeface="Arial" panose="020B0604020202020204" pitchFamily="34" charset="0"/>
              <a:buChar char="•"/>
            </a:pPr>
            <a:r>
              <a:rPr lang="en-US" sz="1050" dirty="0"/>
              <a:t>If failure occurs again (2nd attempt) → automatic notification to Customer Service to request recollection.</a:t>
            </a:r>
          </a:p>
          <a:p>
            <a:pPr marL="214313" indent="-214313">
              <a:buFont typeface="Arial" panose="020B0604020202020204" pitchFamily="34" charset="0"/>
              <a:buChar char="•"/>
            </a:pPr>
            <a:endParaRPr lang="en-US" sz="1050" b="1" dirty="0"/>
          </a:p>
          <a:p>
            <a:pPr marL="214313" indent="-214313">
              <a:buFont typeface="Arial" panose="020B0604020202020204" pitchFamily="34" charset="0"/>
              <a:buChar char="•"/>
            </a:pPr>
            <a:r>
              <a:rPr lang="en-US" sz="1050" b="1" dirty="0"/>
              <a:t>Chemistry</a:t>
            </a:r>
          </a:p>
          <a:p>
            <a:pPr marL="557213" lvl="1" indent="-214313">
              <a:buFont typeface="Arial" panose="020B0604020202020204" pitchFamily="34" charset="0"/>
              <a:buChar char="•"/>
            </a:pPr>
            <a:r>
              <a:rPr lang="en-US" sz="1050" dirty="0"/>
              <a:t>QC check visibility (pass/fail).</a:t>
            </a:r>
          </a:p>
          <a:p>
            <a:pPr marL="557213" lvl="1" indent="-214313">
              <a:buFont typeface="Arial" panose="020B0604020202020204" pitchFamily="34" charset="0"/>
              <a:buChar char="•"/>
            </a:pPr>
            <a:r>
              <a:rPr lang="en-US" sz="1050" dirty="0"/>
              <a:t>If a sample fails → re-test (re-extraction).</a:t>
            </a:r>
          </a:p>
          <a:p>
            <a:pPr marL="557213" lvl="1" indent="-214313">
              <a:buFont typeface="Arial" panose="020B0604020202020204" pitchFamily="34" charset="0"/>
              <a:buChar char="•"/>
            </a:pPr>
            <a:r>
              <a:rPr lang="en-US" sz="1050" dirty="0"/>
              <a:t>If failure occurs again (2nd attempt) → automatic notification to Customer Service to request recollection.</a:t>
            </a:r>
          </a:p>
          <a:p>
            <a:pPr marL="557213" lvl="1" indent="-214313">
              <a:buFont typeface="Arial" panose="020B0604020202020204" pitchFamily="34" charset="0"/>
              <a:buChar char="•"/>
            </a:pPr>
            <a:endParaRPr lang="en-US" sz="1050" dirty="0"/>
          </a:p>
          <a:p>
            <a:pPr lvl="0"/>
            <a:r>
              <a:rPr lang="en-US" sz="1050" dirty="0"/>
              <a:t>If a sample fails in any test → option to mark as </a:t>
            </a:r>
            <a:r>
              <a:rPr lang="en-US" sz="1050" b="1" dirty="0"/>
              <a:t>Testing on Hold / Awaiting Recollection</a:t>
            </a:r>
            <a:r>
              <a:rPr lang="en-US" sz="1050" dirty="0"/>
              <a:t>.</a:t>
            </a:r>
          </a:p>
          <a:p>
            <a:pPr lvl="0"/>
            <a:r>
              <a:rPr lang="en-US" sz="1050" dirty="0"/>
              <a:t>System should display </a:t>
            </a:r>
            <a:r>
              <a:rPr lang="en-US" sz="1050" b="1" dirty="0"/>
              <a:t>TAT per test</a:t>
            </a:r>
            <a:r>
              <a:rPr lang="en-US" sz="1050" dirty="0"/>
              <a:t>.</a:t>
            </a:r>
          </a:p>
          <a:p>
            <a:pPr marL="557213" lvl="1" indent="-214313">
              <a:buFont typeface="Arial" panose="020B0604020202020204" pitchFamily="34" charset="0"/>
              <a:buChar char="•"/>
            </a:pPr>
            <a:endParaRPr lang="en-US" sz="1050" dirty="0"/>
          </a:p>
          <a:p>
            <a:pPr lvl="1"/>
            <a:endParaRPr lang="en-US" sz="1050" dirty="0"/>
          </a:p>
          <a:p>
            <a:pPr marL="214313" indent="-214313">
              <a:buFont typeface="Arial" panose="020B0604020202020204" pitchFamily="34" charset="0"/>
              <a:buChar char="•"/>
            </a:pPr>
            <a:endParaRPr lang="en-US" sz="1050" dirty="0"/>
          </a:p>
        </p:txBody>
      </p:sp>
    </p:spTree>
    <p:extLst>
      <p:ext uri="{BB962C8B-B14F-4D97-AF65-F5344CB8AC3E}">
        <p14:creationId xmlns:p14="http://schemas.microsoft.com/office/powerpoint/2010/main" val="40832738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AFB8A-C377-1F54-8614-3DB4042A430B}"/>
            </a:ext>
          </a:extLst>
        </p:cNvPr>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722A8ED4-43C4-91CC-7ECE-22A3AB1F5E1A}"/>
              </a:ext>
            </a:extLst>
          </p:cNvPr>
          <p:cNvGraphicFramePr/>
          <p:nvPr/>
        </p:nvGraphicFramePr>
        <p:xfrm>
          <a:off x="222849" y="-1414134"/>
          <a:ext cx="8698302" cy="46037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0A88FE38-5851-EBEA-84EE-922CF5E41814}"/>
              </a:ext>
            </a:extLst>
          </p:cNvPr>
          <p:cNvSpPr txBox="1"/>
          <p:nvPr/>
        </p:nvSpPr>
        <p:spPr>
          <a:xfrm>
            <a:off x="656304" y="1614949"/>
            <a:ext cx="7954297" cy="1869743"/>
          </a:xfrm>
          <a:prstGeom prst="rect">
            <a:avLst/>
          </a:prstGeom>
          <a:noFill/>
        </p:spPr>
        <p:txBody>
          <a:bodyPr wrap="square" rtlCol="0">
            <a:spAutoFit/>
          </a:bodyPr>
          <a:lstStyle/>
          <a:p>
            <a:pPr marL="214313" indent="-214313">
              <a:buFont typeface="Arial" panose="020B0604020202020204" pitchFamily="34" charset="0"/>
              <a:buChar char="•"/>
            </a:pPr>
            <a:r>
              <a:rPr lang="en-US" sz="1050" dirty="0"/>
              <a:t>Results pending review by Lab Director.</a:t>
            </a:r>
          </a:p>
          <a:p>
            <a:pPr lvl="0"/>
            <a:endParaRPr lang="en-US" sz="1050" dirty="0"/>
          </a:p>
          <a:p>
            <a:pPr marL="214313" indent="-214313">
              <a:buFont typeface="Arial" panose="020B0604020202020204" pitchFamily="34" charset="0"/>
              <a:buChar char="•"/>
            </a:pPr>
            <a:r>
              <a:rPr lang="en-US" sz="1050" dirty="0"/>
              <a:t>LIS should include cross-check mechanisms:</a:t>
            </a:r>
          </a:p>
          <a:p>
            <a:pPr lvl="0"/>
            <a:endParaRPr lang="en-US" sz="1050" dirty="0"/>
          </a:p>
          <a:p>
            <a:pPr marL="557213" lvl="1" indent="-214313">
              <a:buFont typeface="Courier New" panose="02070309020205020404" pitchFamily="49" charset="0"/>
              <a:buChar char="o"/>
            </a:pPr>
            <a:r>
              <a:rPr lang="en-US" sz="1050" dirty="0"/>
              <a:t>Compare chemistry and molecular results to support interpretation. Flag any inconsistencies.</a:t>
            </a:r>
          </a:p>
          <a:p>
            <a:pPr marL="557213" lvl="1" indent="-214313">
              <a:buFont typeface="Courier New" panose="02070309020205020404" pitchFamily="49" charset="0"/>
              <a:buChar char="o"/>
            </a:pPr>
            <a:r>
              <a:rPr lang="en-US" sz="1050" dirty="0"/>
              <a:t>Cross-reference with medications listed by the patient to identify possible interactions.</a:t>
            </a:r>
          </a:p>
          <a:p>
            <a:pPr lvl="1"/>
            <a:endParaRPr lang="en-US" sz="1050" dirty="0"/>
          </a:p>
          <a:p>
            <a:pPr marL="214313" indent="-214313">
              <a:buFont typeface="Arial" panose="020B0604020202020204" pitchFamily="34" charset="0"/>
              <a:buChar char="•"/>
            </a:pPr>
            <a:r>
              <a:rPr lang="en-US" sz="1050" dirty="0"/>
              <a:t>Should display </a:t>
            </a:r>
            <a:r>
              <a:rPr lang="en-US" sz="1050" b="1" dirty="0"/>
              <a:t>TAT from test completion to interpretation</a:t>
            </a:r>
            <a:r>
              <a:rPr lang="en-US" sz="1050" dirty="0"/>
              <a:t>.</a:t>
            </a:r>
          </a:p>
          <a:p>
            <a:pPr marL="557213" lvl="1" indent="-214313">
              <a:buFont typeface="Arial" panose="020B0604020202020204" pitchFamily="34" charset="0"/>
              <a:buChar char="•"/>
            </a:pPr>
            <a:endParaRPr lang="en-US" sz="1050" dirty="0"/>
          </a:p>
          <a:p>
            <a:pPr lvl="1"/>
            <a:endParaRPr lang="en-US" sz="1050" dirty="0"/>
          </a:p>
          <a:p>
            <a:pPr marL="214313" indent="-214313">
              <a:buFont typeface="Arial" panose="020B0604020202020204" pitchFamily="34" charset="0"/>
              <a:buChar char="•"/>
            </a:pPr>
            <a:endParaRPr lang="en-US" sz="1050" dirty="0"/>
          </a:p>
        </p:txBody>
      </p:sp>
    </p:spTree>
    <p:extLst>
      <p:ext uri="{BB962C8B-B14F-4D97-AF65-F5344CB8AC3E}">
        <p14:creationId xmlns:p14="http://schemas.microsoft.com/office/powerpoint/2010/main" val="4901455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8B831-C064-589C-F40A-9F21BE6B3D57}"/>
            </a:ext>
          </a:extLst>
        </p:cNvPr>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92C69351-75C8-E5BC-D327-80B82EDE0475}"/>
              </a:ext>
            </a:extLst>
          </p:cNvPr>
          <p:cNvGraphicFramePr/>
          <p:nvPr/>
        </p:nvGraphicFramePr>
        <p:xfrm>
          <a:off x="222849" y="-1414134"/>
          <a:ext cx="8698302" cy="46037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D7F4C09D-8352-AF74-202E-6C5ECAD43841}"/>
              </a:ext>
            </a:extLst>
          </p:cNvPr>
          <p:cNvSpPr txBox="1"/>
          <p:nvPr/>
        </p:nvSpPr>
        <p:spPr>
          <a:xfrm>
            <a:off x="656304" y="1614948"/>
            <a:ext cx="7954297" cy="1061829"/>
          </a:xfrm>
          <a:prstGeom prst="rect">
            <a:avLst/>
          </a:prstGeom>
          <a:noFill/>
        </p:spPr>
        <p:txBody>
          <a:bodyPr wrap="square" rtlCol="0">
            <a:spAutoFit/>
          </a:bodyPr>
          <a:lstStyle/>
          <a:p>
            <a:pPr marL="214313" indent="-214313">
              <a:buFont typeface="Arial" panose="020B0604020202020204" pitchFamily="34" charset="0"/>
              <a:buChar char="•"/>
            </a:pPr>
            <a:r>
              <a:rPr lang="en-US" sz="1050" b="1" dirty="0"/>
              <a:t>Full Report:</a:t>
            </a:r>
            <a:r>
              <a:rPr lang="en-US" sz="1050" dirty="0"/>
              <a:t> Combined chemistry + molecular.</a:t>
            </a:r>
          </a:p>
          <a:p>
            <a:pPr marL="214313" indent="-214313">
              <a:buFont typeface="Arial" panose="020B0604020202020204" pitchFamily="34" charset="0"/>
              <a:buChar char="•"/>
            </a:pPr>
            <a:r>
              <a:rPr lang="en-US" sz="1050" b="1" dirty="0"/>
              <a:t>Partial Report:</a:t>
            </a:r>
            <a:r>
              <a:rPr lang="en-US" sz="1050" dirty="0"/>
              <a:t> Chemistry only or molecular only.</a:t>
            </a:r>
          </a:p>
          <a:p>
            <a:pPr marL="214313" indent="-214313">
              <a:buFont typeface="Arial" panose="020B0604020202020204" pitchFamily="34" charset="0"/>
              <a:buChar char="•"/>
            </a:pPr>
            <a:r>
              <a:rPr lang="en-US" sz="1050" dirty="0"/>
              <a:t>Once the report has been generated and released, the case is marked as </a:t>
            </a:r>
            <a:r>
              <a:rPr lang="en-US" sz="1050" b="1" dirty="0"/>
              <a:t>Completed</a:t>
            </a:r>
          </a:p>
          <a:p>
            <a:pPr marL="214313" indent="-214313">
              <a:buFont typeface="Arial" panose="020B0604020202020204" pitchFamily="34" charset="0"/>
              <a:buChar char="•"/>
            </a:pPr>
            <a:r>
              <a:rPr lang="en-US" sz="1050" dirty="0"/>
              <a:t>LIS should timestamp completion and archive records for compliance/audit purposes.</a:t>
            </a:r>
          </a:p>
          <a:p>
            <a:pPr marL="214313" indent="-214313">
              <a:buFont typeface="Arial" panose="020B0604020202020204" pitchFamily="34" charset="0"/>
              <a:buChar char="•"/>
            </a:pPr>
            <a:endParaRPr lang="en-US" sz="1050" dirty="0"/>
          </a:p>
          <a:p>
            <a:pPr lvl="0"/>
            <a:endParaRPr lang="en-US" sz="1050" dirty="0"/>
          </a:p>
        </p:txBody>
      </p:sp>
    </p:spTree>
    <p:extLst>
      <p:ext uri="{BB962C8B-B14F-4D97-AF65-F5344CB8AC3E}">
        <p14:creationId xmlns:p14="http://schemas.microsoft.com/office/powerpoint/2010/main" val="8285986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AC97B-A2F5-7CE1-7D9C-A84951356F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D41457-14A4-8A14-5814-39AFAA1016AA}"/>
              </a:ext>
            </a:extLst>
          </p:cNvPr>
          <p:cNvSpPr>
            <a:spLocks noGrp="1"/>
          </p:cNvSpPr>
          <p:nvPr>
            <p:ph type="title"/>
          </p:nvPr>
        </p:nvSpPr>
        <p:spPr>
          <a:xfrm>
            <a:off x="311700" y="1999050"/>
            <a:ext cx="8520600" cy="572700"/>
          </a:xfrm>
        </p:spPr>
        <p:txBody>
          <a:bodyPr>
            <a:normAutofit fontScale="90000"/>
          </a:bodyPr>
          <a:lstStyle/>
          <a:p>
            <a:pPr algn="ctr"/>
            <a:r>
              <a:rPr lang="en-US" dirty="0"/>
              <a:t>ddPCR Workflow</a:t>
            </a:r>
          </a:p>
        </p:txBody>
      </p:sp>
    </p:spTree>
    <p:extLst>
      <p:ext uri="{BB962C8B-B14F-4D97-AF65-F5344CB8AC3E}">
        <p14:creationId xmlns:p14="http://schemas.microsoft.com/office/powerpoint/2010/main" val="15193991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p:nvPr/>
        </p:nvSpPr>
        <p:spPr>
          <a:xfrm>
            <a:off x="535850" y="399150"/>
            <a:ext cx="1097400" cy="805200"/>
          </a:xfrm>
          <a:prstGeom prst="round2DiagRect">
            <a:avLst>
              <a:gd name="adj1" fmla="val 16667"/>
              <a:gd name="adj2" fmla="val 0"/>
            </a:avLst>
          </a:prstGeom>
          <a:solidFill>
            <a:srgbClr val="6D9EEB"/>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rPr>
              <a:t>Receiving</a:t>
            </a:r>
            <a:endParaRPr/>
          </a:p>
        </p:txBody>
      </p:sp>
      <p:sp>
        <p:nvSpPr>
          <p:cNvPr id="55" name="Google Shape;55;p13"/>
          <p:cNvSpPr/>
          <p:nvPr/>
        </p:nvSpPr>
        <p:spPr>
          <a:xfrm>
            <a:off x="1951300" y="399150"/>
            <a:ext cx="1097400" cy="805200"/>
          </a:xfrm>
          <a:prstGeom prst="round2DiagRect">
            <a:avLst>
              <a:gd name="adj1" fmla="val 16667"/>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rPr>
              <a:t>cfDNA Extraction</a:t>
            </a:r>
            <a:endParaRPr sz="1200">
              <a:solidFill>
                <a:schemeClr val="dk1"/>
              </a:solidFill>
            </a:endParaRPr>
          </a:p>
        </p:txBody>
      </p:sp>
      <p:sp>
        <p:nvSpPr>
          <p:cNvPr id="56" name="Google Shape;56;p13"/>
          <p:cNvSpPr/>
          <p:nvPr/>
        </p:nvSpPr>
        <p:spPr>
          <a:xfrm>
            <a:off x="3366750" y="399150"/>
            <a:ext cx="1097400" cy="805200"/>
          </a:xfrm>
          <a:prstGeom prst="round2DiagRect">
            <a:avLst>
              <a:gd name="adj1" fmla="val 16667"/>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rPr>
              <a:t>cfDNA Quantification</a:t>
            </a:r>
            <a:endParaRPr sz="1000">
              <a:solidFill>
                <a:schemeClr val="dk1"/>
              </a:solidFill>
            </a:endParaRPr>
          </a:p>
          <a:p>
            <a:pPr marL="0" lvl="0" indent="0" algn="ctr" rtl="0">
              <a:spcBef>
                <a:spcPts val="0"/>
              </a:spcBef>
              <a:spcAft>
                <a:spcPts val="0"/>
              </a:spcAft>
              <a:buNone/>
            </a:pPr>
            <a:endParaRPr sz="1000">
              <a:solidFill>
                <a:schemeClr val="dk1"/>
              </a:solidFill>
            </a:endParaRPr>
          </a:p>
        </p:txBody>
      </p:sp>
      <p:sp>
        <p:nvSpPr>
          <p:cNvPr id="57" name="Google Shape;57;p13"/>
          <p:cNvSpPr/>
          <p:nvPr/>
        </p:nvSpPr>
        <p:spPr>
          <a:xfrm>
            <a:off x="4782200" y="399150"/>
            <a:ext cx="1097400" cy="805200"/>
          </a:xfrm>
          <a:prstGeom prst="round2DiagRect">
            <a:avLst>
              <a:gd name="adj1" fmla="val 16667"/>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rPr>
              <a:t>HpaII Digestion</a:t>
            </a:r>
            <a:endParaRPr sz="1000">
              <a:solidFill>
                <a:schemeClr val="dk1"/>
              </a:solidFill>
            </a:endParaRPr>
          </a:p>
          <a:p>
            <a:pPr marL="0" lvl="0" indent="0" algn="l" rtl="0">
              <a:spcBef>
                <a:spcPts val="0"/>
              </a:spcBef>
              <a:spcAft>
                <a:spcPts val="0"/>
              </a:spcAft>
              <a:buNone/>
            </a:pPr>
            <a:endParaRPr sz="1000">
              <a:solidFill>
                <a:schemeClr val="dk1"/>
              </a:solidFill>
            </a:endParaRPr>
          </a:p>
        </p:txBody>
      </p:sp>
      <p:sp>
        <p:nvSpPr>
          <p:cNvPr id="58" name="Google Shape;58;p13"/>
          <p:cNvSpPr/>
          <p:nvPr/>
        </p:nvSpPr>
        <p:spPr>
          <a:xfrm>
            <a:off x="6197650" y="399150"/>
            <a:ext cx="1097400" cy="805200"/>
          </a:xfrm>
          <a:prstGeom prst="round2DiagRect">
            <a:avLst>
              <a:gd name="adj1" fmla="val 16667"/>
              <a:gd name="adj2" fmla="val 0"/>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rPr>
              <a:t>ddPCR</a:t>
            </a:r>
            <a:endParaRPr sz="1000">
              <a:solidFill>
                <a:schemeClr val="dk1"/>
              </a:solidFill>
            </a:endParaRPr>
          </a:p>
          <a:p>
            <a:pPr marL="0" lvl="0" indent="0" algn="l" rtl="0">
              <a:spcBef>
                <a:spcPts val="0"/>
              </a:spcBef>
              <a:spcAft>
                <a:spcPts val="0"/>
              </a:spcAft>
              <a:buNone/>
            </a:pPr>
            <a:endParaRPr sz="1000">
              <a:solidFill>
                <a:schemeClr val="dk1"/>
              </a:solidFill>
            </a:endParaRPr>
          </a:p>
        </p:txBody>
      </p:sp>
      <p:sp>
        <p:nvSpPr>
          <p:cNvPr id="59" name="Google Shape;59;p13"/>
          <p:cNvSpPr/>
          <p:nvPr/>
        </p:nvSpPr>
        <p:spPr>
          <a:xfrm>
            <a:off x="7613100" y="399150"/>
            <a:ext cx="1097400" cy="805200"/>
          </a:xfrm>
          <a:prstGeom prst="round2DiagRect">
            <a:avLst>
              <a:gd name="adj1" fmla="val 16667"/>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rPr>
              <a:t>QC</a:t>
            </a:r>
            <a:endParaRPr sz="1000">
              <a:solidFill>
                <a:schemeClr val="dk1"/>
              </a:solidFill>
            </a:endParaRPr>
          </a:p>
          <a:p>
            <a:pPr marL="0" lvl="0" indent="0" algn="ctr" rtl="0">
              <a:spcBef>
                <a:spcPts val="0"/>
              </a:spcBef>
              <a:spcAft>
                <a:spcPts val="0"/>
              </a:spcAft>
              <a:buNone/>
            </a:pPr>
            <a:r>
              <a:rPr lang="en" sz="1000">
                <a:solidFill>
                  <a:schemeClr val="dk1"/>
                </a:solidFill>
              </a:rPr>
              <a:t>Results</a:t>
            </a:r>
            <a:endParaRPr sz="1000">
              <a:solidFill>
                <a:schemeClr val="dk1"/>
              </a:solidFill>
            </a:endParaRPr>
          </a:p>
          <a:p>
            <a:pPr marL="0" lvl="0" indent="0" algn="l" rtl="0">
              <a:spcBef>
                <a:spcPts val="0"/>
              </a:spcBef>
              <a:spcAft>
                <a:spcPts val="0"/>
              </a:spcAft>
              <a:buNone/>
            </a:pPr>
            <a:endParaRPr sz="1000">
              <a:solidFill>
                <a:schemeClr val="dk1"/>
              </a:solidFill>
            </a:endParaRPr>
          </a:p>
        </p:txBody>
      </p:sp>
      <p:cxnSp>
        <p:nvCxnSpPr>
          <p:cNvPr id="60" name="Google Shape;60;p13"/>
          <p:cNvCxnSpPr/>
          <p:nvPr/>
        </p:nvCxnSpPr>
        <p:spPr>
          <a:xfrm>
            <a:off x="1633250" y="801750"/>
            <a:ext cx="318000" cy="0"/>
          </a:xfrm>
          <a:prstGeom prst="straightConnector1">
            <a:avLst/>
          </a:prstGeom>
          <a:noFill/>
          <a:ln w="19050" cap="flat" cmpd="sng">
            <a:solidFill>
              <a:srgbClr val="3C78D8"/>
            </a:solidFill>
            <a:prstDash val="solid"/>
            <a:round/>
            <a:headEnd type="none" w="med" len="med"/>
            <a:tailEnd type="triangle" w="med" len="med"/>
          </a:ln>
        </p:spPr>
      </p:cxnSp>
      <p:cxnSp>
        <p:nvCxnSpPr>
          <p:cNvPr id="61" name="Google Shape;61;p13"/>
          <p:cNvCxnSpPr/>
          <p:nvPr/>
        </p:nvCxnSpPr>
        <p:spPr>
          <a:xfrm>
            <a:off x="3048700" y="801750"/>
            <a:ext cx="318000" cy="0"/>
          </a:xfrm>
          <a:prstGeom prst="straightConnector1">
            <a:avLst/>
          </a:prstGeom>
          <a:noFill/>
          <a:ln w="19050" cap="flat" cmpd="sng">
            <a:solidFill>
              <a:srgbClr val="3C78D8"/>
            </a:solidFill>
            <a:prstDash val="solid"/>
            <a:round/>
            <a:headEnd type="none" w="med" len="med"/>
            <a:tailEnd type="triangle" w="med" len="med"/>
          </a:ln>
        </p:spPr>
      </p:cxnSp>
      <p:cxnSp>
        <p:nvCxnSpPr>
          <p:cNvPr id="62" name="Google Shape;62;p13"/>
          <p:cNvCxnSpPr/>
          <p:nvPr/>
        </p:nvCxnSpPr>
        <p:spPr>
          <a:xfrm>
            <a:off x="5879600" y="801750"/>
            <a:ext cx="318000" cy="0"/>
          </a:xfrm>
          <a:prstGeom prst="straightConnector1">
            <a:avLst/>
          </a:prstGeom>
          <a:noFill/>
          <a:ln w="19050" cap="flat" cmpd="sng">
            <a:solidFill>
              <a:srgbClr val="3C78D8"/>
            </a:solidFill>
            <a:prstDash val="solid"/>
            <a:round/>
            <a:headEnd type="none" w="med" len="med"/>
            <a:tailEnd type="triangle" w="med" len="med"/>
          </a:ln>
        </p:spPr>
      </p:cxnSp>
      <p:cxnSp>
        <p:nvCxnSpPr>
          <p:cNvPr id="63" name="Google Shape;63;p13"/>
          <p:cNvCxnSpPr/>
          <p:nvPr/>
        </p:nvCxnSpPr>
        <p:spPr>
          <a:xfrm>
            <a:off x="7295050" y="801750"/>
            <a:ext cx="318000" cy="0"/>
          </a:xfrm>
          <a:prstGeom prst="straightConnector1">
            <a:avLst/>
          </a:prstGeom>
          <a:noFill/>
          <a:ln w="19050" cap="flat" cmpd="sng">
            <a:solidFill>
              <a:srgbClr val="FF0000"/>
            </a:solidFill>
            <a:prstDash val="solid"/>
            <a:round/>
            <a:headEnd type="none" w="med" len="med"/>
            <a:tailEnd type="triangle" w="med" len="med"/>
          </a:ln>
        </p:spPr>
      </p:cxnSp>
      <p:cxnSp>
        <p:nvCxnSpPr>
          <p:cNvPr id="64" name="Google Shape;64;p13"/>
          <p:cNvCxnSpPr/>
          <p:nvPr/>
        </p:nvCxnSpPr>
        <p:spPr>
          <a:xfrm>
            <a:off x="2499925" y="1208025"/>
            <a:ext cx="2835600" cy="335700"/>
          </a:xfrm>
          <a:prstGeom prst="bentConnector3">
            <a:avLst>
              <a:gd name="adj1" fmla="val 295"/>
            </a:avLst>
          </a:prstGeom>
          <a:noFill/>
          <a:ln w="19050" cap="flat" cmpd="sng">
            <a:solidFill>
              <a:srgbClr val="3C78D8"/>
            </a:solidFill>
            <a:prstDash val="solid"/>
            <a:round/>
            <a:headEnd type="none" w="med" len="med"/>
            <a:tailEnd type="none" w="med" len="med"/>
          </a:ln>
        </p:spPr>
      </p:cxnSp>
      <p:cxnSp>
        <p:nvCxnSpPr>
          <p:cNvPr id="65" name="Google Shape;65;p13"/>
          <p:cNvCxnSpPr/>
          <p:nvPr/>
        </p:nvCxnSpPr>
        <p:spPr>
          <a:xfrm rot="10800000">
            <a:off x="5330900" y="1204350"/>
            <a:ext cx="12900" cy="347700"/>
          </a:xfrm>
          <a:prstGeom prst="straightConnector1">
            <a:avLst/>
          </a:prstGeom>
          <a:noFill/>
          <a:ln w="19050" cap="flat" cmpd="sng">
            <a:solidFill>
              <a:srgbClr val="3C78D8"/>
            </a:solidFill>
            <a:prstDash val="solid"/>
            <a:round/>
            <a:headEnd type="none" w="med" len="med"/>
            <a:tailEnd type="triangle" w="med" len="med"/>
          </a:ln>
        </p:spPr>
      </p:cxnSp>
      <p:cxnSp>
        <p:nvCxnSpPr>
          <p:cNvPr id="66" name="Google Shape;66;p13"/>
          <p:cNvCxnSpPr/>
          <p:nvPr/>
        </p:nvCxnSpPr>
        <p:spPr>
          <a:xfrm>
            <a:off x="4464150" y="801750"/>
            <a:ext cx="318000" cy="0"/>
          </a:xfrm>
          <a:prstGeom prst="straightConnector1">
            <a:avLst/>
          </a:prstGeom>
          <a:noFill/>
          <a:ln w="19050" cap="flat" cmpd="sng">
            <a:solidFill>
              <a:srgbClr val="FF0000"/>
            </a:solidFill>
            <a:prstDash val="solid"/>
            <a:round/>
            <a:headEnd type="none" w="med" len="med"/>
            <a:tailEnd type="triangle" w="med" len="med"/>
          </a:ln>
        </p:spPr>
      </p:cxnSp>
      <p:sp>
        <p:nvSpPr>
          <p:cNvPr id="67" name="Google Shape;67;p13"/>
          <p:cNvSpPr/>
          <p:nvPr/>
        </p:nvSpPr>
        <p:spPr>
          <a:xfrm>
            <a:off x="142625" y="1677775"/>
            <a:ext cx="1854300" cy="29697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b="1">
              <a:solidFill>
                <a:schemeClr val="dk1"/>
              </a:solidFill>
            </a:endParaRPr>
          </a:p>
          <a:p>
            <a:pPr marL="0" lvl="0" indent="0" algn="l" rtl="0">
              <a:spcBef>
                <a:spcPts val="0"/>
              </a:spcBef>
              <a:spcAft>
                <a:spcPts val="0"/>
              </a:spcAft>
              <a:buNone/>
            </a:pPr>
            <a:r>
              <a:rPr lang="en" sz="800" b="1">
                <a:solidFill>
                  <a:schemeClr val="dk1"/>
                </a:solidFill>
              </a:rPr>
              <a:t>IN:</a:t>
            </a:r>
            <a:endParaRPr sz="800" b="1">
              <a:solidFill>
                <a:schemeClr val="dk1"/>
              </a:solidFill>
            </a:endParaRPr>
          </a:p>
          <a:p>
            <a:pPr marL="91440" lvl="0" indent="0" algn="l" rtl="0">
              <a:spcBef>
                <a:spcPts val="0"/>
              </a:spcBef>
              <a:spcAft>
                <a:spcPts val="0"/>
              </a:spcAft>
              <a:buNone/>
            </a:pPr>
            <a:r>
              <a:rPr lang="en" sz="800" b="1">
                <a:solidFill>
                  <a:schemeClr val="dk1"/>
                </a:solidFill>
              </a:rPr>
              <a:t>Patients Blood Tubes</a:t>
            </a:r>
            <a:endParaRPr sz="800" b="1">
              <a:solidFill>
                <a:schemeClr val="dk1"/>
              </a:solidFill>
            </a:endParaRPr>
          </a:p>
          <a:p>
            <a:pPr marL="91440" lvl="0" indent="0" algn="l" rtl="0">
              <a:spcBef>
                <a:spcPts val="0"/>
              </a:spcBef>
              <a:spcAft>
                <a:spcPts val="0"/>
              </a:spcAft>
              <a:buNone/>
            </a:pPr>
            <a:r>
              <a:rPr lang="en" sz="800" i="1">
                <a:solidFill>
                  <a:schemeClr val="dk1"/>
                </a:solidFill>
              </a:rPr>
              <a:t>Tube Labels </a:t>
            </a:r>
            <a:endParaRPr sz="800" b="1">
              <a:solidFill>
                <a:schemeClr val="dk1"/>
              </a:solidFill>
            </a:endParaRPr>
          </a:p>
          <a:p>
            <a:pPr marL="0" lvl="0" indent="0" algn="l" rtl="0">
              <a:spcBef>
                <a:spcPts val="0"/>
              </a:spcBef>
              <a:spcAft>
                <a:spcPts val="0"/>
              </a:spcAft>
              <a:buNone/>
            </a:pPr>
            <a:endParaRPr sz="800" b="1">
              <a:solidFill>
                <a:schemeClr val="dk1"/>
              </a:solidFill>
            </a:endParaRPr>
          </a:p>
          <a:p>
            <a:pPr marL="0" lvl="0" indent="0" algn="l" rtl="0">
              <a:spcBef>
                <a:spcPts val="0"/>
              </a:spcBef>
              <a:spcAft>
                <a:spcPts val="0"/>
              </a:spcAft>
              <a:buNone/>
            </a:pPr>
            <a:r>
              <a:rPr lang="en" sz="800" b="1">
                <a:solidFill>
                  <a:schemeClr val="dk1"/>
                </a:solidFill>
              </a:rPr>
              <a:t>OUT:</a:t>
            </a:r>
            <a:endParaRPr sz="800" b="1">
              <a:solidFill>
                <a:schemeClr val="dk1"/>
              </a:solidFill>
            </a:endParaRPr>
          </a:p>
          <a:p>
            <a:pPr marL="91440" lvl="0" indent="0" algn="l" rtl="0">
              <a:spcBef>
                <a:spcPts val="0"/>
              </a:spcBef>
              <a:spcAft>
                <a:spcPts val="0"/>
              </a:spcAft>
              <a:buClr>
                <a:schemeClr val="dk1"/>
              </a:buClr>
              <a:buSzPts val="1100"/>
              <a:buFont typeface="Arial"/>
              <a:buNone/>
            </a:pPr>
            <a:r>
              <a:rPr lang="en" sz="800" b="1">
                <a:solidFill>
                  <a:schemeClr val="dk1"/>
                </a:solidFill>
              </a:rPr>
              <a:t>Patients Blood Tubes/Aliquots</a:t>
            </a:r>
            <a:endParaRPr sz="800" b="1">
              <a:solidFill>
                <a:schemeClr val="dk1"/>
              </a:solidFill>
            </a:endParaRPr>
          </a:p>
          <a:p>
            <a:pPr marL="91440" lvl="0" indent="0" algn="l" rtl="0">
              <a:spcBef>
                <a:spcPts val="0"/>
              </a:spcBef>
              <a:spcAft>
                <a:spcPts val="0"/>
              </a:spcAft>
              <a:buClr>
                <a:schemeClr val="dk1"/>
              </a:buClr>
              <a:buSzPts val="1100"/>
              <a:buFont typeface="Arial"/>
              <a:buNone/>
            </a:pPr>
            <a:r>
              <a:rPr lang="en" sz="800" i="1">
                <a:solidFill>
                  <a:schemeClr val="dk1"/>
                </a:solidFill>
              </a:rPr>
              <a:t>Tube Labels </a:t>
            </a:r>
            <a:endParaRPr sz="800" b="1">
              <a:solidFill>
                <a:schemeClr val="dk1"/>
              </a:solidFill>
            </a:endParaRPr>
          </a:p>
          <a:p>
            <a:pPr marL="91440" lvl="0" indent="0" algn="l" rtl="0">
              <a:spcBef>
                <a:spcPts val="0"/>
              </a:spcBef>
              <a:spcAft>
                <a:spcPts val="0"/>
              </a:spcAft>
              <a:buNone/>
            </a:pPr>
            <a:endParaRPr sz="800" i="1">
              <a:solidFill>
                <a:schemeClr val="dk1"/>
              </a:solidFill>
            </a:endParaRPr>
          </a:p>
          <a:p>
            <a:pPr marL="0" lvl="0" indent="0" algn="l" rtl="0">
              <a:spcBef>
                <a:spcPts val="0"/>
              </a:spcBef>
              <a:spcAft>
                <a:spcPts val="0"/>
              </a:spcAft>
              <a:buNone/>
            </a:pPr>
            <a:r>
              <a:rPr lang="en" sz="800" b="1">
                <a:solidFill>
                  <a:schemeClr val="dk1"/>
                </a:solidFill>
              </a:rPr>
              <a:t>Use Patient Samples in the cfDNA extraction step</a:t>
            </a:r>
            <a:endParaRPr sz="800" i="1">
              <a:solidFill>
                <a:schemeClr val="dk1"/>
              </a:solidFill>
            </a:endParaRPr>
          </a:p>
          <a:p>
            <a:pPr marL="91440" lvl="0" indent="0" algn="l" rtl="0">
              <a:spcBef>
                <a:spcPts val="0"/>
              </a:spcBef>
              <a:spcAft>
                <a:spcPts val="0"/>
              </a:spcAft>
              <a:buNone/>
            </a:pPr>
            <a:endParaRPr sz="800" i="1">
              <a:solidFill>
                <a:schemeClr val="dk1"/>
              </a:solidFill>
            </a:endParaRPr>
          </a:p>
          <a:p>
            <a:pPr marL="0" lvl="0" indent="0" algn="l" rtl="0">
              <a:spcBef>
                <a:spcPts val="0"/>
              </a:spcBef>
              <a:spcAft>
                <a:spcPts val="0"/>
              </a:spcAft>
              <a:buNone/>
            </a:pPr>
            <a:r>
              <a:rPr lang="en" sz="800" i="1">
                <a:solidFill>
                  <a:srgbClr val="FF0000"/>
                </a:solidFill>
              </a:rPr>
              <a:t>need help- labels </a:t>
            </a:r>
            <a:endParaRPr sz="800"/>
          </a:p>
        </p:txBody>
      </p:sp>
      <p:sp>
        <p:nvSpPr>
          <p:cNvPr id="68" name="Google Shape;68;p13"/>
          <p:cNvSpPr/>
          <p:nvPr/>
        </p:nvSpPr>
        <p:spPr>
          <a:xfrm>
            <a:off x="1796600" y="1677781"/>
            <a:ext cx="2313900" cy="2969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000"/>
          </a:p>
        </p:txBody>
      </p:sp>
      <p:sp>
        <p:nvSpPr>
          <p:cNvPr id="69" name="Google Shape;69;p13"/>
          <p:cNvSpPr/>
          <p:nvPr/>
        </p:nvSpPr>
        <p:spPr>
          <a:xfrm>
            <a:off x="4110500" y="1674131"/>
            <a:ext cx="3519300" cy="29733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1000"/>
          </a:p>
          <a:p>
            <a:pPr marL="91440" lvl="0" indent="-96520" algn="l" rtl="0">
              <a:lnSpc>
                <a:spcPct val="115000"/>
              </a:lnSpc>
              <a:spcBef>
                <a:spcPts val="0"/>
              </a:spcBef>
              <a:spcAft>
                <a:spcPts val="0"/>
              </a:spcAft>
              <a:buSzPts val="800"/>
              <a:buChar char="●"/>
            </a:pPr>
            <a:r>
              <a:rPr lang="en" sz="800"/>
              <a:t>Match received patients blood tubes with the Requisition Form Information</a:t>
            </a:r>
            <a:endParaRPr sz="800"/>
          </a:p>
          <a:p>
            <a:pPr marL="91440" lvl="0" indent="-96520" algn="l" rtl="0">
              <a:lnSpc>
                <a:spcPct val="115000"/>
              </a:lnSpc>
              <a:spcBef>
                <a:spcPts val="0"/>
              </a:spcBef>
              <a:spcAft>
                <a:spcPts val="0"/>
              </a:spcAft>
              <a:buSzPts val="800"/>
              <a:buChar char="●"/>
            </a:pPr>
            <a:r>
              <a:rPr lang="en" sz="800"/>
              <a:t>Document the blood samples status including presence and level of hemolysis or clotting</a:t>
            </a:r>
            <a:endParaRPr sz="800"/>
          </a:p>
          <a:p>
            <a:pPr marL="91440" lvl="0" indent="-96520" algn="l" rtl="0">
              <a:lnSpc>
                <a:spcPct val="115000"/>
              </a:lnSpc>
              <a:spcBef>
                <a:spcPts val="0"/>
              </a:spcBef>
              <a:spcAft>
                <a:spcPts val="0"/>
              </a:spcAft>
              <a:buSzPts val="800"/>
              <a:buChar char="●"/>
            </a:pPr>
            <a:r>
              <a:rPr lang="en" sz="800"/>
              <a:t>Store the tubes in the fridge at 4 Celsius or process</a:t>
            </a:r>
            <a:endParaRPr sz="800"/>
          </a:p>
          <a:p>
            <a:pPr marL="91440" lvl="0" indent="-96520" algn="l" rtl="0">
              <a:lnSpc>
                <a:spcPct val="115000"/>
              </a:lnSpc>
              <a:spcBef>
                <a:spcPts val="0"/>
              </a:spcBef>
              <a:spcAft>
                <a:spcPts val="0"/>
              </a:spcAft>
              <a:buSzPts val="800"/>
              <a:buChar char="●"/>
            </a:pPr>
            <a:r>
              <a:rPr lang="en" sz="800"/>
              <a:t>Spin the tubes for 15 minutes in the fixed speed centrifuge</a:t>
            </a:r>
            <a:endParaRPr sz="800">
              <a:solidFill>
                <a:srgbClr val="FF0000"/>
              </a:solidFill>
            </a:endParaRPr>
          </a:p>
          <a:p>
            <a:pPr marL="91440" lvl="0" indent="-96520" algn="l" rtl="0">
              <a:lnSpc>
                <a:spcPct val="115000"/>
              </a:lnSpc>
              <a:spcBef>
                <a:spcPts val="0"/>
              </a:spcBef>
              <a:spcAft>
                <a:spcPts val="0"/>
              </a:spcAft>
              <a:buSzPts val="800"/>
              <a:buChar char="●"/>
            </a:pPr>
            <a:r>
              <a:rPr lang="en" sz="800"/>
              <a:t>Aliquot 500µL of Plasma/Serum samples</a:t>
            </a:r>
            <a:endParaRPr sz="800">
              <a:solidFill>
                <a:srgbClr val="FF0000"/>
              </a:solidFill>
            </a:endParaRPr>
          </a:p>
          <a:p>
            <a:pPr marL="0" lvl="0" indent="0" algn="l" rtl="0">
              <a:spcBef>
                <a:spcPts val="0"/>
              </a:spcBef>
              <a:spcAft>
                <a:spcPts val="0"/>
              </a:spcAft>
              <a:buNone/>
            </a:pPr>
            <a:endParaRPr sz="800">
              <a:solidFill>
                <a:schemeClr val="dk1"/>
              </a:solidFill>
            </a:endParaRPr>
          </a:p>
          <a:p>
            <a:pPr marL="0" lvl="0" indent="0" algn="l" rtl="0">
              <a:lnSpc>
                <a:spcPct val="115000"/>
              </a:lnSpc>
              <a:spcBef>
                <a:spcPts val="0"/>
              </a:spcBef>
              <a:spcAft>
                <a:spcPts val="0"/>
              </a:spcAft>
              <a:buNone/>
            </a:pPr>
            <a:endParaRPr sz="800"/>
          </a:p>
          <a:p>
            <a:pPr marL="0" lvl="0" indent="0" algn="l" rtl="0">
              <a:spcBef>
                <a:spcPts val="0"/>
              </a:spcBef>
              <a:spcAft>
                <a:spcPts val="0"/>
              </a:spcAft>
              <a:buClr>
                <a:schemeClr val="dk1"/>
              </a:buClr>
              <a:buSzPts val="1100"/>
              <a:buFont typeface="Arial"/>
              <a:buNone/>
            </a:pPr>
            <a:r>
              <a:rPr lang="en" sz="1000" b="1">
                <a:solidFill>
                  <a:schemeClr val="dk1"/>
                </a:solidFill>
              </a:rPr>
              <a:t>QC Decisions:</a:t>
            </a:r>
            <a:endParaRPr sz="1000" b="1">
              <a:solidFill>
                <a:schemeClr val="dk1"/>
              </a:solidFill>
            </a:endParaRPr>
          </a:p>
          <a:p>
            <a:pPr marL="0" lvl="0" indent="0" algn="l" rtl="0">
              <a:spcBef>
                <a:spcPts val="0"/>
              </a:spcBef>
              <a:spcAft>
                <a:spcPts val="0"/>
              </a:spcAft>
              <a:buClr>
                <a:schemeClr val="dk1"/>
              </a:buClr>
              <a:buSzPts val="1100"/>
              <a:buFont typeface="Arial"/>
              <a:buNone/>
            </a:pPr>
            <a:r>
              <a:rPr lang="en" sz="1000" b="1">
                <a:solidFill>
                  <a:schemeClr val="dk1"/>
                </a:solidFill>
              </a:rPr>
              <a:t>IF Defined Rejection Criteria = NOT Present THEN Accept the Specimen, place the Specimen in the cfDNA Extraction Queue, Aliquot and Store OTHERWISE Reject The Specimen Spin, Aliquot and Store</a:t>
            </a:r>
            <a:endParaRPr sz="1000" b="1">
              <a:solidFill>
                <a:schemeClr val="dk1"/>
              </a:solidFill>
            </a:endParaRPr>
          </a:p>
          <a:p>
            <a:pPr marL="0" lvl="0" indent="0" algn="l" rtl="0">
              <a:spcBef>
                <a:spcPts val="0"/>
              </a:spcBef>
              <a:spcAft>
                <a:spcPts val="0"/>
              </a:spcAft>
              <a:buClr>
                <a:schemeClr val="dk1"/>
              </a:buClr>
              <a:buSzPts val="1100"/>
              <a:buFont typeface="Arial"/>
              <a:buNone/>
            </a:pPr>
            <a:endParaRPr sz="1000" b="1">
              <a:solidFill>
                <a:schemeClr val="dk1"/>
              </a:solidFill>
            </a:endParaRPr>
          </a:p>
          <a:p>
            <a:pPr marL="0" lvl="0" indent="0" algn="l" rtl="0">
              <a:spcBef>
                <a:spcPts val="0"/>
              </a:spcBef>
              <a:spcAft>
                <a:spcPts val="0"/>
              </a:spcAft>
              <a:buClr>
                <a:schemeClr val="dk1"/>
              </a:buClr>
              <a:buSzPts val="1100"/>
              <a:buFont typeface="Arial"/>
              <a:buNone/>
            </a:pPr>
            <a:r>
              <a:rPr lang="en" sz="1000" b="1">
                <a:solidFill>
                  <a:schemeClr val="dk1"/>
                </a:solidFill>
              </a:rPr>
              <a:t>When Specimen is rejected we issue a Rejection report</a:t>
            </a:r>
            <a:endParaRPr sz="1000" b="1">
              <a:solidFill>
                <a:schemeClr val="dk1"/>
              </a:solidFill>
            </a:endParaRPr>
          </a:p>
        </p:txBody>
      </p:sp>
      <p:sp>
        <p:nvSpPr>
          <p:cNvPr id="70" name="Google Shape;70;p13"/>
          <p:cNvSpPr/>
          <p:nvPr/>
        </p:nvSpPr>
        <p:spPr>
          <a:xfrm>
            <a:off x="7629800" y="1677775"/>
            <a:ext cx="1437900" cy="1972200"/>
          </a:xfrm>
          <a:prstGeom prst="round1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b="1"/>
          </a:p>
          <a:p>
            <a:pPr marL="0" lvl="0" indent="0" algn="l" rtl="0">
              <a:spcBef>
                <a:spcPts val="0"/>
              </a:spcBef>
              <a:spcAft>
                <a:spcPts val="0"/>
              </a:spcAft>
              <a:buNone/>
            </a:pPr>
            <a:endParaRPr sz="800" b="1"/>
          </a:p>
          <a:p>
            <a:pPr marL="0" lvl="0" indent="0" algn="l" rtl="0">
              <a:spcBef>
                <a:spcPts val="0"/>
              </a:spcBef>
              <a:spcAft>
                <a:spcPts val="0"/>
              </a:spcAft>
              <a:buNone/>
            </a:pPr>
            <a:r>
              <a:rPr lang="en" sz="800" b="1"/>
              <a:t>IN</a:t>
            </a:r>
            <a:endParaRPr sz="800" b="1"/>
          </a:p>
          <a:p>
            <a:pPr marL="91440" lvl="0" indent="0" algn="l" rtl="0">
              <a:spcBef>
                <a:spcPts val="0"/>
              </a:spcBef>
              <a:spcAft>
                <a:spcPts val="0"/>
              </a:spcAft>
              <a:buNone/>
            </a:pPr>
            <a:r>
              <a:rPr lang="en" sz="800"/>
              <a:t>Patient ID</a:t>
            </a:r>
            <a:endParaRPr sz="800"/>
          </a:p>
          <a:p>
            <a:pPr marL="91440" lvl="0" indent="0" algn="l" rtl="0">
              <a:spcBef>
                <a:spcPts val="0"/>
              </a:spcBef>
              <a:spcAft>
                <a:spcPts val="0"/>
              </a:spcAft>
              <a:buNone/>
            </a:pPr>
            <a:r>
              <a:rPr lang="en" sz="800"/>
              <a:t>Case(Order) ID</a:t>
            </a:r>
            <a:endParaRPr sz="800"/>
          </a:p>
          <a:p>
            <a:pPr marL="91440" lvl="0" indent="0" algn="l" rtl="0">
              <a:spcBef>
                <a:spcPts val="0"/>
              </a:spcBef>
              <a:spcAft>
                <a:spcPts val="0"/>
              </a:spcAft>
              <a:buNone/>
            </a:pPr>
            <a:r>
              <a:rPr lang="en" sz="800"/>
              <a:t>Tube ID</a:t>
            </a:r>
            <a:endParaRPr sz="800"/>
          </a:p>
          <a:p>
            <a:pPr marL="91440" lvl="0" indent="0" algn="l" rtl="0">
              <a:spcBef>
                <a:spcPts val="0"/>
              </a:spcBef>
              <a:spcAft>
                <a:spcPts val="0"/>
              </a:spcAft>
              <a:buNone/>
            </a:pPr>
            <a:r>
              <a:rPr lang="en" sz="800"/>
              <a:t>Test ID</a:t>
            </a:r>
            <a:endParaRPr sz="800"/>
          </a:p>
          <a:p>
            <a:pPr marL="91440" lvl="0" indent="0" algn="l" rtl="0">
              <a:spcBef>
                <a:spcPts val="0"/>
              </a:spcBef>
              <a:spcAft>
                <a:spcPts val="0"/>
              </a:spcAft>
              <a:buNone/>
            </a:pPr>
            <a:r>
              <a:rPr lang="en" sz="800"/>
              <a:t>Demographics</a:t>
            </a:r>
            <a:endParaRPr sz="800"/>
          </a:p>
          <a:p>
            <a:pPr marL="91440" lvl="0" indent="0" algn="l" rtl="0">
              <a:spcBef>
                <a:spcPts val="0"/>
              </a:spcBef>
              <a:spcAft>
                <a:spcPts val="0"/>
              </a:spcAft>
              <a:buNone/>
            </a:pPr>
            <a:r>
              <a:rPr lang="en" sz="800"/>
              <a:t>Clinical Information</a:t>
            </a:r>
            <a:endParaRPr sz="800"/>
          </a:p>
          <a:p>
            <a:pPr marL="0" lvl="0" indent="0" algn="l" rtl="0">
              <a:spcBef>
                <a:spcPts val="0"/>
              </a:spcBef>
              <a:spcAft>
                <a:spcPts val="0"/>
              </a:spcAft>
              <a:buNone/>
            </a:pPr>
            <a:endParaRPr sz="900"/>
          </a:p>
          <a:p>
            <a:pPr marL="0" lvl="0" indent="0" algn="l" rtl="0">
              <a:spcBef>
                <a:spcPts val="0"/>
              </a:spcBef>
              <a:spcAft>
                <a:spcPts val="0"/>
              </a:spcAft>
              <a:buNone/>
            </a:pPr>
            <a:r>
              <a:rPr lang="en" sz="800" b="1">
                <a:solidFill>
                  <a:schemeClr val="dk1"/>
                </a:solidFill>
              </a:rPr>
              <a:t>OUT:</a:t>
            </a:r>
            <a:endParaRPr sz="800" b="1">
              <a:solidFill>
                <a:schemeClr val="dk1"/>
              </a:solidFill>
            </a:endParaRPr>
          </a:p>
          <a:p>
            <a:pPr marL="0" lvl="0" indent="0" algn="l" rtl="0">
              <a:spcBef>
                <a:spcPts val="0"/>
              </a:spcBef>
              <a:spcAft>
                <a:spcPts val="0"/>
              </a:spcAft>
              <a:buClr>
                <a:schemeClr val="dk1"/>
              </a:buClr>
              <a:buSzPts val="1100"/>
              <a:buFont typeface="Arial"/>
              <a:buNone/>
            </a:pPr>
            <a:r>
              <a:rPr lang="en" sz="800" b="1">
                <a:solidFill>
                  <a:schemeClr val="dk1"/>
                </a:solidFill>
              </a:rPr>
              <a:t>   </a:t>
            </a:r>
            <a:r>
              <a:rPr lang="en" sz="800">
                <a:solidFill>
                  <a:schemeClr val="dk1"/>
                </a:solidFill>
              </a:rPr>
              <a:t>Rejection Decision / Report</a:t>
            </a:r>
            <a:endParaRPr sz="800">
              <a:solidFill>
                <a:schemeClr val="dk1"/>
              </a:solidFill>
            </a:endParaRPr>
          </a:p>
          <a:p>
            <a:pPr marL="91440" lvl="0" indent="0" algn="l" rtl="0">
              <a:spcBef>
                <a:spcPts val="0"/>
              </a:spcBef>
              <a:spcAft>
                <a:spcPts val="0"/>
              </a:spcAft>
              <a:buClr>
                <a:schemeClr val="dk1"/>
              </a:buClr>
              <a:buSzPts val="1100"/>
              <a:buFont typeface="Arial"/>
              <a:buNone/>
            </a:pPr>
            <a:r>
              <a:rPr lang="en" sz="800">
                <a:solidFill>
                  <a:schemeClr val="dk1"/>
                </a:solidFill>
              </a:rPr>
              <a:t>cfDNA Extraction Queue</a:t>
            </a:r>
            <a:endParaRPr sz="900"/>
          </a:p>
        </p:txBody>
      </p:sp>
      <p:sp>
        <p:nvSpPr>
          <p:cNvPr id="71" name="Google Shape;71;p13"/>
          <p:cNvSpPr/>
          <p:nvPr/>
        </p:nvSpPr>
        <p:spPr>
          <a:xfrm>
            <a:off x="1796600" y="1677777"/>
            <a:ext cx="2313900" cy="243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t>Volumes/Calculations</a:t>
            </a:r>
            <a:endParaRPr sz="1200" b="1"/>
          </a:p>
        </p:txBody>
      </p:sp>
      <p:sp>
        <p:nvSpPr>
          <p:cNvPr id="72" name="Google Shape;72;p13"/>
          <p:cNvSpPr/>
          <p:nvPr/>
        </p:nvSpPr>
        <p:spPr>
          <a:xfrm>
            <a:off x="436225" y="1677777"/>
            <a:ext cx="1360500" cy="243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t>Tubes/Plates</a:t>
            </a:r>
            <a:endParaRPr sz="1200" b="1"/>
          </a:p>
        </p:txBody>
      </p:sp>
      <p:sp>
        <p:nvSpPr>
          <p:cNvPr id="73" name="Google Shape;73;p13"/>
          <p:cNvSpPr/>
          <p:nvPr/>
        </p:nvSpPr>
        <p:spPr>
          <a:xfrm>
            <a:off x="4110500" y="1677781"/>
            <a:ext cx="3519300" cy="243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t>Protocol</a:t>
            </a:r>
            <a:endParaRPr sz="1200" b="1"/>
          </a:p>
        </p:txBody>
      </p:sp>
      <p:sp>
        <p:nvSpPr>
          <p:cNvPr id="74" name="Google Shape;74;p13"/>
          <p:cNvSpPr/>
          <p:nvPr/>
        </p:nvSpPr>
        <p:spPr>
          <a:xfrm>
            <a:off x="7629800" y="1677781"/>
            <a:ext cx="1187100" cy="243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t>Data</a:t>
            </a:r>
            <a:endParaRPr sz="1200" b="1"/>
          </a:p>
        </p:txBody>
      </p:sp>
      <p:cxnSp>
        <p:nvCxnSpPr>
          <p:cNvPr id="75" name="Google Shape;75;p13"/>
          <p:cNvCxnSpPr/>
          <p:nvPr/>
        </p:nvCxnSpPr>
        <p:spPr>
          <a:xfrm>
            <a:off x="2499925" y="1208025"/>
            <a:ext cx="2835600" cy="335700"/>
          </a:xfrm>
          <a:prstGeom prst="bentConnector3">
            <a:avLst>
              <a:gd name="adj1" fmla="val 295"/>
            </a:avLst>
          </a:prstGeom>
          <a:noFill/>
          <a:ln w="19050" cap="flat" cmpd="sng">
            <a:solidFill>
              <a:srgbClr val="3C78D8"/>
            </a:solidFill>
            <a:prstDash val="solid"/>
            <a:round/>
            <a:headEnd type="none" w="med" len="med"/>
            <a:tailEnd type="none" w="med" len="med"/>
          </a:ln>
        </p:spPr>
      </p:cxnSp>
      <p:cxnSp>
        <p:nvCxnSpPr>
          <p:cNvPr id="76" name="Google Shape;76;p13"/>
          <p:cNvCxnSpPr/>
          <p:nvPr/>
        </p:nvCxnSpPr>
        <p:spPr>
          <a:xfrm rot="10800000">
            <a:off x="5330900" y="1204350"/>
            <a:ext cx="12900" cy="347700"/>
          </a:xfrm>
          <a:prstGeom prst="straightConnector1">
            <a:avLst/>
          </a:prstGeom>
          <a:noFill/>
          <a:ln w="19050" cap="flat" cmpd="sng">
            <a:solidFill>
              <a:srgbClr val="3C78D8"/>
            </a:solidFill>
            <a:prstDash val="solid"/>
            <a:round/>
            <a:headEnd type="none" w="med" len="med"/>
            <a:tailEnd type="triangle" w="med" len="med"/>
          </a:ln>
        </p:spPr>
      </p:cxnSp>
      <p:sp>
        <p:nvSpPr>
          <p:cNvPr id="77" name="Google Shape;77;p13"/>
          <p:cNvSpPr/>
          <p:nvPr/>
        </p:nvSpPr>
        <p:spPr>
          <a:xfrm>
            <a:off x="7610300" y="3842215"/>
            <a:ext cx="1399500" cy="805200"/>
          </a:xfrm>
          <a:prstGeom prst="snip2DiagRect">
            <a:avLst>
              <a:gd name="adj1" fmla="val 0"/>
              <a:gd name="adj2"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QC Decisions</a:t>
            </a:r>
            <a:endParaRPr sz="1200"/>
          </a:p>
          <a:p>
            <a:pPr marL="0" lvl="0" indent="0" algn="ctr" rtl="0">
              <a:spcBef>
                <a:spcPts val="0"/>
              </a:spcBef>
              <a:spcAft>
                <a:spcPts val="0"/>
              </a:spcAft>
              <a:buNone/>
            </a:pPr>
            <a:r>
              <a:rPr lang="en" sz="1000" b="1"/>
              <a:t>See Protocol</a:t>
            </a:r>
            <a:r>
              <a:rPr lang="en" sz="1200"/>
              <a:t> </a:t>
            </a:r>
            <a:endParaRPr sz="1200"/>
          </a:p>
          <a:p>
            <a:pPr marL="0" lvl="0" indent="0" algn="l" rtl="0">
              <a:spcBef>
                <a:spcPts val="0"/>
              </a:spcBef>
              <a:spcAft>
                <a:spcPts val="0"/>
              </a:spcAft>
              <a:buNone/>
            </a:pPr>
            <a:endParaRPr sz="12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4"/>
          <p:cNvSpPr/>
          <p:nvPr/>
        </p:nvSpPr>
        <p:spPr>
          <a:xfrm>
            <a:off x="192950" y="1324725"/>
            <a:ext cx="1887600" cy="1616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b="1"/>
          </a:p>
          <a:p>
            <a:pPr marL="0" lvl="0" indent="0" algn="l" rtl="0">
              <a:spcBef>
                <a:spcPts val="0"/>
              </a:spcBef>
              <a:spcAft>
                <a:spcPts val="0"/>
              </a:spcAft>
              <a:buNone/>
            </a:pPr>
            <a:r>
              <a:rPr lang="en" sz="800" b="1"/>
              <a:t>IN: Samples processed at Receiving (Aliquots)</a:t>
            </a:r>
            <a:endParaRPr sz="800" b="1"/>
          </a:p>
          <a:p>
            <a:pPr marL="0" lvl="0" indent="0" algn="l" rtl="0">
              <a:spcBef>
                <a:spcPts val="0"/>
              </a:spcBef>
              <a:spcAft>
                <a:spcPts val="0"/>
              </a:spcAft>
              <a:buNone/>
            </a:pPr>
            <a:r>
              <a:rPr lang="en" sz="800" b="1"/>
              <a:t>GENERATE:</a:t>
            </a:r>
            <a:endParaRPr sz="800" b="1"/>
          </a:p>
          <a:p>
            <a:pPr marL="91440" lvl="0" indent="0" algn="l" rtl="0">
              <a:spcBef>
                <a:spcPts val="0"/>
              </a:spcBef>
              <a:spcAft>
                <a:spcPts val="0"/>
              </a:spcAft>
              <a:buNone/>
            </a:pPr>
            <a:r>
              <a:rPr lang="en" sz="800" b="1"/>
              <a:t>Microcentrifuge Tube</a:t>
            </a:r>
            <a:endParaRPr sz="800" b="1"/>
          </a:p>
          <a:p>
            <a:pPr marL="91440" lvl="0" indent="0" algn="l" rtl="0">
              <a:spcBef>
                <a:spcPts val="0"/>
              </a:spcBef>
              <a:spcAft>
                <a:spcPts val="0"/>
              </a:spcAft>
              <a:buNone/>
            </a:pPr>
            <a:r>
              <a:rPr lang="en" sz="800" i="1"/>
              <a:t>Tube Labels</a:t>
            </a:r>
            <a:endParaRPr sz="800" i="1"/>
          </a:p>
          <a:p>
            <a:pPr marL="0" lvl="0" indent="0" algn="l" rtl="0">
              <a:spcBef>
                <a:spcPts val="0"/>
              </a:spcBef>
              <a:spcAft>
                <a:spcPts val="0"/>
              </a:spcAft>
              <a:buClr>
                <a:schemeClr val="dk1"/>
              </a:buClr>
              <a:buSzPts val="1100"/>
              <a:buFont typeface="Arial"/>
              <a:buNone/>
            </a:pPr>
            <a:r>
              <a:rPr lang="en" sz="800" b="1">
                <a:solidFill>
                  <a:schemeClr val="dk1"/>
                </a:solidFill>
              </a:rPr>
              <a:t>OUT:</a:t>
            </a:r>
            <a:endParaRPr sz="800" b="1">
              <a:solidFill>
                <a:schemeClr val="dk1"/>
              </a:solidFill>
            </a:endParaRPr>
          </a:p>
          <a:p>
            <a:pPr marL="91440" lvl="0" indent="0" algn="l" rtl="0">
              <a:spcBef>
                <a:spcPts val="0"/>
              </a:spcBef>
              <a:spcAft>
                <a:spcPts val="0"/>
              </a:spcAft>
              <a:buClr>
                <a:schemeClr val="dk1"/>
              </a:buClr>
              <a:buSzPts val="1100"/>
              <a:buFont typeface="Arial"/>
              <a:buNone/>
            </a:pPr>
            <a:r>
              <a:rPr lang="en" sz="800" b="1">
                <a:solidFill>
                  <a:schemeClr val="dk1"/>
                </a:solidFill>
              </a:rPr>
              <a:t>2.2mL deep-well plate</a:t>
            </a:r>
            <a:endParaRPr sz="800" b="1">
              <a:solidFill>
                <a:schemeClr val="dk1"/>
              </a:solidFill>
            </a:endParaRPr>
          </a:p>
          <a:p>
            <a:pPr marL="91440" lvl="0" indent="0" algn="l" rtl="0">
              <a:spcBef>
                <a:spcPts val="0"/>
              </a:spcBef>
              <a:spcAft>
                <a:spcPts val="0"/>
              </a:spcAft>
              <a:buNone/>
            </a:pPr>
            <a:r>
              <a:rPr lang="en" sz="800" i="1">
                <a:solidFill>
                  <a:schemeClr val="dk1"/>
                </a:solidFill>
              </a:rPr>
              <a:t>Plate Labels / Plate Map</a:t>
            </a:r>
            <a:endParaRPr sz="800" i="1">
              <a:solidFill>
                <a:schemeClr val="dk1"/>
              </a:solidFill>
            </a:endParaRPr>
          </a:p>
          <a:p>
            <a:pPr marL="91440" lvl="0" indent="0" algn="l" rtl="0">
              <a:spcBef>
                <a:spcPts val="0"/>
              </a:spcBef>
              <a:spcAft>
                <a:spcPts val="0"/>
              </a:spcAft>
              <a:buNone/>
            </a:pPr>
            <a:r>
              <a:rPr lang="en" sz="800" i="1">
                <a:solidFill>
                  <a:schemeClr val="dk1"/>
                </a:solidFill>
              </a:rPr>
              <a:t>Wells Labels</a:t>
            </a:r>
            <a:endParaRPr sz="800" i="1">
              <a:solidFill>
                <a:schemeClr val="dk1"/>
              </a:solidFill>
            </a:endParaRPr>
          </a:p>
          <a:p>
            <a:pPr marL="0" lvl="0" indent="0" algn="l" rtl="0">
              <a:spcBef>
                <a:spcPts val="0"/>
              </a:spcBef>
              <a:spcAft>
                <a:spcPts val="0"/>
              </a:spcAft>
              <a:buClr>
                <a:schemeClr val="dk1"/>
              </a:buClr>
              <a:buSzPts val="1100"/>
              <a:buFont typeface="Arial"/>
              <a:buNone/>
            </a:pPr>
            <a:r>
              <a:rPr lang="en" sz="800" i="1">
                <a:solidFill>
                  <a:srgbClr val="FF0000"/>
                </a:solidFill>
              </a:rPr>
              <a:t>  need help- labels/map</a:t>
            </a:r>
            <a:endParaRPr sz="800" i="1">
              <a:solidFill>
                <a:schemeClr val="dk1"/>
              </a:solidFill>
            </a:endParaRPr>
          </a:p>
        </p:txBody>
      </p:sp>
      <p:sp>
        <p:nvSpPr>
          <p:cNvPr id="83" name="Google Shape;83;p14"/>
          <p:cNvSpPr/>
          <p:nvPr/>
        </p:nvSpPr>
        <p:spPr>
          <a:xfrm>
            <a:off x="1796600" y="1324726"/>
            <a:ext cx="2313900" cy="1616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91440" lvl="0" indent="-109220" algn="l" rtl="0">
              <a:spcBef>
                <a:spcPts val="0"/>
              </a:spcBef>
              <a:spcAft>
                <a:spcPts val="0"/>
              </a:spcAft>
              <a:buSzPts val="1000"/>
              <a:buChar char="●"/>
            </a:pPr>
            <a:r>
              <a:rPr lang="en" sz="1000"/>
              <a:t>Plasma - 500uL</a:t>
            </a:r>
            <a:endParaRPr sz="1000"/>
          </a:p>
          <a:p>
            <a:pPr marL="91440" lvl="0" indent="-109220" algn="l" rtl="0">
              <a:spcBef>
                <a:spcPts val="0"/>
              </a:spcBef>
              <a:spcAft>
                <a:spcPts val="0"/>
              </a:spcAft>
              <a:buSzPts val="1000"/>
              <a:buChar char="●"/>
            </a:pPr>
            <a:r>
              <a:rPr lang="en" sz="1000"/>
              <a:t>Digestion Buffer - 125uL</a:t>
            </a:r>
            <a:endParaRPr sz="1000"/>
          </a:p>
          <a:p>
            <a:pPr marL="91440" lvl="0" indent="-109220" algn="l" rtl="0">
              <a:spcBef>
                <a:spcPts val="0"/>
              </a:spcBef>
              <a:spcAft>
                <a:spcPts val="0"/>
              </a:spcAft>
              <a:buSzPts val="1000"/>
              <a:buChar char="●"/>
            </a:pPr>
            <a:r>
              <a:rPr lang="en" sz="1000"/>
              <a:t>Proteinase K - 20uL</a:t>
            </a:r>
            <a:endParaRPr/>
          </a:p>
        </p:txBody>
      </p:sp>
      <p:sp>
        <p:nvSpPr>
          <p:cNvPr id="84" name="Google Shape;84;p14"/>
          <p:cNvSpPr/>
          <p:nvPr/>
        </p:nvSpPr>
        <p:spPr>
          <a:xfrm>
            <a:off x="4110500" y="1325876"/>
            <a:ext cx="3506700" cy="1616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800"/>
          </a:p>
          <a:p>
            <a:pPr marL="457200" lvl="0" indent="0" algn="l" rtl="0">
              <a:lnSpc>
                <a:spcPct val="115000"/>
              </a:lnSpc>
              <a:spcBef>
                <a:spcPts val="0"/>
              </a:spcBef>
              <a:spcAft>
                <a:spcPts val="0"/>
              </a:spcAft>
              <a:buNone/>
            </a:pPr>
            <a:endParaRPr sz="800"/>
          </a:p>
          <a:p>
            <a:pPr marL="91440" lvl="0" indent="-96520" algn="l" rtl="0">
              <a:lnSpc>
                <a:spcPct val="115000"/>
              </a:lnSpc>
              <a:spcBef>
                <a:spcPts val="0"/>
              </a:spcBef>
              <a:spcAft>
                <a:spcPts val="0"/>
              </a:spcAft>
              <a:buSzPts val="800"/>
              <a:buChar char="●"/>
            </a:pPr>
            <a:r>
              <a:rPr lang="en" sz="800"/>
              <a:t>Transfer sample plasma to a microcentrifuge tube</a:t>
            </a:r>
            <a:endParaRPr sz="800"/>
          </a:p>
          <a:p>
            <a:pPr marL="91440" lvl="0" indent="-96520" algn="l" rtl="0">
              <a:lnSpc>
                <a:spcPct val="115000"/>
              </a:lnSpc>
              <a:spcBef>
                <a:spcPts val="0"/>
              </a:spcBef>
              <a:spcAft>
                <a:spcPts val="0"/>
              </a:spcAft>
              <a:buSzPts val="800"/>
              <a:buChar char="●"/>
            </a:pPr>
            <a:r>
              <a:rPr lang="en" sz="800"/>
              <a:t>Add 125µL of MAGicBead cfDNA Digestion Buffer</a:t>
            </a:r>
            <a:endParaRPr sz="800"/>
          </a:p>
          <a:p>
            <a:pPr marL="91440" lvl="0" indent="-96520" algn="l" rtl="0">
              <a:lnSpc>
                <a:spcPct val="115000"/>
              </a:lnSpc>
              <a:spcBef>
                <a:spcPts val="0"/>
              </a:spcBef>
              <a:spcAft>
                <a:spcPts val="0"/>
              </a:spcAft>
              <a:buSzPts val="800"/>
              <a:buChar char="●"/>
            </a:pPr>
            <a:r>
              <a:rPr lang="en" sz="800"/>
              <a:t>Vortex and briefly centrifuge</a:t>
            </a:r>
            <a:endParaRPr sz="800"/>
          </a:p>
          <a:p>
            <a:pPr marL="91440" lvl="0" indent="-96520" algn="l" rtl="0">
              <a:lnSpc>
                <a:spcPct val="115000"/>
              </a:lnSpc>
              <a:spcBef>
                <a:spcPts val="0"/>
              </a:spcBef>
              <a:spcAft>
                <a:spcPts val="0"/>
              </a:spcAft>
              <a:buSzPts val="800"/>
              <a:buChar char="●"/>
            </a:pPr>
            <a:r>
              <a:rPr lang="en" sz="800"/>
              <a:t>Add 20µL of Proteinase K. Vortex and briefly centrifuge again</a:t>
            </a:r>
            <a:endParaRPr sz="800"/>
          </a:p>
          <a:p>
            <a:pPr marL="91440" lvl="0" indent="-96520" algn="l" rtl="0">
              <a:lnSpc>
                <a:spcPct val="115000"/>
              </a:lnSpc>
              <a:spcBef>
                <a:spcPts val="0"/>
              </a:spcBef>
              <a:spcAft>
                <a:spcPts val="0"/>
              </a:spcAft>
              <a:buSzPts val="800"/>
              <a:buChar char="●"/>
            </a:pPr>
            <a:r>
              <a:rPr lang="en" sz="800"/>
              <a:t>Incubate in a dry bath at 55°C for 30 minutes</a:t>
            </a:r>
            <a:endParaRPr sz="800"/>
          </a:p>
          <a:p>
            <a:pPr marL="91440" lvl="0" indent="-96520" algn="l" rtl="0">
              <a:lnSpc>
                <a:spcPct val="115000"/>
              </a:lnSpc>
              <a:spcBef>
                <a:spcPts val="0"/>
              </a:spcBef>
              <a:spcAft>
                <a:spcPts val="0"/>
              </a:spcAft>
              <a:buSzPts val="800"/>
              <a:buChar char="●"/>
            </a:pPr>
            <a:r>
              <a:rPr lang="en" sz="800"/>
              <a:t>Transfer the digested samples to a 2.2mL deep-well sample plate</a:t>
            </a:r>
            <a:endParaRPr sz="800"/>
          </a:p>
          <a:p>
            <a:pPr marL="91440" lvl="0" indent="-96520" algn="l" rtl="0">
              <a:lnSpc>
                <a:spcPct val="115000"/>
              </a:lnSpc>
              <a:spcBef>
                <a:spcPts val="0"/>
              </a:spcBef>
              <a:spcAft>
                <a:spcPts val="0"/>
              </a:spcAft>
              <a:buSzPts val="800"/>
              <a:buChar char="●"/>
            </a:pPr>
            <a:r>
              <a:rPr lang="en" sz="800"/>
              <a:t>Use in the next step</a:t>
            </a:r>
            <a:endParaRPr sz="800"/>
          </a:p>
          <a:p>
            <a:pPr marL="0" lvl="0" indent="0" algn="ctr" rtl="0">
              <a:spcBef>
                <a:spcPts val="0"/>
              </a:spcBef>
              <a:spcAft>
                <a:spcPts val="0"/>
              </a:spcAft>
              <a:buNone/>
            </a:pPr>
            <a:endParaRPr sz="1000"/>
          </a:p>
        </p:txBody>
      </p:sp>
      <p:sp>
        <p:nvSpPr>
          <p:cNvPr id="85" name="Google Shape;85;p14"/>
          <p:cNvSpPr/>
          <p:nvPr/>
        </p:nvSpPr>
        <p:spPr>
          <a:xfrm>
            <a:off x="535850" y="399150"/>
            <a:ext cx="1097400" cy="805200"/>
          </a:xfrm>
          <a:prstGeom prst="round2DiagRect">
            <a:avLst>
              <a:gd name="adj1" fmla="val 16667"/>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rPr>
              <a:t>Receiving</a:t>
            </a:r>
            <a:endParaRPr/>
          </a:p>
        </p:txBody>
      </p:sp>
      <p:sp>
        <p:nvSpPr>
          <p:cNvPr id="86" name="Google Shape;86;p14"/>
          <p:cNvSpPr/>
          <p:nvPr/>
        </p:nvSpPr>
        <p:spPr>
          <a:xfrm>
            <a:off x="1951300" y="399150"/>
            <a:ext cx="1097400" cy="805200"/>
          </a:xfrm>
          <a:prstGeom prst="round2DiagRect">
            <a:avLst>
              <a:gd name="adj1" fmla="val 16667"/>
              <a:gd name="adj2" fmla="val 0"/>
            </a:avLst>
          </a:prstGeom>
          <a:solidFill>
            <a:srgbClr val="6D9EEB"/>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rPr>
              <a:t>cfDNA Extraction</a:t>
            </a:r>
            <a:endParaRPr sz="1200">
              <a:solidFill>
                <a:schemeClr val="dk1"/>
              </a:solidFill>
            </a:endParaRPr>
          </a:p>
        </p:txBody>
      </p:sp>
      <p:sp>
        <p:nvSpPr>
          <p:cNvPr id="87" name="Google Shape;87;p14"/>
          <p:cNvSpPr/>
          <p:nvPr/>
        </p:nvSpPr>
        <p:spPr>
          <a:xfrm>
            <a:off x="3366750" y="399150"/>
            <a:ext cx="1097400" cy="805200"/>
          </a:xfrm>
          <a:prstGeom prst="round2DiagRect">
            <a:avLst>
              <a:gd name="adj1" fmla="val 16667"/>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rPr>
              <a:t>cfDNA Quantification</a:t>
            </a:r>
            <a:endParaRPr sz="1000">
              <a:solidFill>
                <a:schemeClr val="dk1"/>
              </a:solidFill>
            </a:endParaRPr>
          </a:p>
          <a:p>
            <a:pPr marL="0" lvl="0" indent="0" algn="ctr" rtl="0">
              <a:spcBef>
                <a:spcPts val="0"/>
              </a:spcBef>
              <a:spcAft>
                <a:spcPts val="0"/>
              </a:spcAft>
              <a:buNone/>
            </a:pPr>
            <a:endParaRPr sz="1000">
              <a:solidFill>
                <a:schemeClr val="dk1"/>
              </a:solidFill>
            </a:endParaRPr>
          </a:p>
        </p:txBody>
      </p:sp>
      <p:sp>
        <p:nvSpPr>
          <p:cNvPr id="88" name="Google Shape;88;p14"/>
          <p:cNvSpPr/>
          <p:nvPr/>
        </p:nvSpPr>
        <p:spPr>
          <a:xfrm>
            <a:off x="4782200" y="399150"/>
            <a:ext cx="1097400" cy="805200"/>
          </a:xfrm>
          <a:prstGeom prst="round2DiagRect">
            <a:avLst>
              <a:gd name="adj1" fmla="val 16667"/>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rPr>
              <a:t>HpaII Digestion</a:t>
            </a:r>
            <a:endParaRPr sz="1000">
              <a:solidFill>
                <a:schemeClr val="dk1"/>
              </a:solidFill>
            </a:endParaRPr>
          </a:p>
          <a:p>
            <a:pPr marL="0" lvl="0" indent="0" algn="l" rtl="0">
              <a:spcBef>
                <a:spcPts val="0"/>
              </a:spcBef>
              <a:spcAft>
                <a:spcPts val="0"/>
              </a:spcAft>
              <a:buNone/>
            </a:pPr>
            <a:endParaRPr sz="1000">
              <a:solidFill>
                <a:schemeClr val="dk1"/>
              </a:solidFill>
            </a:endParaRPr>
          </a:p>
        </p:txBody>
      </p:sp>
      <p:sp>
        <p:nvSpPr>
          <p:cNvPr id="89" name="Google Shape;89;p14"/>
          <p:cNvSpPr/>
          <p:nvPr/>
        </p:nvSpPr>
        <p:spPr>
          <a:xfrm>
            <a:off x="6197650" y="399150"/>
            <a:ext cx="1097400" cy="805200"/>
          </a:xfrm>
          <a:prstGeom prst="round2DiagRect">
            <a:avLst>
              <a:gd name="adj1" fmla="val 16667"/>
              <a:gd name="adj2" fmla="val 0"/>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rPr>
              <a:t>ddPCR</a:t>
            </a:r>
            <a:endParaRPr sz="1000">
              <a:solidFill>
                <a:schemeClr val="dk1"/>
              </a:solidFill>
            </a:endParaRPr>
          </a:p>
          <a:p>
            <a:pPr marL="0" lvl="0" indent="0" algn="l" rtl="0">
              <a:spcBef>
                <a:spcPts val="0"/>
              </a:spcBef>
              <a:spcAft>
                <a:spcPts val="0"/>
              </a:spcAft>
              <a:buNone/>
            </a:pPr>
            <a:endParaRPr sz="1000">
              <a:solidFill>
                <a:schemeClr val="dk1"/>
              </a:solidFill>
            </a:endParaRPr>
          </a:p>
        </p:txBody>
      </p:sp>
      <p:sp>
        <p:nvSpPr>
          <p:cNvPr id="90" name="Google Shape;90;p14"/>
          <p:cNvSpPr/>
          <p:nvPr/>
        </p:nvSpPr>
        <p:spPr>
          <a:xfrm>
            <a:off x="7613100" y="399150"/>
            <a:ext cx="1097400" cy="805200"/>
          </a:xfrm>
          <a:prstGeom prst="round2DiagRect">
            <a:avLst>
              <a:gd name="adj1" fmla="val 16667"/>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rPr>
              <a:t>QC</a:t>
            </a:r>
            <a:endParaRPr sz="1000">
              <a:solidFill>
                <a:schemeClr val="dk1"/>
              </a:solidFill>
            </a:endParaRPr>
          </a:p>
          <a:p>
            <a:pPr marL="0" lvl="0" indent="0" algn="ctr" rtl="0">
              <a:spcBef>
                <a:spcPts val="0"/>
              </a:spcBef>
              <a:spcAft>
                <a:spcPts val="0"/>
              </a:spcAft>
              <a:buNone/>
            </a:pPr>
            <a:r>
              <a:rPr lang="en" sz="1000">
                <a:solidFill>
                  <a:schemeClr val="dk1"/>
                </a:solidFill>
              </a:rPr>
              <a:t>Results</a:t>
            </a:r>
            <a:endParaRPr sz="1000">
              <a:solidFill>
                <a:schemeClr val="dk1"/>
              </a:solidFill>
            </a:endParaRPr>
          </a:p>
          <a:p>
            <a:pPr marL="0" lvl="0" indent="0" algn="l" rtl="0">
              <a:spcBef>
                <a:spcPts val="0"/>
              </a:spcBef>
              <a:spcAft>
                <a:spcPts val="0"/>
              </a:spcAft>
              <a:buNone/>
            </a:pPr>
            <a:endParaRPr sz="1000">
              <a:solidFill>
                <a:schemeClr val="dk1"/>
              </a:solidFill>
            </a:endParaRPr>
          </a:p>
        </p:txBody>
      </p:sp>
      <p:cxnSp>
        <p:nvCxnSpPr>
          <p:cNvPr id="91" name="Google Shape;91;p14"/>
          <p:cNvCxnSpPr>
            <a:stCxn id="85" idx="0"/>
            <a:endCxn id="86" idx="2"/>
          </p:cNvCxnSpPr>
          <p:nvPr/>
        </p:nvCxnSpPr>
        <p:spPr>
          <a:xfrm>
            <a:off x="1633250" y="801750"/>
            <a:ext cx="318000" cy="0"/>
          </a:xfrm>
          <a:prstGeom prst="straightConnector1">
            <a:avLst/>
          </a:prstGeom>
          <a:noFill/>
          <a:ln w="9525" cap="flat" cmpd="sng">
            <a:solidFill>
              <a:schemeClr val="dk2"/>
            </a:solidFill>
            <a:prstDash val="solid"/>
            <a:round/>
            <a:headEnd type="none" w="med" len="med"/>
            <a:tailEnd type="triangle" w="med" len="med"/>
          </a:ln>
        </p:spPr>
      </p:cxnSp>
      <p:cxnSp>
        <p:nvCxnSpPr>
          <p:cNvPr id="92" name="Google Shape;92;p14"/>
          <p:cNvCxnSpPr>
            <a:stCxn id="86" idx="0"/>
            <a:endCxn id="87" idx="2"/>
          </p:cNvCxnSpPr>
          <p:nvPr/>
        </p:nvCxnSpPr>
        <p:spPr>
          <a:xfrm>
            <a:off x="3048700" y="801750"/>
            <a:ext cx="318000" cy="0"/>
          </a:xfrm>
          <a:prstGeom prst="straightConnector1">
            <a:avLst/>
          </a:prstGeom>
          <a:noFill/>
          <a:ln w="9525" cap="flat" cmpd="sng">
            <a:solidFill>
              <a:schemeClr val="dk2"/>
            </a:solidFill>
            <a:prstDash val="solid"/>
            <a:round/>
            <a:headEnd type="none" w="med" len="med"/>
            <a:tailEnd type="triangle" w="med" len="med"/>
          </a:ln>
        </p:spPr>
      </p:cxnSp>
      <p:cxnSp>
        <p:nvCxnSpPr>
          <p:cNvPr id="93" name="Google Shape;93;p14"/>
          <p:cNvCxnSpPr>
            <a:stCxn id="87" idx="0"/>
            <a:endCxn id="88" idx="2"/>
          </p:cNvCxnSpPr>
          <p:nvPr/>
        </p:nvCxnSpPr>
        <p:spPr>
          <a:xfrm>
            <a:off x="4464150" y="801750"/>
            <a:ext cx="318000" cy="0"/>
          </a:xfrm>
          <a:prstGeom prst="straightConnector1">
            <a:avLst/>
          </a:prstGeom>
          <a:noFill/>
          <a:ln w="9525" cap="flat" cmpd="sng">
            <a:solidFill>
              <a:schemeClr val="dk2"/>
            </a:solidFill>
            <a:prstDash val="solid"/>
            <a:round/>
            <a:headEnd type="none" w="med" len="med"/>
            <a:tailEnd type="triangle" w="med" len="med"/>
          </a:ln>
        </p:spPr>
      </p:cxnSp>
      <p:cxnSp>
        <p:nvCxnSpPr>
          <p:cNvPr id="94" name="Google Shape;94;p14"/>
          <p:cNvCxnSpPr>
            <a:stCxn id="88" idx="0"/>
            <a:endCxn id="89" idx="2"/>
          </p:cNvCxnSpPr>
          <p:nvPr/>
        </p:nvCxnSpPr>
        <p:spPr>
          <a:xfrm>
            <a:off x="5879600" y="801750"/>
            <a:ext cx="318000" cy="0"/>
          </a:xfrm>
          <a:prstGeom prst="straightConnector1">
            <a:avLst/>
          </a:prstGeom>
          <a:noFill/>
          <a:ln w="9525" cap="flat" cmpd="sng">
            <a:solidFill>
              <a:schemeClr val="dk2"/>
            </a:solidFill>
            <a:prstDash val="solid"/>
            <a:round/>
            <a:headEnd type="none" w="med" len="med"/>
            <a:tailEnd type="triangle" w="med" len="med"/>
          </a:ln>
        </p:spPr>
      </p:cxnSp>
      <p:cxnSp>
        <p:nvCxnSpPr>
          <p:cNvPr id="95" name="Google Shape;95;p14"/>
          <p:cNvCxnSpPr>
            <a:stCxn id="89" idx="0"/>
            <a:endCxn id="90" idx="2"/>
          </p:cNvCxnSpPr>
          <p:nvPr/>
        </p:nvCxnSpPr>
        <p:spPr>
          <a:xfrm>
            <a:off x="7295050" y="801750"/>
            <a:ext cx="318000" cy="0"/>
          </a:xfrm>
          <a:prstGeom prst="straightConnector1">
            <a:avLst/>
          </a:prstGeom>
          <a:noFill/>
          <a:ln w="9525" cap="flat" cmpd="sng">
            <a:solidFill>
              <a:schemeClr val="dk2"/>
            </a:solidFill>
            <a:prstDash val="solid"/>
            <a:round/>
            <a:headEnd type="none" w="med" len="med"/>
            <a:tailEnd type="triangle" w="med" len="med"/>
          </a:ln>
        </p:spPr>
      </p:cxnSp>
      <p:sp>
        <p:nvSpPr>
          <p:cNvPr id="96" name="Google Shape;96;p14"/>
          <p:cNvSpPr/>
          <p:nvPr/>
        </p:nvSpPr>
        <p:spPr>
          <a:xfrm>
            <a:off x="1796600" y="1325878"/>
            <a:ext cx="2313900" cy="243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t>Volumes/Calculations</a:t>
            </a:r>
            <a:endParaRPr sz="1200" b="1"/>
          </a:p>
        </p:txBody>
      </p:sp>
      <p:sp>
        <p:nvSpPr>
          <p:cNvPr id="97" name="Google Shape;97;p14"/>
          <p:cNvSpPr/>
          <p:nvPr/>
        </p:nvSpPr>
        <p:spPr>
          <a:xfrm>
            <a:off x="436225" y="1325878"/>
            <a:ext cx="1360500" cy="243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t>Tubes/Plates</a:t>
            </a:r>
            <a:endParaRPr sz="1200" b="1"/>
          </a:p>
        </p:txBody>
      </p:sp>
      <p:sp>
        <p:nvSpPr>
          <p:cNvPr id="98" name="Google Shape;98;p14"/>
          <p:cNvSpPr/>
          <p:nvPr/>
        </p:nvSpPr>
        <p:spPr>
          <a:xfrm>
            <a:off x="4110500" y="1325878"/>
            <a:ext cx="3506700" cy="243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t>Protocol</a:t>
            </a:r>
            <a:endParaRPr sz="1200" b="1"/>
          </a:p>
        </p:txBody>
      </p:sp>
      <p:sp>
        <p:nvSpPr>
          <p:cNvPr id="99" name="Google Shape;99;p14"/>
          <p:cNvSpPr/>
          <p:nvPr/>
        </p:nvSpPr>
        <p:spPr>
          <a:xfrm>
            <a:off x="7617200" y="1325876"/>
            <a:ext cx="1409400" cy="1616400"/>
          </a:xfrm>
          <a:prstGeom prst="round1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91440" lvl="0" indent="-102870" algn="l" rtl="0">
              <a:lnSpc>
                <a:spcPct val="115000"/>
              </a:lnSpc>
              <a:spcBef>
                <a:spcPts val="0"/>
              </a:spcBef>
              <a:spcAft>
                <a:spcPts val="0"/>
              </a:spcAft>
              <a:buSzPts val="900"/>
              <a:buChar char="●"/>
            </a:pPr>
            <a:endParaRPr sz="1000"/>
          </a:p>
          <a:p>
            <a:pPr marL="91440" lvl="0" indent="-102870" algn="l" rtl="0">
              <a:lnSpc>
                <a:spcPct val="115000"/>
              </a:lnSpc>
              <a:spcBef>
                <a:spcPts val="0"/>
              </a:spcBef>
              <a:spcAft>
                <a:spcPts val="0"/>
              </a:spcAft>
              <a:buSzPts val="900"/>
              <a:buChar char="●"/>
            </a:pPr>
            <a:r>
              <a:rPr lang="en" sz="1000"/>
              <a:t>Reagents used</a:t>
            </a:r>
            <a:r>
              <a:rPr lang="en" sz="1000" b="1"/>
              <a:t> </a:t>
            </a:r>
            <a:endParaRPr sz="1000" b="1"/>
          </a:p>
          <a:p>
            <a:pPr marL="91440" lvl="0" indent="-102870" algn="l" rtl="0">
              <a:lnSpc>
                <a:spcPct val="115000"/>
              </a:lnSpc>
              <a:spcBef>
                <a:spcPts val="0"/>
              </a:spcBef>
              <a:spcAft>
                <a:spcPts val="0"/>
              </a:spcAft>
              <a:buSzPts val="900"/>
              <a:buChar char="●"/>
            </a:pPr>
            <a:r>
              <a:rPr lang="en" sz="1000"/>
              <a:t>Calculate volumes used for n samples</a:t>
            </a:r>
            <a:endParaRPr sz="1000"/>
          </a:p>
          <a:p>
            <a:pPr marL="91440" lvl="0" indent="-102870" algn="l" rtl="0">
              <a:lnSpc>
                <a:spcPct val="115000"/>
              </a:lnSpc>
              <a:spcBef>
                <a:spcPts val="0"/>
              </a:spcBef>
              <a:spcAft>
                <a:spcPts val="0"/>
              </a:spcAft>
              <a:buSzPts val="900"/>
              <a:buChar char="●"/>
            </a:pPr>
            <a:r>
              <a:rPr lang="en" sz="1000"/>
              <a:t>Substrat volumes used from available inventory</a:t>
            </a:r>
            <a:r>
              <a:rPr lang="en" sz="1100"/>
              <a:t> </a:t>
            </a:r>
            <a:endParaRPr/>
          </a:p>
        </p:txBody>
      </p:sp>
      <p:sp>
        <p:nvSpPr>
          <p:cNvPr id="100" name="Google Shape;100;p14"/>
          <p:cNvSpPr/>
          <p:nvPr/>
        </p:nvSpPr>
        <p:spPr>
          <a:xfrm>
            <a:off x="7617200" y="1325878"/>
            <a:ext cx="1199700" cy="243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t>Data</a:t>
            </a:r>
            <a:endParaRPr sz="1200" b="1"/>
          </a:p>
        </p:txBody>
      </p:sp>
      <p:sp>
        <p:nvSpPr>
          <p:cNvPr id="101" name="Google Shape;101;p14"/>
          <p:cNvSpPr/>
          <p:nvPr/>
        </p:nvSpPr>
        <p:spPr>
          <a:xfrm>
            <a:off x="206325" y="2978753"/>
            <a:ext cx="1803600" cy="2078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b="1"/>
          </a:p>
          <a:p>
            <a:pPr marL="0" lvl="0" indent="0" algn="l" rtl="0">
              <a:spcBef>
                <a:spcPts val="0"/>
              </a:spcBef>
              <a:spcAft>
                <a:spcPts val="0"/>
              </a:spcAft>
              <a:buNone/>
            </a:pPr>
            <a:endParaRPr sz="800" b="1"/>
          </a:p>
          <a:p>
            <a:pPr marL="0" lvl="0" indent="0" algn="l" rtl="0">
              <a:spcBef>
                <a:spcPts val="0"/>
              </a:spcBef>
              <a:spcAft>
                <a:spcPts val="0"/>
              </a:spcAft>
              <a:buNone/>
            </a:pPr>
            <a:r>
              <a:rPr lang="en" sz="800" b="1"/>
              <a:t>IN:</a:t>
            </a:r>
            <a:endParaRPr sz="800" b="1"/>
          </a:p>
          <a:p>
            <a:pPr marL="91440" lvl="0" indent="0" algn="l" rtl="0">
              <a:spcBef>
                <a:spcPts val="0"/>
              </a:spcBef>
              <a:spcAft>
                <a:spcPts val="0"/>
              </a:spcAft>
              <a:buClr>
                <a:schemeClr val="dk1"/>
              </a:buClr>
              <a:buSzPts val="1100"/>
              <a:buFont typeface="Arial"/>
              <a:buNone/>
            </a:pPr>
            <a:r>
              <a:rPr lang="en" sz="800" b="1">
                <a:solidFill>
                  <a:schemeClr val="dk1"/>
                </a:solidFill>
              </a:rPr>
              <a:t>2.2mL deep-well plate</a:t>
            </a:r>
            <a:endParaRPr sz="800" b="1">
              <a:solidFill>
                <a:schemeClr val="dk1"/>
              </a:solidFill>
            </a:endParaRPr>
          </a:p>
          <a:p>
            <a:pPr marL="91440" lvl="0" indent="0" algn="l" rtl="0">
              <a:spcBef>
                <a:spcPts val="0"/>
              </a:spcBef>
              <a:spcAft>
                <a:spcPts val="0"/>
              </a:spcAft>
              <a:buClr>
                <a:schemeClr val="dk1"/>
              </a:buClr>
              <a:buSzPts val="1100"/>
              <a:buFont typeface="Arial"/>
              <a:buNone/>
            </a:pPr>
            <a:r>
              <a:rPr lang="en" sz="800" i="1">
                <a:solidFill>
                  <a:schemeClr val="dk1"/>
                </a:solidFill>
              </a:rPr>
              <a:t>Plate Labels / Plate Map</a:t>
            </a:r>
            <a:endParaRPr sz="800" i="1">
              <a:solidFill>
                <a:schemeClr val="dk1"/>
              </a:solidFill>
            </a:endParaRPr>
          </a:p>
          <a:p>
            <a:pPr marL="91440" lvl="0" indent="0" algn="l" rtl="0">
              <a:spcBef>
                <a:spcPts val="0"/>
              </a:spcBef>
              <a:spcAft>
                <a:spcPts val="0"/>
              </a:spcAft>
              <a:buNone/>
            </a:pPr>
            <a:r>
              <a:rPr lang="en" sz="800" i="1">
                <a:solidFill>
                  <a:schemeClr val="dk1"/>
                </a:solidFill>
              </a:rPr>
              <a:t>Wells Labels</a:t>
            </a:r>
            <a:endParaRPr sz="800" b="1"/>
          </a:p>
          <a:p>
            <a:pPr marL="0" lvl="0" indent="0" algn="l" rtl="0">
              <a:spcBef>
                <a:spcPts val="0"/>
              </a:spcBef>
              <a:spcAft>
                <a:spcPts val="0"/>
              </a:spcAft>
              <a:buNone/>
            </a:pPr>
            <a:r>
              <a:rPr lang="en" sz="800" b="1">
                <a:solidFill>
                  <a:schemeClr val="dk1"/>
                </a:solidFill>
              </a:rPr>
              <a:t>GENERATE: PCR Plate</a:t>
            </a:r>
            <a:endParaRPr sz="800" b="1">
              <a:solidFill>
                <a:schemeClr val="dk1"/>
              </a:solidFill>
            </a:endParaRPr>
          </a:p>
          <a:p>
            <a:pPr marL="0" lvl="0" indent="0" algn="l" rtl="0">
              <a:spcBef>
                <a:spcPts val="0"/>
              </a:spcBef>
              <a:spcAft>
                <a:spcPts val="0"/>
              </a:spcAft>
              <a:buNone/>
            </a:pPr>
            <a:r>
              <a:rPr lang="en" sz="800" b="1">
                <a:solidFill>
                  <a:schemeClr val="dk1"/>
                </a:solidFill>
              </a:rPr>
              <a:t>OUT:</a:t>
            </a:r>
            <a:endParaRPr sz="800" b="1">
              <a:solidFill>
                <a:schemeClr val="dk1"/>
              </a:solidFill>
            </a:endParaRPr>
          </a:p>
          <a:p>
            <a:pPr marL="91440" lvl="0" indent="0" algn="l" rtl="0">
              <a:spcBef>
                <a:spcPts val="0"/>
              </a:spcBef>
              <a:spcAft>
                <a:spcPts val="0"/>
              </a:spcAft>
              <a:buNone/>
            </a:pPr>
            <a:r>
              <a:rPr lang="en" sz="800" b="1">
                <a:solidFill>
                  <a:schemeClr val="dk1"/>
                </a:solidFill>
              </a:rPr>
              <a:t>PCR Plate</a:t>
            </a:r>
            <a:endParaRPr sz="800" b="1">
              <a:solidFill>
                <a:schemeClr val="dk1"/>
              </a:solidFill>
            </a:endParaRPr>
          </a:p>
          <a:p>
            <a:pPr marL="91440" lvl="0" indent="0" algn="l" rtl="0">
              <a:spcBef>
                <a:spcPts val="0"/>
              </a:spcBef>
              <a:spcAft>
                <a:spcPts val="0"/>
              </a:spcAft>
              <a:buNone/>
            </a:pPr>
            <a:r>
              <a:rPr lang="en" sz="800" i="1">
                <a:solidFill>
                  <a:schemeClr val="dk1"/>
                </a:solidFill>
              </a:rPr>
              <a:t>Plate Labels / Plate Map</a:t>
            </a:r>
            <a:endParaRPr sz="800" i="1">
              <a:solidFill>
                <a:schemeClr val="dk1"/>
              </a:solidFill>
            </a:endParaRPr>
          </a:p>
          <a:p>
            <a:pPr marL="91440" lvl="0" indent="0" algn="l" rtl="0">
              <a:spcBef>
                <a:spcPts val="0"/>
              </a:spcBef>
              <a:spcAft>
                <a:spcPts val="0"/>
              </a:spcAft>
              <a:buNone/>
            </a:pPr>
            <a:r>
              <a:rPr lang="en" sz="800" i="1">
                <a:solidFill>
                  <a:schemeClr val="dk1"/>
                </a:solidFill>
              </a:rPr>
              <a:t>Wells Labels</a:t>
            </a:r>
            <a:endParaRPr sz="800" i="1">
              <a:solidFill>
                <a:schemeClr val="dk1"/>
              </a:solidFill>
            </a:endParaRPr>
          </a:p>
          <a:p>
            <a:pPr marL="0" lvl="0" indent="0" algn="l" rtl="0">
              <a:spcBef>
                <a:spcPts val="0"/>
              </a:spcBef>
              <a:spcAft>
                <a:spcPts val="0"/>
              </a:spcAft>
              <a:buNone/>
            </a:pPr>
            <a:endParaRPr sz="800">
              <a:solidFill>
                <a:schemeClr val="dk1"/>
              </a:solidFill>
            </a:endParaRPr>
          </a:p>
          <a:p>
            <a:pPr marL="0" lvl="0" indent="0" algn="l" rtl="0">
              <a:spcBef>
                <a:spcPts val="0"/>
              </a:spcBef>
              <a:spcAft>
                <a:spcPts val="0"/>
              </a:spcAft>
              <a:buNone/>
            </a:pPr>
            <a:r>
              <a:rPr lang="en" sz="800" b="1">
                <a:solidFill>
                  <a:schemeClr val="dk1"/>
                </a:solidFill>
              </a:rPr>
              <a:t>Use these samples in the cfDNA Quantification and HpaII Digestion Steps</a:t>
            </a:r>
            <a:endParaRPr sz="800" i="1">
              <a:solidFill>
                <a:srgbClr val="FF0000"/>
              </a:solidFill>
            </a:endParaRPr>
          </a:p>
          <a:p>
            <a:pPr marL="0" lvl="0" indent="0" algn="l" rtl="0">
              <a:spcBef>
                <a:spcPts val="0"/>
              </a:spcBef>
              <a:spcAft>
                <a:spcPts val="0"/>
              </a:spcAft>
              <a:buNone/>
            </a:pPr>
            <a:r>
              <a:rPr lang="en" sz="800" i="1">
                <a:solidFill>
                  <a:srgbClr val="FF0000"/>
                </a:solidFill>
              </a:rPr>
              <a:t>   need help- labels/map - See Above</a:t>
            </a:r>
            <a:endParaRPr sz="800" i="1">
              <a:solidFill>
                <a:schemeClr val="dk1"/>
              </a:solidFill>
            </a:endParaRPr>
          </a:p>
        </p:txBody>
      </p:sp>
      <p:sp>
        <p:nvSpPr>
          <p:cNvPr id="102" name="Google Shape;102;p14"/>
          <p:cNvSpPr/>
          <p:nvPr/>
        </p:nvSpPr>
        <p:spPr>
          <a:xfrm>
            <a:off x="1810000" y="2978778"/>
            <a:ext cx="2313900" cy="2078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91440" lvl="0" indent="-109220" algn="l" rtl="0">
              <a:spcBef>
                <a:spcPts val="0"/>
              </a:spcBef>
              <a:spcAft>
                <a:spcPts val="0"/>
              </a:spcAft>
              <a:buClr>
                <a:schemeClr val="dk1"/>
              </a:buClr>
              <a:buSzPts val="1000"/>
              <a:buChar char="●"/>
            </a:pPr>
            <a:r>
              <a:rPr lang="en" sz="1000">
                <a:solidFill>
                  <a:schemeClr val="dk1"/>
                </a:solidFill>
              </a:rPr>
              <a:t>Digested Sample - 645uL</a:t>
            </a:r>
            <a:endParaRPr sz="1000">
              <a:solidFill>
                <a:schemeClr val="dk1"/>
              </a:solidFill>
            </a:endParaRPr>
          </a:p>
          <a:p>
            <a:pPr marL="91440" lvl="0" indent="-109220" algn="l" rtl="0">
              <a:spcBef>
                <a:spcPts val="0"/>
              </a:spcBef>
              <a:spcAft>
                <a:spcPts val="0"/>
              </a:spcAft>
              <a:buClr>
                <a:schemeClr val="dk1"/>
              </a:buClr>
              <a:buSzPts val="1000"/>
              <a:buChar char="●"/>
            </a:pPr>
            <a:r>
              <a:rPr lang="en" sz="1000">
                <a:solidFill>
                  <a:schemeClr val="dk1"/>
                </a:solidFill>
              </a:rPr>
              <a:t>Binding Buffer - 125uL</a:t>
            </a:r>
            <a:endParaRPr sz="1000">
              <a:solidFill>
                <a:schemeClr val="dk1"/>
              </a:solidFill>
            </a:endParaRPr>
          </a:p>
          <a:p>
            <a:pPr marL="91440" lvl="0" indent="-109220" algn="l" rtl="0">
              <a:spcBef>
                <a:spcPts val="0"/>
              </a:spcBef>
              <a:spcAft>
                <a:spcPts val="0"/>
              </a:spcAft>
              <a:buClr>
                <a:schemeClr val="dk1"/>
              </a:buClr>
              <a:buSzPts val="1000"/>
              <a:buChar char="●"/>
            </a:pPr>
            <a:r>
              <a:rPr lang="en" sz="1000">
                <a:solidFill>
                  <a:schemeClr val="dk1"/>
                </a:solidFill>
              </a:rPr>
              <a:t>MAGic Beads - 10uL</a:t>
            </a:r>
            <a:endParaRPr sz="1000">
              <a:solidFill>
                <a:schemeClr val="dk1"/>
              </a:solidFill>
            </a:endParaRPr>
          </a:p>
          <a:p>
            <a:pPr marL="91440" lvl="0" indent="-109220" algn="l" rtl="0">
              <a:spcBef>
                <a:spcPts val="0"/>
              </a:spcBef>
              <a:spcAft>
                <a:spcPts val="0"/>
              </a:spcAft>
              <a:buClr>
                <a:schemeClr val="dk1"/>
              </a:buClr>
              <a:buSzPts val="1000"/>
              <a:buChar char="●"/>
            </a:pPr>
            <a:r>
              <a:rPr lang="en" sz="1000">
                <a:solidFill>
                  <a:schemeClr val="dk1"/>
                </a:solidFill>
              </a:rPr>
              <a:t>Eluted cfDNA - 50uL</a:t>
            </a:r>
            <a:endParaRPr sz="1000">
              <a:solidFill>
                <a:schemeClr val="dk1"/>
              </a:solidFill>
            </a:endParaRPr>
          </a:p>
        </p:txBody>
      </p:sp>
      <p:sp>
        <p:nvSpPr>
          <p:cNvPr id="103" name="Google Shape;103;p14"/>
          <p:cNvSpPr/>
          <p:nvPr/>
        </p:nvSpPr>
        <p:spPr>
          <a:xfrm>
            <a:off x="4123875" y="2979913"/>
            <a:ext cx="3506700" cy="2078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800"/>
          </a:p>
          <a:p>
            <a:pPr marL="457200" lvl="0" indent="0" algn="l" rtl="0">
              <a:lnSpc>
                <a:spcPct val="115000"/>
              </a:lnSpc>
              <a:spcBef>
                <a:spcPts val="0"/>
              </a:spcBef>
              <a:spcAft>
                <a:spcPts val="0"/>
              </a:spcAft>
              <a:buNone/>
            </a:pPr>
            <a:endParaRPr sz="800"/>
          </a:p>
          <a:p>
            <a:pPr marL="91440" lvl="0" indent="-96520" algn="l" rtl="0">
              <a:lnSpc>
                <a:spcPct val="115000"/>
              </a:lnSpc>
              <a:spcBef>
                <a:spcPts val="0"/>
              </a:spcBef>
              <a:spcAft>
                <a:spcPts val="0"/>
              </a:spcAft>
              <a:buSzPts val="800"/>
              <a:buChar char="●"/>
            </a:pPr>
            <a:r>
              <a:rPr lang="en" sz="800"/>
              <a:t>Add 125µL of MAGicBead cfDNA Binding Buffer and mix the plate with the Isopure96 “QuickMix” protocol</a:t>
            </a:r>
            <a:endParaRPr sz="800"/>
          </a:p>
          <a:p>
            <a:pPr marL="91440" lvl="0" indent="-96520" algn="l" rtl="0">
              <a:lnSpc>
                <a:spcPct val="115000"/>
              </a:lnSpc>
              <a:spcBef>
                <a:spcPts val="0"/>
              </a:spcBef>
              <a:spcAft>
                <a:spcPts val="0"/>
              </a:spcAft>
              <a:buSzPts val="800"/>
              <a:buChar char="●"/>
            </a:pPr>
            <a:r>
              <a:rPr lang="en" sz="800"/>
              <a:t>Add 10µL of cfDNA MAGicBeads to each well. Ensure beads are added after the binding buffer</a:t>
            </a:r>
            <a:endParaRPr sz="800"/>
          </a:p>
          <a:p>
            <a:pPr marL="91440" lvl="0" indent="-96520" algn="l" rtl="0">
              <a:lnSpc>
                <a:spcPct val="115000"/>
              </a:lnSpc>
              <a:spcBef>
                <a:spcPts val="0"/>
              </a:spcBef>
              <a:spcAft>
                <a:spcPts val="0"/>
              </a:spcAft>
              <a:buSzPts val="800"/>
              <a:buChar char="●"/>
            </a:pPr>
            <a:r>
              <a:rPr lang="en" sz="800"/>
              <a:t>Load the sample plate and prepare wash plates according to the "ZymocfDNA" protocol</a:t>
            </a:r>
            <a:endParaRPr sz="800"/>
          </a:p>
          <a:p>
            <a:pPr marL="91440" lvl="0" indent="-96520" algn="l" rtl="0">
              <a:lnSpc>
                <a:spcPct val="115000"/>
              </a:lnSpc>
              <a:spcBef>
                <a:spcPts val="0"/>
              </a:spcBef>
              <a:spcAft>
                <a:spcPts val="0"/>
              </a:spcAft>
              <a:buSzPts val="800"/>
              <a:buChar char="●"/>
            </a:pPr>
            <a:r>
              <a:rPr lang="en" sz="800"/>
              <a:t>Execute the "ZymocfDNA" protocol on the Isopure 96 system</a:t>
            </a:r>
            <a:endParaRPr sz="800"/>
          </a:p>
          <a:p>
            <a:pPr marL="91440" lvl="0" indent="-96520" algn="l" rtl="0">
              <a:lnSpc>
                <a:spcPct val="115000"/>
              </a:lnSpc>
              <a:spcBef>
                <a:spcPts val="0"/>
              </a:spcBef>
              <a:spcAft>
                <a:spcPts val="0"/>
              </a:spcAft>
              <a:buSzPts val="800"/>
              <a:buChar char="●"/>
            </a:pPr>
            <a:r>
              <a:rPr lang="en" sz="800"/>
              <a:t>Transfer the eluted DNA to a clean semi skirted PCR plate</a:t>
            </a:r>
            <a:endParaRPr sz="800"/>
          </a:p>
          <a:p>
            <a:pPr marL="91440" lvl="0" indent="-96520" algn="l" rtl="0">
              <a:lnSpc>
                <a:spcPct val="115000"/>
              </a:lnSpc>
              <a:spcBef>
                <a:spcPts val="0"/>
              </a:spcBef>
              <a:spcAft>
                <a:spcPts val="0"/>
              </a:spcAft>
              <a:buSzPts val="800"/>
              <a:buChar char="●"/>
            </a:pPr>
            <a:r>
              <a:rPr lang="en" sz="800"/>
              <a:t>Seal the plate with a plate seal</a:t>
            </a:r>
            <a:endParaRPr sz="800"/>
          </a:p>
          <a:p>
            <a:pPr marL="91440" lvl="0" indent="-96520" algn="l" rtl="0">
              <a:lnSpc>
                <a:spcPct val="115000"/>
              </a:lnSpc>
              <a:spcBef>
                <a:spcPts val="0"/>
              </a:spcBef>
              <a:spcAft>
                <a:spcPts val="0"/>
              </a:spcAft>
              <a:buSzPts val="800"/>
              <a:buChar char="●"/>
            </a:pPr>
            <a:r>
              <a:rPr lang="en" sz="800"/>
              <a:t>Store extracted DNA at 4°C or -20°C if quantification will be performed on another day</a:t>
            </a:r>
            <a:endParaRPr sz="800"/>
          </a:p>
          <a:p>
            <a:pPr marL="0" lvl="0" indent="0" algn="ctr" rtl="0">
              <a:spcBef>
                <a:spcPts val="0"/>
              </a:spcBef>
              <a:spcAft>
                <a:spcPts val="0"/>
              </a:spcAft>
              <a:buNone/>
            </a:pPr>
            <a:endParaRPr sz="1000"/>
          </a:p>
        </p:txBody>
      </p:sp>
      <p:sp>
        <p:nvSpPr>
          <p:cNvPr id="104" name="Google Shape;104;p14"/>
          <p:cNvSpPr/>
          <p:nvPr/>
        </p:nvSpPr>
        <p:spPr>
          <a:xfrm>
            <a:off x="1809975" y="2979914"/>
            <a:ext cx="2313900" cy="243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t>Volumes/Calculations</a:t>
            </a:r>
            <a:endParaRPr sz="1200" b="1"/>
          </a:p>
        </p:txBody>
      </p:sp>
      <p:sp>
        <p:nvSpPr>
          <p:cNvPr id="105" name="Google Shape;105;p14"/>
          <p:cNvSpPr/>
          <p:nvPr/>
        </p:nvSpPr>
        <p:spPr>
          <a:xfrm>
            <a:off x="486550" y="2979913"/>
            <a:ext cx="1323600" cy="243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t>Tubes/Plates</a:t>
            </a:r>
            <a:endParaRPr sz="1200" b="1"/>
          </a:p>
        </p:txBody>
      </p:sp>
      <p:sp>
        <p:nvSpPr>
          <p:cNvPr id="106" name="Google Shape;106;p14"/>
          <p:cNvSpPr/>
          <p:nvPr/>
        </p:nvSpPr>
        <p:spPr>
          <a:xfrm>
            <a:off x="4123875" y="2979914"/>
            <a:ext cx="3506700" cy="243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t>Protocol</a:t>
            </a:r>
            <a:endParaRPr sz="1200" b="1"/>
          </a:p>
        </p:txBody>
      </p:sp>
      <p:sp>
        <p:nvSpPr>
          <p:cNvPr id="107" name="Google Shape;107;p14"/>
          <p:cNvSpPr/>
          <p:nvPr/>
        </p:nvSpPr>
        <p:spPr>
          <a:xfrm>
            <a:off x="7630575" y="2979916"/>
            <a:ext cx="1409400" cy="2077200"/>
          </a:xfrm>
          <a:prstGeom prst="round1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91440" lvl="0" indent="-102870" algn="l" rtl="0">
              <a:lnSpc>
                <a:spcPct val="115000"/>
              </a:lnSpc>
              <a:spcBef>
                <a:spcPts val="0"/>
              </a:spcBef>
              <a:spcAft>
                <a:spcPts val="0"/>
              </a:spcAft>
              <a:buClr>
                <a:schemeClr val="dk1"/>
              </a:buClr>
              <a:buSzPts val="900"/>
              <a:buChar char="●"/>
            </a:pPr>
            <a:r>
              <a:rPr lang="en" sz="1000">
                <a:solidFill>
                  <a:schemeClr val="dk1"/>
                </a:solidFill>
              </a:rPr>
              <a:t>Reagents used</a:t>
            </a:r>
            <a:r>
              <a:rPr lang="en" sz="1000" b="1">
                <a:solidFill>
                  <a:schemeClr val="dk1"/>
                </a:solidFill>
              </a:rPr>
              <a:t> </a:t>
            </a:r>
            <a:endParaRPr sz="1000" b="1">
              <a:solidFill>
                <a:schemeClr val="dk1"/>
              </a:solidFill>
            </a:endParaRPr>
          </a:p>
          <a:p>
            <a:pPr marL="91440" lvl="0" indent="-102870" algn="l" rtl="0">
              <a:lnSpc>
                <a:spcPct val="115000"/>
              </a:lnSpc>
              <a:spcBef>
                <a:spcPts val="0"/>
              </a:spcBef>
              <a:spcAft>
                <a:spcPts val="0"/>
              </a:spcAft>
              <a:buClr>
                <a:schemeClr val="dk1"/>
              </a:buClr>
              <a:buSzPts val="900"/>
              <a:buChar char="●"/>
            </a:pPr>
            <a:r>
              <a:rPr lang="en" sz="1000">
                <a:solidFill>
                  <a:schemeClr val="dk1"/>
                </a:solidFill>
              </a:rPr>
              <a:t>Calculate volumes used for n samples</a:t>
            </a:r>
            <a:endParaRPr sz="1000">
              <a:solidFill>
                <a:schemeClr val="dk1"/>
              </a:solidFill>
            </a:endParaRPr>
          </a:p>
          <a:p>
            <a:pPr marL="91440" lvl="0" indent="-102870" algn="l" rtl="0">
              <a:lnSpc>
                <a:spcPct val="115000"/>
              </a:lnSpc>
              <a:spcBef>
                <a:spcPts val="0"/>
              </a:spcBef>
              <a:spcAft>
                <a:spcPts val="0"/>
              </a:spcAft>
              <a:buClr>
                <a:schemeClr val="dk1"/>
              </a:buClr>
              <a:buSzPts val="900"/>
              <a:buChar char="●"/>
            </a:pPr>
            <a:r>
              <a:rPr lang="en" sz="1000">
                <a:solidFill>
                  <a:schemeClr val="dk1"/>
                </a:solidFill>
              </a:rPr>
              <a:t>Substrat volumes used from available inventory</a:t>
            </a:r>
            <a:endParaRPr sz="1000">
              <a:solidFill>
                <a:schemeClr val="dk1"/>
              </a:solidFill>
            </a:endParaRPr>
          </a:p>
          <a:p>
            <a:pPr marL="457200" lvl="0" indent="0" algn="l" rtl="0">
              <a:lnSpc>
                <a:spcPct val="115000"/>
              </a:lnSpc>
              <a:spcBef>
                <a:spcPts val="0"/>
              </a:spcBef>
              <a:spcAft>
                <a:spcPts val="0"/>
              </a:spcAft>
              <a:buNone/>
            </a:pPr>
            <a:endParaRPr/>
          </a:p>
        </p:txBody>
      </p:sp>
      <p:sp>
        <p:nvSpPr>
          <p:cNvPr id="108" name="Google Shape;108;p14"/>
          <p:cNvSpPr/>
          <p:nvPr/>
        </p:nvSpPr>
        <p:spPr>
          <a:xfrm>
            <a:off x="7630575" y="2979914"/>
            <a:ext cx="1199700" cy="243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t>Data</a:t>
            </a:r>
            <a:endParaRPr sz="1200" b="1"/>
          </a:p>
        </p:txBody>
      </p:sp>
      <p:cxnSp>
        <p:nvCxnSpPr>
          <p:cNvPr id="109" name="Google Shape;109;p14"/>
          <p:cNvCxnSpPr/>
          <p:nvPr/>
        </p:nvCxnSpPr>
        <p:spPr>
          <a:xfrm>
            <a:off x="1633250" y="801750"/>
            <a:ext cx="318000" cy="0"/>
          </a:xfrm>
          <a:prstGeom prst="straightConnector1">
            <a:avLst/>
          </a:prstGeom>
          <a:noFill/>
          <a:ln w="19050" cap="flat" cmpd="sng">
            <a:solidFill>
              <a:srgbClr val="3C78D8"/>
            </a:solidFill>
            <a:prstDash val="solid"/>
            <a:round/>
            <a:headEnd type="none" w="med" len="med"/>
            <a:tailEnd type="triangle" w="med" len="med"/>
          </a:ln>
        </p:spPr>
      </p:cxnSp>
      <p:cxnSp>
        <p:nvCxnSpPr>
          <p:cNvPr id="110" name="Google Shape;110;p14"/>
          <p:cNvCxnSpPr/>
          <p:nvPr/>
        </p:nvCxnSpPr>
        <p:spPr>
          <a:xfrm>
            <a:off x="3048700" y="801750"/>
            <a:ext cx="318000" cy="0"/>
          </a:xfrm>
          <a:prstGeom prst="straightConnector1">
            <a:avLst/>
          </a:prstGeom>
          <a:noFill/>
          <a:ln w="19050" cap="flat" cmpd="sng">
            <a:solidFill>
              <a:srgbClr val="3C78D8"/>
            </a:solidFill>
            <a:prstDash val="solid"/>
            <a:round/>
            <a:headEnd type="none" w="med" len="med"/>
            <a:tailEnd type="triangle" w="med" len="med"/>
          </a:ln>
        </p:spPr>
      </p:cxnSp>
      <p:cxnSp>
        <p:nvCxnSpPr>
          <p:cNvPr id="111" name="Google Shape;111;p14"/>
          <p:cNvCxnSpPr/>
          <p:nvPr/>
        </p:nvCxnSpPr>
        <p:spPr>
          <a:xfrm>
            <a:off x="5879600" y="801750"/>
            <a:ext cx="318000" cy="0"/>
          </a:xfrm>
          <a:prstGeom prst="straightConnector1">
            <a:avLst/>
          </a:prstGeom>
          <a:noFill/>
          <a:ln w="19050" cap="flat" cmpd="sng">
            <a:solidFill>
              <a:srgbClr val="3C78D8"/>
            </a:solidFill>
            <a:prstDash val="solid"/>
            <a:round/>
            <a:headEnd type="none" w="med" len="med"/>
            <a:tailEnd type="triangle" w="med" len="med"/>
          </a:ln>
        </p:spPr>
      </p:cxnSp>
      <p:cxnSp>
        <p:nvCxnSpPr>
          <p:cNvPr id="112" name="Google Shape;112;p14"/>
          <p:cNvCxnSpPr/>
          <p:nvPr/>
        </p:nvCxnSpPr>
        <p:spPr>
          <a:xfrm>
            <a:off x="7295050" y="801750"/>
            <a:ext cx="318000" cy="0"/>
          </a:xfrm>
          <a:prstGeom prst="straightConnector1">
            <a:avLst/>
          </a:prstGeom>
          <a:noFill/>
          <a:ln w="19050" cap="flat" cmpd="sng">
            <a:solidFill>
              <a:srgbClr val="FF0000"/>
            </a:solidFill>
            <a:prstDash val="solid"/>
            <a:round/>
            <a:headEnd type="none" w="med" len="med"/>
            <a:tailEnd type="triangle" w="med" len="med"/>
          </a:ln>
        </p:spPr>
      </p:cxnSp>
      <p:cxnSp>
        <p:nvCxnSpPr>
          <p:cNvPr id="113" name="Google Shape;113;p14"/>
          <p:cNvCxnSpPr/>
          <p:nvPr/>
        </p:nvCxnSpPr>
        <p:spPr>
          <a:xfrm>
            <a:off x="4464150" y="801750"/>
            <a:ext cx="318000" cy="0"/>
          </a:xfrm>
          <a:prstGeom prst="straightConnector1">
            <a:avLst/>
          </a:prstGeom>
          <a:noFill/>
          <a:ln w="19050" cap="flat" cmpd="sng">
            <a:solidFill>
              <a:srgbClr val="FF0000"/>
            </a:solidFill>
            <a:prstDash val="solid"/>
            <a:round/>
            <a:headEnd type="none" w="med" len="med"/>
            <a:tailEnd type="triangle" w="med" len="med"/>
          </a:ln>
        </p:spPr>
      </p:cxnSp>
      <p:cxnSp>
        <p:nvCxnSpPr>
          <p:cNvPr id="114" name="Google Shape;114;p14"/>
          <p:cNvCxnSpPr>
            <a:stCxn id="86" idx="3"/>
          </p:cNvCxnSpPr>
          <p:nvPr/>
        </p:nvCxnSpPr>
        <p:spPr>
          <a:xfrm rot="-5400000">
            <a:off x="3789400" y="-1155150"/>
            <a:ext cx="264900" cy="2843700"/>
          </a:xfrm>
          <a:prstGeom prst="bentConnector2">
            <a:avLst/>
          </a:prstGeom>
          <a:noFill/>
          <a:ln w="19050" cap="flat" cmpd="sng">
            <a:solidFill>
              <a:schemeClr val="accent1"/>
            </a:solidFill>
            <a:prstDash val="solid"/>
            <a:round/>
            <a:headEnd type="none" w="med" len="med"/>
            <a:tailEnd type="none" w="med" len="med"/>
          </a:ln>
        </p:spPr>
      </p:cxnSp>
      <p:cxnSp>
        <p:nvCxnSpPr>
          <p:cNvPr id="115" name="Google Shape;115;p14"/>
          <p:cNvCxnSpPr/>
          <p:nvPr/>
        </p:nvCxnSpPr>
        <p:spPr>
          <a:xfrm flipH="1">
            <a:off x="5330900" y="125850"/>
            <a:ext cx="4500" cy="273300"/>
          </a:xfrm>
          <a:prstGeom prst="straightConnector1">
            <a:avLst/>
          </a:prstGeom>
          <a:noFill/>
          <a:ln w="19050" cap="flat" cmpd="sng">
            <a:solidFill>
              <a:schemeClr val="accent1"/>
            </a:solidFill>
            <a:prstDash val="solid"/>
            <a:round/>
            <a:headEnd type="none" w="med" len="med"/>
            <a:tailEnd type="triangle" w="med" len="med"/>
          </a:ln>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5"/>
          <p:cNvSpPr/>
          <p:nvPr/>
        </p:nvSpPr>
        <p:spPr>
          <a:xfrm>
            <a:off x="159400" y="1670303"/>
            <a:ext cx="1896000" cy="34050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b="1">
              <a:solidFill>
                <a:schemeClr val="dk1"/>
              </a:solidFill>
            </a:endParaRPr>
          </a:p>
          <a:p>
            <a:pPr marL="0" lvl="0" indent="0" algn="l" rtl="0">
              <a:spcBef>
                <a:spcPts val="0"/>
              </a:spcBef>
              <a:spcAft>
                <a:spcPts val="0"/>
              </a:spcAft>
              <a:buNone/>
            </a:pPr>
            <a:endParaRPr sz="800" b="1">
              <a:solidFill>
                <a:schemeClr val="dk1"/>
              </a:solidFill>
            </a:endParaRPr>
          </a:p>
          <a:p>
            <a:pPr marL="0" lvl="0" indent="0" algn="l" rtl="0">
              <a:spcBef>
                <a:spcPts val="0"/>
              </a:spcBef>
              <a:spcAft>
                <a:spcPts val="0"/>
              </a:spcAft>
              <a:buNone/>
            </a:pPr>
            <a:endParaRPr sz="800" b="1">
              <a:solidFill>
                <a:schemeClr val="dk1"/>
              </a:solidFill>
            </a:endParaRPr>
          </a:p>
          <a:p>
            <a:pPr marL="0" lvl="0" indent="0" algn="l" rtl="0">
              <a:spcBef>
                <a:spcPts val="0"/>
              </a:spcBef>
              <a:spcAft>
                <a:spcPts val="0"/>
              </a:spcAft>
              <a:buNone/>
            </a:pPr>
            <a:endParaRPr sz="800" b="1">
              <a:solidFill>
                <a:schemeClr val="dk1"/>
              </a:solidFill>
            </a:endParaRPr>
          </a:p>
          <a:p>
            <a:pPr marL="0" lvl="0" indent="0" algn="l" rtl="0">
              <a:spcBef>
                <a:spcPts val="0"/>
              </a:spcBef>
              <a:spcAft>
                <a:spcPts val="0"/>
              </a:spcAft>
              <a:buNone/>
            </a:pPr>
            <a:endParaRPr sz="800" b="1">
              <a:solidFill>
                <a:schemeClr val="dk1"/>
              </a:solidFill>
            </a:endParaRPr>
          </a:p>
          <a:p>
            <a:pPr marL="0" lvl="0" indent="0" algn="l" rtl="0">
              <a:spcBef>
                <a:spcPts val="0"/>
              </a:spcBef>
              <a:spcAft>
                <a:spcPts val="0"/>
              </a:spcAft>
              <a:buNone/>
            </a:pPr>
            <a:r>
              <a:rPr lang="en" sz="800" b="1">
                <a:solidFill>
                  <a:schemeClr val="dk1"/>
                </a:solidFill>
              </a:rPr>
              <a:t>IN:</a:t>
            </a:r>
            <a:endParaRPr sz="800" b="1">
              <a:solidFill>
                <a:schemeClr val="dk1"/>
              </a:solidFill>
            </a:endParaRPr>
          </a:p>
          <a:p>
            <a:pPr marL="91440" lvl="0" indent="0" algn="l" rtl="0">
              <a:spcBef>
                <a:spcPts val="0"/>
              </a:spcBef>
              <a:spcAft>
                <a:spcPts val="0"/>
              </a:spcAft>
              <a:buNone/>
            </a:pPr>
            <a:r>
              <a:rPr lang="en" sz="800" b="1">
                <a:solidFill>
                  <a:schemeClr val="dk1"/>
                </a:solidFill>
              </a:rPr>
              <a:t>Samples from PCR Plate generated in  the cfDNA Extraction Step </a:t>
            </a:r>
            <a:endParaRPr sz="800" b="1">
              <a:solidFill>
                <a:schemeClr val="dk1"/>
              </a:solidFill>
            </a:endParaRPr>
          </a:p>
          <a:p>
            <a:pPr marL="91440" lvl="0" indent="0" algn="l" rtl="0">
              <a:spcBef>
                <a:spcPts val="0"/>
              </a:spcBef>
              <a:spcAft>
                <a:spcPts val="0"/>
              </a:spcAft>
              <a:buNone/>
            </a:pPr>
            <a:r>
              <a:rPr lang="en" sz="800" i="1">
                <a:solidFill>
                  <a:schemeClr val="dk1"/>
                </a:solidFill>
              </a:rPr>
              <a:t>Plate Labels / Maps</a:t>
            </a:r>
            <a:endParaRPr sz="800" i="1">
              <a:solidFill>
                <a:schemeClr val="dk1"/>
              </a:solidFill>
            </a:endParaRPr>
          </a:p>
          <a:p>
            <a:pPr marL="91440" lvl="0" indent="0" algn="l" rtl="0">
              <a:spcBef>
                <a:spcPts val="0"/>
              </a:spcBef>
              <a:spcAft>
                <a:spcPts val="0"/>
              </a:spcAft>
              <a:buNone/>
            </a:pPr>
            <a:r>
              <a:rPr lang="en" sz="800" i="1">
                <a:solidFill>
                  <a:schemeClr val="dk1"/>
                </a:solidFill>
              </a:rPr>
              <a:t>Wells Labels</a:t>
            </a:r>
            <a:endParaRPr sz="800" i="1">
              <a:solidFill>
                <a:schemeClr val="dk1"/>
              </a:solidFill>
            </a:endParaRPr>
          </a:p>
          <a:p>
            <a:pPr marL="0" lvl="0" indent="0" algn="l" rtl="0">
              <a:spcBef>
                <a:spcPts val="0"/>
              </a:spcBef>
              <a:spcAft>
                <a:spcPts val="0"/>
              </a:spcAft>
              <a:buNone/>
            </a:pPr>
            <a:endParaRPr sz="800" b="1">
              <a:solidFill>
                <a:schemeClr val="dk1"/>
              </a:solidFill>
            </a:endParaRPr>
          </a:p>
          <a:p>
            <a:pPr marL="0" lvl="0" indent="0" algn="l" rtl="0">
              <a:spcBef>
                <a:spcPts val="0"/>
              </a:spcBef>
              <a:spcAft>
                <a:spcPts val="0"/>
              </a:spcAft>
              <a:buNone/>
            </a:pPr>
            <a:r>
              <a:rPr lang="en" sz="800" b="1">
                <a:solidFill>
                  <a:schemeClr val="dk1"/>
                </a:solidFill>
              </a:rPr>
              <a:t>GENERATE:</a:t>
            </a:r>
            <a:endParaRPr sz="800" b="1">
              <a:solidFill>
                <a:schemeClr val="dk1"/>
              </a:solidFill>
            </a:endParaRPr>
          </a:p>
          <a:p>
            <a:pPr marL="91440" lvl="0" indent="0" algn="l" rtl="0">
              <a:spcBef>
                <a:spcPts val="0"/>
              </a:spcBef>
              <a:spcAft>
                <a:spcPts val="0"/>
              </a:spcAft>
              <a:buNone/>
            </a:pPr>
            <a:r>
              <a:rPr lang="en" sz="800" b="1">
                <a:solidFill>
                  <a:schemeClr val="dk1"/>
                </a:solidFill>
              </a:rPr>
              <a:t>0.5 mL PCR Tube</a:t>
            </a:r>
            <a:endParaRPr sz="800" b="1">
              <a:solidFill>
                <a:schemeClr val="dk1"/>
              </a:solidFill>
            </a:endParaRPr>
          </a:p>
          <a:p>
            <a:pPr marL="91440" lvl="0" indent="0" algn="l" rtl="0">
              <a:spcBef>
                <a:spcPts val="0"/>
              </a:spcBef>
              <a:spcAft>
                <a:spcPts val="0"/>
              </a:spcAft>
              <a:buNone/>
            </a:pPr>
            <a:r>
              <a:rPr lang="en" sz="800" i="1">
                <a:solidFill>
                  <a:schemeClr val="dk1"/>
                </a:solidFill>
              </a:rPr>
              <a:t>Samples Labels</a:t>
            </a:r>
            <a:endParaRPr sz="800" i="1">
              <a:solidFill>
                <a:schemeClr val="dk1"/>
              </a:solidFill>
            </a:endParaRPr>
          </a:p>
          <a:p>
            <a:pPr marL="91440" lvl="0" indent="0" algn="l" rtl="0">
              <a:spcBef>
                <a:spcPts val="0"/>
              </a:spcBef>
              <a:spcAft>
                <a:spcPts val="0"/>
              </a:spcAft>
              <a:buClr>
                <a:schemeClr val="dk1"/>
              </a:buClr>
              <a:buSzPts val="1100"/>
              <a:buFont typeface="Arial"/>
              <a:buNone/>
            </a:pPr>
            <a:r>
              <a:rPr lang="en" sz="800" i="1">
                <a:solidFill>
                  <a:schemeClr val="dk1"/>
                </a:solidFill>
              </a:rPr>
              <a:t>Standards Labels</a:t>
            </a:r>
            <a:endParaRPr sz="800" i="1">
              <a:solidFill>
                <a:schemeClr val="dk1"/>
              </a:solidFill>
            </a:endParaRPr>
          </a:p>
          <a:p>
            <a:pPr marL="0" lvl="0" indent="0" algn="l" rtl="0">
              <a:spcBef>
                <a:spcPts val="0"/>
              </a:spcBef>
              <a:spcAft>
                <a:spcPts val="0"/>
              </a:spcAft>
              <a:buNone/>
            </a:pPr>
            <a:endParaRPr sz="800" b="1">
              <a:solidFill>
                <a:schemeClr val="dk1"/>
              </a:solidFill>
            </a:endParaRPr>
          </a:p>
          <a:p>
            <a:pPr marL="0" lvl="0" indent="0" algn="l" rtl="0">
              <a:spcBef>
                <a:spcPts val="0"/>
              </a:spcBef>
              <a:spcAft>
                <a:spcPts val="0"/>
              </a:spcAft>
              <a:buClr>
                <a:schemeClr val="dk1"/>
              </a:buClr>
              <a:buSzPts val="1100"/>
              <a:buFont typeface="Arial"/>
              <a:buNone/>
            </a:pPr>
            <a:r>
              <a:rPr lang="en" sz="800" b="1">
                <a:solidFill>
                  <a:schemeClr val="dk1"/>
                </a:solidFill>
              </a:rPr>
              <a:t>OUT:</a:t>
            </a:r>
            <a:endParaRPr sz="800" b="1">
              <a:solidFill>
                <a:schemeClr val="dk1"/>
              </a:solidFill>
            </a:endParaRPr>
          </a:p>
          <a:p>
            <a:pPr marL="91440" lvl="0" indent="0" algn="l" rtl="0">
              <a:spcBef>
                <a:spcPts val="0"/>
              </a:spcBef>
              <a:spcAft>
                <a:spcPts val="0"/>
              </a:spcAft>
              <a:buClr>
                <a:schemeClr val="dk1"/>
              </a:buClr>
              <a:buSzPts val="1100"/>
              <a:buFont typeface="Arial"/>
              <a:buNone/>
            </a:pPr>
            <a:r>
              <a:rPr lang="en" sz="800" b="1">
                <a:solidFill>
                  <a:schemeClr val="dk1"/>
                </a:solidFill>
              </a:rPr>
              <a:t>None</a:t>
            </a:r>
            <a:endParaRPr sz="800" i="1">
              <a:solidFill>
                <a:schemeClr val="dk1"/>
              </a:solidFill>
            </a:endParaRPr>
          </a:p>
          <a:p>
            <a:pPr marL="0" lvl="0" indent="0" algn="l" rtl="0">
              <a:spcBef>
                <a:spcPts val="0"/>
              </a:spcBef>
              <a:spcAft>
                <a:spcPts val="0"/>
              </a:spcAft>
              <a:buClr>
                <a:schemeClr val="dk1"/>
              </a:buClr>
              <a:buSzPts val="1100"/>
              <a:buFont typeface="Arial"/>
              <a:buNone/>
            </a:pPr>
            <a:r>
              <a:rPr lang="en" sz="800" i="1">
                <a:solidFill>
                  <a:srgbClr val="FF0000"/>
                </a:solidFill>
              </a:rPr>
              <a:t>  need help- labels</a:t>
            </a:r>
            <a:endParaRPr sz="800" i="1">
              <a:solidFill>
                <a:schemeClr val="dk1"/>
              </a:solidFill>
            </a:endParaRPr>
          </a:p>
          <a:p>
            <a:pPr marL="0" lvl="0" indent="0" algn="l" rtl="0">
              <a:spcBef>
                <a:spcPts val="0"/>
              </a:spcBef>
              <a:spcAft>
                <a:spcPts val="0"/>
              </a:spcAft>
              <a:buNone/>
            </a:pPr>
            <a:endParaRPr sz="800" b="1"/>
          </a:p>
          <a:p>
            <a:pPr marL="0" lvl="0" indent="0" algn="l" rtl="0">
              <a:spcBef>
                <a:spcPts val="0"/>
              </a:spcBef>
              <a:spcAft>
                <a:spcPts val="0"/>
              </a:spcAft>
              <a:buNone/>
            </a:pPr>
            <a:endParaRPr sz="800" b="1"/>
          </a:p>
          <a:p>
            <a:pPr marL="0" lvl="0" indent="0" algn="l" rtl="0">
              <a:spcBef>
                <a:spcPts val="0"/>
              </a:spcBef>
              <a:spcAft>
                <a:spcPts val="0"/>
              </a:spcAft>
              <a:buNone/>
            </a:pPr>
            <a:endParaRPr sz="800" b="1"/>
          </a:p>
          <a:p>
            <a:pPr marL="0" lvl="0" indent="0" algn="l" rtl="0">
              <a:spcBef>
                <a:spcPts val="0"/>
              </a:spcBef>
              <a:spcAft>
                <a:spcPts val="0"/>
              </a:spcAft>
              <a:buNone/>
            </a:pPr>
            <a:endParaRPr sz="800"/>
          </a:p>
        </p:txBody>
      </p:sp>
      <p:sp>
        <p:nvSpPr>
          <p:cNvPr id="121" name="Google Shape;121;p15"/>
          <p:cNvSpPr/>
          <p:nvPr/>
        </p:nvSpPr>
        <p:spPr>
          <a:xfrm>
            <a:off x="1796725" y="1670278"/>
            <a:ext cx="2389500" cy="3405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000" b="1"/>
              <a:t>Denovix MasterMix:</a:t>
            </a:r>
            <a:endParaRPr sz="1000" b="1"/>
          </a:p>
          <a:p>
            <a:pPr marL="182880" lvl="0" indent="-109219" algn="l" rtl="0">
              <a:spcBef>
                <a:spcPts val="0"/>
              </a:spcBef>
              <a:spcAft>
                <a:spcPts val="0"/>
              </a:spcAft>
              <a:buSzPts val="1000"/>
              <a:buChar char="●"/>
            </a:pPr>
            <a:r>
              <a:rPr lang="en" sz="1000"/>
              <a:t>dsDNA Dye   - 1.9uL</a:t>
            </a:r>
            <a:endParaRPr sz="1000"/>
          </a:p>
          <a:p>
            <a:pPr marL="182880" lvl="0" indent="-109219" algn="l" rtl="0">
              <a:spcBef>
                <a:spcPts val="0"/>
              </a:spcBef>
              <a:spcAft>
                <a:spcPts val="0"/>
              </a:spcAft>
              <a:buSzPts val="1000"/>
              <a:buChar char="●"/>
            </a:pPr>
            <a:r>
              <a:rPr lang="en" sz="1000"/>
              <a:t>Assay Buffer - 190uL</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000" b="1"/>
              <a:t>Calculate volume needed for n wells</a:t>
            </a:r>
            <a:endParaRPr sz="1000" b="1"/>
          </a:p>
          <a:p>
            <a:pPr marL="0" lvl="0" indent="0" algn="l" rtl="0">
              <a:spcBef>
                <a:spcPts val="0"/>
              </a:spcBef>
              <a:spcAft>
                <a:spcPts val="0"/>
              </a:spcAft>
              <a:buNone/>
            </a:pPr>
            <a:endParaRPr sz="1000"/>
          </a:p>
          <a:p>
            <a:pPr marL="0" lvl="0" indent="0" algn="l" rtl="0">
              <a:spcBef>
                <a:spcPts val="0"/>
              </a:spcBef>
              <a:spcAft>
                <a:spcPts val="0"/>
              </a:spcAft>
              <a:buNone/>
            </a:pPr>
            <a:r>
              <a:rPr lang="en" sz="1000" b="1"/>
              <a:t>Measure Eluted cfDNA concentration:</a:t>
            </a:r>
            <a:endParaRPr sz="1000" b="1"/>
          </a:p>
          <a:p>
            <a:pPr marL="182880" lvl="0" indent="-109219" algn="l" rtl="0">
              <a:spcBef>
                <a:spcPts val="0"/>
              </a:spcBef>
              <a:spcAft>
                <a:spcPts val="0"/>
              </a:spcAft>
              <a:buSzPts val="1000"/>
              <a:buChar char="●"/>
            </a:pPr>
            <a:r>
              <a:rPr lang="en" sz="1000"/>
              <a:t>Eluted cfDNA (from DNA extraction)- 10uL</a:t>
            </a:r>
            <a:endParaRPr/>
          </a:p>
        </p:txBody>
      </p:sp>
      <p:sp>
        <p:nvSpPr>
          <p:cNvPr id="122" name="Google Shape;122;p15"/>
          <p:cNvSpPr/>
          <p:nvPr/>
        </p:nvSpPr>
        <p:spPr>
          <a:xfrm>
            <a:off x="4110625" y="1666628"/>
            <a:ext cx="3502500" cy="3405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1000"/>
          </a:p>
          <a:p>
            <a:pPr marL="91440" lvl="0" indent="-96520" algn="l" rtl="0">
              <a:lnSpc>
                <a:spcPct val="115000"/>
              </a:lnSpc>
              <a:spcBef>
                <a:spcPts val="0"/>
              </a:spcBef>
              <a:spcAft>
                <a:spcPts val="0"/>
              </a:spcAft>
              <a:buSzPts val="800"/>
              <a:buChar char="●"/>
            </a:pPr>
            <a:r>
              <a:rPr lang="en" sz="800"/>
              <a:t>Mix 190µL of assay buffer with 1.9µL of dsDNA Dye per sample plus standards</a:t>
            </a:r>
            <a:endParaRPr sz="800"/>
          </a:p>
          <a:p>
            <a:pPr marL="91440" lvl="0" indent="-96520" algn="l" rtl="0">
              <a:lnSpc>
                <a:spcPct val="115000"/>
              </a:lnSpc>
              <a:spcBef>
                <a:spcPts val="0"/>
              </a:spcBef>
              <a:spcAft>
                <a:spcPts val="0"/>
              </a:spcAft>
              <a:buSzPts val="800"/>
              <a:buChar char="●"/>
            </a:pPr>
            <a:r>
              <a:rPr lang="en" sz="800"/>
              <a:t>Calculate  total volume needed based on number of samples and standards</a:t>
            </a:r>
            <a:endParaRPr sz="800"/>
          </a:p>
          <a:p>
            <a:pPr marL="91440" lvl="0" indent="-96520" algn="l" rtl="0">
              <a:lnSpc>
                <a:spcPct val="115000"/>
              </a:lnSpc>
              <a:spcBef>
                <a:spcPts val="0"/>
              </a:spcBef>
              <a:spcAft>
                <a:spcPts val="0"/>
              </a:spcAft>
              <a:buSzPts val="800"/>
              <a:buChar char="●"/>
            </a:pPr>
            <a:r>
              <a:rPr lang="en" sz="800"/>
              <a:t>In a 0.5mL PCR tube, mix 10µL of eluted cfDNA with 190µL of this mix. Vortex, spin down, and incubate at RT for 5 minutes. </a:t>
            </a:r>
            <a:endParaRPr sz="800"/>
          </a:p>
          <a:p>
            <a:pPr marL="91440" lvl="0" indent="-96520" algn="l" rtl="0">
              <a:lnSpc>
                <a:spcPct val="115000"/>
              </a:lnSpc>
              <a:spcBef>
                <a:spcPts val="0"/>
              </a:spcBef>
              <a:spcAft>
                <a:spcPts val="0"/>
              </a:spcAft>
              <a:buSzPts val="800"/>
              <a:buChar char="●"/>
            </a:pPr>
            <a:r>
              <a:rPr lang="en" sz="800"/>
              <a:t>Create a standard curve using the DeNovix system.</a:t>
            </a:r>
            <a:endParaRPr sz="800"/>
          </a:p>
          <a:p>
            <a:pPr marL="91440" lvl="0" indent="-96520" algn="l" rtl="0">
              <a:lnSpc>
                <a:spcPct val="115000"/>
              </a:lnSpc>
              <a:spcBef>
                <a:spcPts val="0"/>
              </a:spcBef>
              <a:spcAft>
                <a:spcPts val="0"/>
              </a:spcAft>
              <a:buSzPts val="800"/>
              <a:buChar char="●"/>
            </a:pPr>
            <a:r>
              <a:rPr lang="en" sz="800"/>
              <a:t>Measure sample concentrations and export results to a .csv file</a:t>
            </a:r>
            <a:endParaRPr sz="800"/>
          </a:p>
          <a:p>
            <a:pPr marL="91440" lvl="0" indent="-96520" algn="l" rtl="0">
              <a:lnSpc>
                <a:spcPct val="115000"/>
              </a:lnSpc>
              <a:spcBef>
                <a:spcPts val="0"/>
              </a:spcBef>
              <a:spcAft>
                <a:spcPts val="0"/>
              </a:spcAft>
              <a:buSzPts val="800"/>
              <a:buChar char="●"/>
            </a:pPr>
            <a:r>
              <a:rPr lang="en" sz="800"/>
              <a:t>Store eluted cfDNA at 4°C if proceeding immediately or -20°C for later use</a:t>
            </a:r>
            <a:endParaRPr sz="800"/>
          </a:p>
          <a:p>
            <a:pPr marL="0" lvl="0" indent="0" algn="l" rtl="0">
              <a:spcBef>
                <a:spcPts val="0"/>
              </a:spcBef>
              <a:spcAft>
                <a:spcPts val="0"/>
              </a:spcAft>
              <a:buNone/>
            </a:pPr>
            <a:endParaRPr sz="1000" b="1">
              <a:solidFill>
                <a:schemeClr val="dk1"/>
              </a:solidFill>
            </a:endParaRPr>
          </a:p>
          <a:p>
            <a:pPr marL="0" lvl="0" indent="0" algn="l" rtl="0">
              <a:spcBef>
                <a:spcPts val="0"/>
              </a:spcBef>
              <a:spcAft>
                <a:spcPts val="0"/>
              </a:spcAft>
              <a:buNone/>
            </a:pPr>
            <a:r>
              <a:rPr lang="en" sz="1000" b="1">
                <a:solidFill>
                  <a:schemeClr val="dk1"/>
                </a:solidFill>
              </a:rPr>
              <a:t>QC Decisions:</a:t>
            </a:r>
            <a:endParaRPr sz="1000" b="1">
              <a:solidFill>
                <a:schemeClr val="dk1"/>
              </a:solidFill>
            </a:endParaRPr>
          </a:p>
          <a:p>
            <a:pPr marL="0" lvl="0" indent="0" algn="l" rtl="0">
              <a:spcBef>
                <a:spcPts val="0"/>
              </a:spcBef>
              <a:spcAft>
                <a:spcPts val="0"/>
              </a:spcAft>
              <a:buNone/>
            </a:pPr>
            <a:r>
              <a:rPr lang="en" sz="1000" b="1">
                <a:solidFill>
                  <a:schemeClr val="dk1"/>
                </a:solidFill>
              </a:rPr>
              <a:t>IF Sample Stock Concentration LOWER THAN  defined LOD concentration THEN Place the Specimen in the cfDNA Extraction Queue and Repeat cfDNA Extraction OTHERWISE Continue Workflow to the HpaII Digestion step</a:t>
            </a:r>
            <a:endParaRPr sz="1000" b="1">
              <a:solidFill>
                <a:schemeClr val="dk1"/>
              </a:solidFill>
            </a:endParaRPr>
          </a:p>
          <a:p>
            <a:pPr marL="0" lvl="0" indent="0" algn="l" rtl="0">
              <a:spcBef>
                <a:spcPts val="0"/>
              </a:spcBef>
              <a:spcAft>
                <a:spcPts val="0"/>
              </a:spcAft>
              <a:buNone/>
            </a:pPr>
            <a:endParaRPr sz="1000" b="1">
              <a:solidFill>
                <a:schemeClr val="dk1"/>
              </a:solidFill>
            </a:endParaRPr>
          </a:p>
        </p:txBody>
      </p:sp>
      <p:sp>
        <p:nvSpPr>
          <p:cNvPr id="123" name="Google Shape;123;p15"/>
          <p:cNvSpPr/>
          <p:nvPr/>
        </p:nvSpPr>
        <p:spPr>
          <a:xfrm>
            <a:off x="7613250" y="1670269"/>
            <a:ext cx="1360500" cy="2285400"/>
          </a:xfrm>
          <a:prstGeom prst="round1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100" b="1" u="sng"/>
              <a:t>DS-11 csv file</a:t>
            </a:r>
            <a:endParaRPr sz="1100" b="1" u="sng"/>
          </a:p>
          <a:p>
            <a:pPr marL="0" lvl="0" indent="0" algn="l" rtl="0">
              <a:spcBef>
                <a:spcPts val="0"/>
              </a:spcBef>
              <a:spcAft>
                <a:spcPts val="0"/>
              </a:spcAft>
              <a:buNone/>
            </a:pPr>
            <a:endParaRPr sz="1100" b="1"/>
          </a:p>
          <a:p>
            <a:pPr marL="91440" lvl="0" indent="-109220" algn="ctr" rtl="0">
              <a:spcBef>
                <a:spcPts val="0"/>
              </a:spcBef>
              <a:spcAft>
                <a:spcPts val="0"/>
              </a:spcAft>
              <a:buSzPts val="1000"/>
              <a:buChar char="●"/>
            </a:pPr>
            <a:r>
              <a:rPr lang="en" sz="1000"/>
              <a:t>Sample Stock Concentration</a:t>
            </a:r>
            <a:endParaRPr sz="1000"/>
          </a:p>
          <a:p>
            <a:pPr marL="182880" lvl="0" indent="-109219" algn="l" rtl="0">
              <a:spcBef>
                <a:spcPts val="0"/>
              </a:spcBef>
              <a:spcAft>
                <a:spcPts val="0"/>
              </a:spcAft>
              <a:buSzPts val="1000"/>
              <a:buChar char="●"/>
            </a:pPr>
            <a:r>
              <a:rPr lang="en" sz="1000"/>
              <a:t>Sample Stock Units</a:t>
            </a:r>
            <a:endParaRPr sz="1000"/>
          </a:p>
          <a:p>
            <a:pPr marL="0" lvl="0" indent="0" algn="ctr" rtl="0">
              <a:spcBef>
                <a:spcPts val="0"/>
              </a:spcBef>
              <a:spcAft>
                <a:spcPts val="0"/>
              </a:spcAft>
              <a:buNone/>
            </a:pPr>
            <a:endParaRPr sz="1000"/>
          </a:p>
          <a:p>
            <a:pPr marL="0" lvl="0" indent="0" algn="l" rtl="0">
              <a:spcBef>
                <a:spcPts val="0"/>
              </a:spcBef>
              <a:spcAft>
                <a:spcPts val="0"/>
              </a:spcAft>
              <a:buNone/>
            </a:pPr>
            <a:r>
              <a:rPr lang="en" sz="1000" b="1"/>
              <a:t>Use these data in the HpaII Digestion step</a:t>
            </a:r>
            <a:endParaRPr sz="1000" b="1"/>
          </a:p>
          <a:p>
            <a:pPr marL="0" lvl="0" indent="0" algn="l" rtl="0">
              <a:spcBef>
                <a:spcPts val="0"/>
              </a:spcBef>
              <a:spcAft>
                <a:spcPts val="0"/>
              </a:spcAft>
              <a:buNone/>
            </a:pPr>
            <a:endParaRPr sz="1000"/>
          </a:p>
        </p:txBody>
      </p:sp>
      <p:sp>
        <p:nvSpPr>
          <p:cNvPr id="124" name="Google Shape;124;p15"/>
          <p:cNvSpPr/>
          <p:nvPr/>
        </p:nvSpPr>
        <p:spPr>
          <a:xfrm>
            <a:off x="535850" y="399150"/>
            <a:ext cx="1097400" cy="805200"/>
          </a:xfrm>
          <a:prstGeom prst="round2DiagRect">
            <a:avLst>
              <a:gd name="adj1" fmla="val 16667"/>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rPr>
              <a:t>Receiving</a:t>
            </a:r>
            <a:endParaRPr/>
          </a:p>
        </p:txBody>
      </p:sp>
      <p:sp>
        <p:nvSpPr>
          <p:cNvPr id="125" name="Google Shape;125;p15"/>
          <p:cNvSpPr/>
          <p:nvPr/>
        </p:nvSpPr>
        <p:spPr>
          <a:xfrm>
            <a:off x="1951300" y="399150"/>
            <a:ext cx="1097400" cy="805200"/>
          </a:xfrm>
          <a:prstGeom prst="round2DiagRect">
            <a:avLst>
              <a:gd name="adj1" fmla="val 16667"/>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rPr>
              <a:t>cfDNA Extraction</a:t>
            </a:r>
            <a:endParaRPr sz="1200">
              <a:solidFill>
                <a:schemeClr val="dk1"/>
              </a:solidFill>
            </a:endParaRPr>
          </a:p>
        </p:txBody>
      </p:sp>
      <p:sp>
        <p:nvSpPr>
          <p:cNvPr id="126" name="Google Shape;126;p15"/>
          <p:cNvSpPr/>
          <p:nvPr/>
        </p:nvSpPr>
        <p:spPr>
          <a:xfrm>
            <a:off x="3366750" y="399150"/>
            <a:ext cx="1097400" cy="805200"/>
          </a:xfrm>
          <a:prstGeom prst="round2DiagRect">
            <a:avLst>
              <a:gd name="adj1" fmla="val 16667"/>
              <a:gd name="adj2" fmla="val 0"/>
            </a:avLst>
          </a:prstGeom>
          <a:solidFill>
            <a:srgbClr val="6D9EEB"/>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rPr>
              <a:t>cfDNA Quantification</a:t>
            </a:r>
            <a:endParaRPr sz="1000">
              <a:solidFill>
                <a:schemeClr val="dk1"/>
              </a:solidFill>
            </a:endParaRPr>
          </a:p>
          <a:p>
            <a:pPr marL="0" lvl="0" indent="0" algn="ctr" rtl="0">
              <a:spcBef>
                <a:spcPts val="0"/>
              </a:spcBef>
              <a:spcAft>
                <a:spcPts val="0"/>
              </a:spcAft>
              <a:buNone/>
            </a:pPr>
            <a:endParaRPr sz="1000">
              <a:solidFill>
                <a:schemeClr val="dk1"/>
              </a:solidFill>
            </a:endParaRPr>
          </a:p>
        </p:txBody>
      </p:sp>
      <p:sp>
        <p:nvSpPr>
          <p:cNvPr id="127" name="Google Shape;127;p15"/>
          <p:cNvSpPr/>
          <p:nvPr/>
        </p:nvSpPr>
        <p:spPr>
          <a:xfrm>
            <a:off x="4782200" y="399150"/>
            <a:ext cx="1097400" cy="805200"/>
          </a:xfrm>
          <a:prstGeom prst="round2DiagRect">
            <a:avLst>
              <a:gd name="adj1" fmla="val 16667"/>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rPr>
              <a:t>HpaII Digestion</a:t>
            </a:r>
            <a:endParaRPr sz="1000">
              <a:solidFill>
                <a:schemeClr val="dk1"/>
              </a:solidFill>
            </a:endParaRPr>
          </a:p>
          <a:p>
            <a:pPr marL="0" lvl="0" indent="0" algn="l" rtl="0">
              <a:spcBef>
                <a:spcPts val="0"/>
              </a:spcBef>
              <a:spcAft>
                <a:spcPts val="0"/>
              </a:spcAft>
              <a:buNone/>
            </a:pPr>
            <a:endParaRPr sz="1000">
              <a:solidFill>
                <a:schemeClr val="dk1"/>
              </a:solidFill>
            </a:endParaRPr>
          </a:p>
        </p:txBody>
      </p:sp>
      <p:sp>
        <p:nvSpPr>
          <p:cNvPr id="128" name="Google Shape;128;p15"/>
          <p:cNvSpPr/>
          <p:nvPr/>
        </p:nvSpPr>
        <p:spPr>
          <a:xfrm>
            <a:off x="6197650" y="399150"/>
            <a:ext cx="1097400" cy="805200"/>
          </a:xfrm>
          <a:prstGeom prst="round2DiagRect">
            <a:avLst>
              <a:gd name="adj1" fmla="val 16667"/>
              <a:gd name="adj2" fmla="val 0"/>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rPr>
              <a:t>ddPCR</a:t>
            </a:r>
            <a:endParaRPr sz="1000">
              <a:solidFill>
                <a:schemeClr val="dk1"/>
              </a:solidFill>
            </a:endParaRPr>
          </a:p>
          <a:p>
            <a:pPr marL="0" lvl="0" indent="0" algn="l" rtl="0">
              <a:spcBef>
                <a:spcPts val="0"/>
              </a:spcBef>
              <a:spcAft>
                <a:spcPts val="0"/>
              </a:spcAft>
              <a:buNone/>
            </a:pPr>
            <a:endParaRPr sz="1000">
              <a:solidFill>
                <a:schemeClr val="dk1"/>
              </a:solidFill>
            </a:endParaRPr>
          </a:p>
        </p:txBody>
      </p:sp>
      <p:sp>
        <p:nvSpPr>
          <p:cNvPr id="129" name="Google Shape;129;p15"/>
          <p:cNvSpPr/>
          <p:nvPr/>
        </p:nvSpPr>
        <p:spPr>
          <a:xfrm>
            <a:off x="7613100" y="399150"/>
            <a:ext cx="1097400" cy="805200"/>
          </a:xfrm>
          <a:prstGeom prst="round2DiagRect">
            <a:avLst>
              <a:gd name="adj1" fmla="val 16667"/>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rPr>
              <a:t>QC</a:t>
            </a:r>
            <a:endParaRPr sz="1000">
              <a:solidFill>
                <a:schemeClr val="dk1"/>
              </a:solidFill>
            </a:endParaRPr>
          </a:p>
          <a:p>
            <a:pPr marL="0" lvl="0" indent="0" algn="ctr" rtl="0">
              <a:spcBef>
                <a:spcPts val="0"/>
              </a:spcBef>
              <a:spcAft>
                <a:spcPts val="0"/>
              </a:spcAft>
              <a:buNone/>
            </a:pPr>
            <a:r>
              <a:rPr lang="en" sz="1000">
                <a:solidFill>
                  <a:schemeClr val="dk1"/>
                </a:solidFill>
              </a:rPr>
              <a:t>Results</a:t>
            </a:r>
            <a:endParaRPr sz="1000">
              <a:solidFill>
                <a:schemeClr val="dk1"/>
              </a:solidFill>
            </a:endParaRPr>
          </a:p>
          <a:p>
            <a:pPr marL="0" lvl="0" indent="0" algn="l" rtl="0">
              <a:spcBef>
                <a:spcPts val="0"/>
              </a:spcBef>
              <a:spcAft>
                <a:spcPts val="0"/>
              </a:spcAft>
              <a:buNone/>
            </a:pPr>
            <a:endParaRPr sz="1000">
              <a:solidFill>
                <a:schemeClr val="dk1"/>
              </a:solidFill>
            </a:endParaRPr>
          </a:p>
        </p:txBody>
      </p:sp>
      <p:sp>
        <p:nvSpPr>
          <p:cNvPr id="130" name="Google Shape;130;p15"/>
          <p:cNvSpPr/>
          <p:nvPr/>
        </p:nvSpPr>
        <p:spPr>
          <a:xfrm>
            <a:off x="1796600" y="1670265"/>
            <a:ext cx="2313900" cy="243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t>Volumes/Calculations</a:t>
            </a:r>
            <a:endParaRPr sz="1200" b="1"/>
          </a:p>
        </p:txBody>
      </p:sp>
      <p:sp>
        <p:nvSpPr>
          <p:cNvPr id="131" name="Google Shape;131;p15"/>
          <p:cNvSpPr/>
          <p:nvPr/>
        </p:nvSpPr>
        <p:spPr>
          <a:xfrm>
            <a:off x="436225" y="1670265"/>
            <a:ext cx="1360500" cy="243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t>Tubes/Plates</a:t>
            </a:r>
            <a:endParaRPr sz="1200" b="1"/>
          </a:p>
        </p:txBody>
      </p:sp>
      <p:sp>
        <p:nvSpPr>
          <p:cNvPr id="132" name="Google Shape;132;p15"/>
          <p:cNvSpPr/>
          <p:nvPr/>
        </p:nvSpPr>
        <p:spPr>
          <a:xfrm>
            <a:off x="4110500" y="1670265"/>
            <a:ext cx="3506700" cy="243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t>Protocol</a:t>
            </a:r>
            <a:endParaRPr sz="1200" b="1"/>
          </a:p>
        </p:txBody>
      </p:sp>
      <p:sp>
        <p:nvSpPr>
          <p:cNvPr id="133" name="Google Shape;133;p15"/>
          <p:cNvSpPr/>
          <p:nvPr/>
        </p:nvSpPr>
        <p:spPr>
          <a:xfrm>
            <a:off x="7617200" y="1670265"/>
            <a:ext cx="1199700" cy="243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t>Data</a:t>
            </a:r>
            <a:endParaRPr sz="1200" b="1"/>
          </a:p>
        </p:txBody>
      </p:sp>
      <p:cxnSp>
        <p:nvCxnSpPr>
          <p:cNvPr id="134" name="Google Shape;134;p15"/>
          <p:cNvCxnSpPr/>
          <p:nvPr/>
        </p:nvCxnSpPr>
        <p:spPr>
          <a:xfrm>
            <a:off x="1633250" y="801750"/>
            <a:ext cx="318000" cy="0"/>
          </a:xfrm>
          <a:prstGeom prst="straightConnector1">
            <a:avLst/>
          </a:prstGeom>
          <a:noFill/>
          <a:ln w="19050" cap="flat" cmpd="sng">
            <a:solidFill>
              <a:srgbClr val="3C78D8"/>
            </a:solidFill>
            <a:prstDash val="solid"/>
            <a:round/>
            <a:headEnd type="none" w="med" len="med"/>
            <a:tailEnd type="triangle" w="med" len="med"/>
          </a:ln>
        </p:spPr>
      </p:cxnSp>
      <p:cxnSp>
        <p:nvCxnSpPr>
          <p:cNvPr id="135" name="Google Shape;135;p15"/>
          <p:cNvCxnSpPr/>
          <p:nvPr/>
        </p:nvCxnSpPr>
        <p:spPr>
          <a:xfrm>
            <a:off x="3048700" y="801750"/>
            <a:ext cx="318000" cy="0"/>
          </a:xfrm>
          <a:prstGeom prst="straightConnector1">
            <a:avLst/>
          </a:prstGeom>
          <a:noFill/>
          <a:ln w="19050" cap="flat" cmpd="sng">
            <a:solidFill>
              <a:srgbClr val="3C78D8"/>
            </a:solidFill>
            <a:prstDash val="solid"/>
            <a:round/>
            <a:headEnd type="none" w="med" len="med"/>
            <a:tailEnd type="triangle" w="med" len="med"/>
          </a:ln>
        </p:spPr>
      </p:cxnSp>
      <p:cxnSp>
        <p:nvCxnSpPr>
          <p:cNvPr id="136" name="Google Shape;136;p15"/>
          <p:cNvCxnSpPr/>
          <p:nvPr/>
        </p:nvCxnSpPr>
        <p:spPr>
          <a:xfrm>
            <a:off x="5879600" y="801750"/>
            <a:ext cx="318000" cy="0"/>
          </a:xfrm>
          <a:prstGeom prst="straightConnector1">
            <a:avLst/>
          </a:prstGeom>
          <a:noFill/>
          <a:ln w="19050" cap="flat" cmpd="sng">
            <a:solidFill>
              <a:srgbClr val="3C78D8"/>
            </a:solidFill>
            <a:prstDash val="solid"/>
            <a:round/>
            <a:headEnd type="none" w="med" len="med"/>
            <a:tailEnd type="triangle" w="med" len="med"/>
          </a:ln>
        </p:spPr>
      </p:cxnSp>
      <p:cxnSp>
        <p:nvCxnSpPr>
          <p:cNvPr id="137" name="Google Shape;137;p15"/>
          <p:cNvCxnSpPr/>
          <p:nvPr/>
        </p:nvCxnSpPr>
        <p:spPr>
          <a:xfrm>
            <a:off x="7295050" y="801750"/>
            <a:ext cx="318000" cy="0"/>
          </a:xfrm>
          <a:prstGeom prst="straightConnector1">
            <a:avLst/>
          </a:prstGeom>
          <a:noFill/>
          <a:ln w="19050" cap="flat" cmpd="sng">
            <a:solidFill>
              <a:srgbClr val="FF0000"/>
            </a:solidFill>
            <a:prstDash val="solid"/>
            <a:round/>
            <a:headEnd type="none" w="med" len="med"/>
            <a:tailEnd type="triangle" w="med" len="med"/>
          </a:ln>
        </p:spPr>
      </p:cxnSp>
      <p:cxnSp>
        <p:nvCxnSpPr>
          <p:cNvPr id="138" name="Google Shape;138;p15"/>
          <p:cNvCxnSpPr/>
          <p:nvPr/>
        </p:nvCxnSpPr>
        <p:spPr>
          <a:xfrm>
            <a:off x="2499925" y="1208025"/>
            <a:ext cx="2835600" cy="335700"/>
          </a:xfrm>
          <a:prstGeom prst="bentConnector3">
            <a:avLst>
              <a:gd name="adj1" fmla="val 295"/>
            </a:avLst>
          </a:prstGeom>
          <a:noFill/>
          <a:ln w="19050" cap="flat" cmpd="sng">
            <a:solidFill>
              <a:srgbClr val="3C78D8"/>
            </a:solidFill>
            <a:prstDash val="solid"/>
            <a:round/>
            <a:headEnd type="none" w="med" len="med"/>
            <a:tailEnd type="none" w="med" len="med"/>
          </a:ln>
        </p:spPr>
      </p:cxnSp>
      <p:cxnSp>
        <p:nvCxnSpPr>
          <p:cNvPr id="139" name="Google Shape;139;p15"/>
          <p:cNvCxnSpPr/>
          <p:nvPr/>
        </p:nvCxnSpPr>
        <p:spPr>
          <a:xfrm rot="10800000">
            <a:off x="5330900" y="1204350"/>
            <a:ext cx="12900" cy="347700"/>
          </a:xfrm>
          <a:prstGeom prst="straightConnector1">
            <a:avLst/>
          </a:prstGeom>
          <a:noFill/>
          <a:ln w="19050" cap="flat" cmpd="sng">
            <a:solidFill>
              <a:srgbClr val="3C78D8"/>
            </a:solidFill>
            <a:prstDash val="solid"/>
            <a:round/>
            <a:headEnd type="none" w="med" len="med"/>
            <a:tailEnd type="triangle" w="med" len="med"/>
          </a:ln>
        </p:spPr>
      </p:cxnSp>
      <p:cxnSp>
        <p:nvCxnSpPr>
          <p:cNvPr id="140" name="Google Shape;140;p15"/>
          <p:cNvCxnSpPr/>
          <p:nvPr/>
        </p:nvCxnSpPr>
        <p:spPr>
          <a:xfrm>
            <a:off x="4464150" y="801750"/>
            <a:ext cx="318000" cy="0"/>
          </a:xfrm>
          <a:prstGeom prst="straightConnector1">
            <a:avLst/>
          </a:prstGeom>
          <a:noFill/>
          <a:ln w="19050" cap="flat" cmpd="sng">
            <a:solidFill>
              <a:srgbClr val="FF0000"/>
            </a:solidFill>
            <a:prstDash val="solid"/>
            <a:round/>
            <a:headEnd type="none" w="med" len="med"/>
            <a:tailEnd type="triangle" w="med" len="med"/>
          </a:ln>
        </p:spPr>
      </p:cxnSp>
      <p:sp>
        <p:nvSpPr>
          <p:cNvPr id="141" name="Google Shape;141;p15"/>
          <p:cNvSpPr/>
          <p:nvPr/>
        </p:nvSpPr>
        <p:spPr>
          <a:xfrm>
            <a:off x="7622175" y="4266458"/>
            <a:ext cx="1399500" cy="805200"/>
          </a:xfrm>
          <a:prstGeom prst="snip2DiagRect">
            <a:avLst>
              <a:gd name="adj1" fmla="val 0"/>
              <a:gd name="adj2"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QC Decisions</a:t>
            </a:r>
            <a:endParaRPr sz="1200"/>
          </a:p>
          <a:p>
            <a:pPr marL="0" lvl="0" indent="0" algn="ctr" rtl="0">
              <a:spcBef>
                <a:spcPts val="0"/>
              </a:spcBef>
              <a:spcAft>
                <a:spcPts val="0"/>
              </a:spcAft>
              <a:buNone/>
            </a:pPr>
            <a:r>
              <a:rPr lang="en" sz="1000" b="1">
                <a:solidFill>
                  <a:schemeClr val="dk1"/>
                </a:solidFill>
              </a:rPr>
              <a:t>See Protocol</a:t>
            </a:r>
            <a:r>
              <a:rPr lang="en" sz="1200">
                <a:solidFill>
                  <a:schemeClr val="dk1"/>
                </a:solidFill>
              </a:rPr>
              <a:t> </a:t>
            </a:r>
            <a:endParaRPr sz="12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6"/>
          <p:cNvSpPr/>
          <p:nvPr/>
        </p:nvSpPr>
        <p:spPr>
          <a:xfrm>
            <a:off x="142625" y="1677775"/>
            <a:ext cx="1845600" cy="29697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800" b="1">
                <a:solidFill>
                  <a:schemeClr val="dk1"/>
                </a:solidFill>
              </a:rPr>
              <a:t>IN:</a:t>
            </a:r>
            <a:endParaRPr sz="800" b="1">
              <a:solidFill>
                <a:schemeClr val="dk1"/>
              </a:solidFill>
            </a:endParaRPr>
          </a:p>
          <a:p>
            <a:pPr marL="91440" lvl="0" indent="0" algn="l" rtl="0">
              <a:spcBef>
                <a:spcPts val="0"/>
              </a:spcBef>
              <a:spcAft>
                <a:spcPts val="0"/>
              </a:spcAft>
              <a:buNone/>
            </a:pPr>
            <a:r>
              <a:rPr lang="en" sz="800" b="1">
                <a:solidFill>
                  <a:schemeClr val="dk1"/>
                </a:solidFill>
              </a:rPr>
              <a:t>Eluted cfDNA from PCR Plate generated in cfDNA Extraction step</a:t>
            </a:r>
            <a:endParaRPr sz="800" b="1">
              <a:solidFill>
                <a:schemeClr val="dk1"/>
              </a:solidFill>
            </a:endParaRPr>
          </a:p>
          <a:p>
            <a:pPr marL="0" lvl="0" indent="0" algn="l" rtl="0">
              <a:spcBef>
                <a:spcPts val="0"/>
              </a:spcBef>
              <a:spcAft>
                <a:spcPts val="0"/>
              </a:spcAft>
              <a:buNone/>
            </a:pPr>
            <a:endParaRPr sz="800" b="1">
              <a:solidFill>
                <a:schemeClr val="dk1"/>
              </a:solidFill>
            </a:endParaRPr>
          </a:p>
          <a:p>
            <a:pPr marL="0" lvl="0" indent="0" algn="l" rtl="0">
              <a:spcBef>
                <a:spcPts val="0"/>
              </a:spcBef>
              <a:spcAft>
                <a:spcPts val="0"/>
              </a:spcAft>
              <a:buClr>
                <a:schemeClr val="dk1"/>
              </a:buClr>
              <a:buSzPts val="1100"/>
              <a:buFont typeface="Arial"/>
              <a:buNone/>
            </a:pPr>
            <a:r>
              <a:rPr lang="en" sz="800" b="1">
                <a:solidFill>
                  <a:schemeClr val="dk1"/>
                </a:solidFill>
              </a:rPr>
              <a:t>GENERATE:</a:t>
            </a:r>
            <a:endParaRPr sz="800" b="1">
              <a:solidFill>
                <a:schemeClr val="dk1"/>
              </a:solidFill>
            </a:endParaRPr>
          </a:p>
          <a:p>
            <a:pPr marL="91440" lvl="0" indent="0" algn="l" rtl="0">
              <a:spcBef>
                <a:spcPts val="0"/>
              </a:spcBef>
              <a:spcAft>
                <a:spcPts val="0"/>
              </a:spcAft>
              <a:buClr>
                <a:schemeClr val="dk1"/>
              </a:buClr>
              <a:buSzPts val="1100"/>
              <a:buFont typeface="Arial"/>
              <a:buNone/>
            </a:pPr>
            <a:r>
              <a:rPr lang="en" sz="800" b="1">
                <a:solidFill>
                  <a:schemeClr val="dk1"/>
                </a:solidFill>
              </a:rPr>
              <a:t>PCR Plate</a:t>
            </a:r>
            <a:endParaRPr sz="800" b="1">
              <a:solidFill>
                <a:schemeClr val="dk1"/>
              </a:solidFill>
            </a:endParaRPr>
          </a:p>
          <a:p>
            <a:pPr marL="91440" lvl="0" indent="0" algn="l" rtl="0">
              <a:spcBef>
                <a:spcPts val="0"/>
              </a:spcBef>
              <a:spcAft>
                <a:spcPts val="0"/>
              </a:spcAft>
              <a:buClr>
                <a:schemeClr val="dk1"/>
              </a:buClr>
              <a:buSzPts val="1100"/>
              <a:buFont typeface="Arial"/>
              <a:buNone/>
            </a:pPr>
            <a:r>
              <a:rPr lang="en" sz="800" i="1">
                <a:solidFill>
                  <a:schemeClr val="dk1"/>
                </a:solidFill>
              </a:rPr>
              <a:t>Plate Labels/Map</a:t>
            </a:r>
            <a:endParaRPr sz="800" i="1">
              <a:solidFill>
                <a:schemeClr val="dk1"/>
              </a:solidFill>
            </a:endParaRPr>
          </a:p>
          <a:p>
            <a:pPr marL="91440" lvl="0" indent="0" algn="l" rtl="0">
              <a:spcBef>
                <a:spcPts val="0"/>
              </a:spcBef>
              <a:spcAft>
                <a:spcPts val="0"/>
              </a:spcAft>
              <a:buClr>
                <a:schemeClr val="dk1"/>
              </a:buClr>
              <a:buSzPts val="1100"/>
              <a:buFont typeface="Arial"/>
              <a:buNone/>
            </a:pPr>
            <a:r>
              <a:rPr lang="en" sz="800" i="1">
                <a:solidFill>
                  <a:schemeClr val="dk1"/>
                </a:solidFill>
              </a:rPr>
              <a:t>Samples Labels (MSRE+/-)</a:t>
            </a:r>
            <a:endParaRPr sz="800" i="1">
              <a:solidFill>
                <a:schemeClr val="dk1"/>
              </a:solidFill>
            </a:endParaRPr>
          </a:p>
          <a:p>
            <a:pPr marL="0" lvl="0" indent="0" algn="l" rtl="0">
              <a:spcBef>
                <a:spcPts val="0"/>
              </a:spcBef>
              <a:spcAft>
                <a:spcPts val="0"/>
              </a:spcAft>
              <a:buClr>
                <a:schemeClr val="dk1"/>
              </a:buClr>
              <a:buSzPts val="1100"/>
              <a:buFont typeface="Arial"/>
              <a:buNone/>
            </a:pPr>
            <a:endParaRPr sz="800" b="1">
              <a:solidFill>
                <a:schemeClr val="dk1"/>
              </a:solidFill>
            </a:endParaRPr>
          </a:p>
          <a:p>
            <a:pPr marL="0" lvl="0" indent="0" algn="l" rtl="0">
              <a:spcBef>
                <a:spcPts val="0"/>
              </a:spcBef>
              <a:spcAft>
                <a:spcPts val="0"/>
              </a:spcAft>
              <a:buClr>
                <a:schemeClr val="dk1"/>
              </a:buClr>
              <a:buSzPts val="1100"/>
              <a:buFont typeface="Arial"/>
              <a:buNone/>
            </a:pPr>
            <a:r>
              <a:rPr lang="en" sz="800" b="1">
                <a:solidFill>
                  <a:schemeClr val="dk1"/>
                </a:solidFill>
              </a:rPr>
              <a:t>OUT:</a:t>
            </a:r>
            <a:endParaRPr sz="800" b="1">
              <a:solidFill>
                <a:schemeClr val="dk1"/>
              </a:solidFill>
            </a:endParaRPr>
          </a:p>
          <a:p>
            <a:pPr marL="91440" lvl="0" indent="0" algn="l" rtl="0">
              <a:spcBef>
                <a:spcPts val="0"/>
              </a:spcBef>
              <a:spcAft>
                <a:spcPts val="0"/>
              </a:spcAft>
              <a:buNone/>
            </a:pPr>
            <a:r>
              <a:rPr lang="en" sz="800" i="1">
                <a:solidFill>
                  <a:schemeClr val="dk1"/>
                </a:solidFill>
              </a:rPr>
              <a:t>Plate Labels/Map</a:t>
            </a:r>
            <a:endParaRPr sz="800" b="1">
              <a:solidFill>
                <a:schemeClr val="dk1"/>
              </a:solidFill>
            </a:endParaRPr>
          </a:p>
          <a:p>
            <a:pPr marL="91440" lvl="0" indent="0" algn="l" rtl="0">
              <a:spcBef>
                <a:spcPts val="0"/>
              </a:spcBef>
              <a:spcAft>
                <a:spcPts val="0"/>
              </a:spcAft>
              <a:buNone/>
            </a:pPr>
            <a:r>
              <a:rPr lang="en" sz="800" i="1">
                <a:solidFill>
                  <a:schemeClr val="dk1"/>
                </a:solidFill>
              </a:rPr>
              <a:t>Samples Labels (MSRE+/-)</a:t>
            </a:r>
            <a:endParaRPr sz="800" i="1">
              <a:solidFill>
                <a:schemeClr val="dk1"/>
              </a:solidFill>
            </a:endParaRPr>
          </a:p>
          <a:p>
            <a:pPr marL="91440" lvl="0" indent="0" algn="l" rtl="0">
              <a:spcBef>
                <a:spcPts val="0"/>
              </a:spcBef>
              <a:spcAft>
                <a:spcPts val="0"/>
              </a:spcAft>
              <a:buNone/>
            </a:pPr>
            <a:endParaRPr sz="800" i="1">
              <a:solidFill>
                <a:schemeClr val="dk1"/>
              </a:solidFill>
            </a:endParaRPr>
          </a:p>
          <a:p>
            <a:pPr marL="0" lvl="0" indent="0" algn="l" rtl="0">
              <a:spcBef>
                <a:spcPts val="0"/>
              </a:spcBef>
              <a:spcAft>
                <a:spcPts val="0"/>
              </a:spcAft>
              <a:buNone/>
            </a:pPr>
            <a:r>
              <a:rPr lang="en" sz="800" b="1">
                <a:solidFill>
                  <a:schemeClr val="dk1"/>
                </a:solidFill>
              </a:rPr>
              <a:t>Use generated samples in the ddPCR step</a:t>
            </a:r>
            <a:endParaRPr sz="800" i="1">
              <a:solidFill>
                <a:schemeClr val="dk1"/>
              </a:solidFill>
            </a:endParaRPr>
          </a:p>
          <a:p>
            <a:pPr marL="91440" lvl="0" indent="0" algn="l" rtl="0">
              <a:spcBef>
                <a:spcPts val="0"/>
              </a:spcBef>
              <a:spcAft>
                <a:spcPts val="0"/>
              </a:spcAft>
              <a:buClr>
                <a:schemeClr val="dk1"/>
              </a:buClr>
              <a:buSzPts val="1100"/>
              <a:buFont typeface="Arial"/>
              <a:buNone/>
            </a:pPr>
            <a:endParaRPr sz="800" i="1">
              <a:solidFill>
                <a:schemeClr val="dk1"/>
              </a:solidFill>
            </a:endParaRPr>
          </a:p>
          <a:p>
            <a:pPr marL="0" lvl="0" indent="0" algn="l" rtl="0">
              <a:spcBef>
                <a:spcPts val="0"/>
              </a:spcBef>
              <a:spcAft>
                <a:spcPts val="0"/>
              </a:spcAft>
              <a:buNone/>
            </a:pPr>
            <a:r>
              <a:rPr lang="en" sz="800" i="1">
                <a:solidFill>
                  <a:srgbClr val="FF0000"/>
                </a:solidFill>
              </a:rPr>
              <a:t>need help- labels &amp; tubes types</a:t>
            </a:r>
            <a:endParaRPr sz="800"/>
          </a:p>
        </p:txBody>
      </p:sp>
      <p:sp>
        <p:nvSpPr>
          <p:cNvPr id="147" name="Google Shape;147;p16"/>
          <p:cNvSpPr/>
          <p:nvPr/>
        </p:nvSpPr>
        <p:spPr>
          <a:xfrm>
            <a:off x="1796600" y="1921075"/>
            <a:ext cx="2313900" cy="2726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000" b="1">
                <a:solidFill>
                  <a:schemeClr val="dk1"/>
                </a:solidFill>
              </a:rPr>
              <a:t>Calculate volume of eluted cfDNA and NF H2O to load in the HpaII reaction</a:t>
            </a:r>
            <a:endParaRPr sz="1000" b="1">
              <a:solidFill>
                <a:schemeClr val="dk1"/>
              </a:solidFill>
            </a:endParaRPr>
          </a:p>
          <a:p>
            <a:pPr marL="0" lvl="0" indent="0" algn="l" rtl="0">
              <a:spcBef>
                <a:spcPts val="0"/>
              </a:spcBef>
              <a:spcAft>
                <a:spcPts val="0"/>
              </a:spcAft>
              <a:buNone/>
            </a:pPr>
            <a:endParaRPr sz="1000"/>
          </a:p>
          <a:p>
            <a:pPr marL="0" lvl="0" indent="0" algn="l" rtl="0">
              <a:spcBef>
                <a:spcPts val="0"/>
              </a:spcBef>
              <a:spcAft>
                <a:spcPts val="0"/>
              </a:spcAft>
              <a:buNone/>
            </a:pPr>
            <a:r>
              <a:rPr lang="en" sz="1000" b="1"/>
              <a:t>HpaII MSRE +/- Reaction wells:</a:t>
            </a:r>
            <a:endParaRPr sz="1000" b="1"/>
          </a:p>
          <a:p>
            <a:pPr marL="182880" lvl="0" indent="-109219" algn="l" rtl="0">
              <a:spcBef>
                <a:spcPts val="0"/>
              </a:spcBef>
              <a:spcAft>
                <a:spcPts val="0"/>
              </a:spcAft>
              <a:buSzPts val="1000"/>
              <a:buChar char="●"/>
            </a:pPr>
            <a:r>
              <a:rPr lang="en" sz="1000"/>
              <a:t>Eluted cfDNA - x uL calculated above</a:t>
            </a:r>
            <a:endParaRPr sz="1000"/>
          </a:p>
          <a:p>
            <a:pPr marL="182880" lvl="0" indent="-109219" algn="l" rtl="0">
              <a:spcBef>
                <a:spcPts val="0"/>
              </a:spcBef>
              <a:spcAft>
                <a:spcPts val="0"/>
              </a:spcAft>
              <a:buSzPts val="1000"/>
              <a:buChar char="●"/>
            </a:pPr>
            <a:r>
              <a:rPr lang="en" sz="1000"/>
              <a:t>NF H2O - y uL calculated above</a:t>
            </a:r>
            <a:endParaRPr sz="1000"/>
          </a:p>
          <a:p>
            <a:pPr marL="182880" lvl="0" indent="-109219" algn="l" rtl="0">
              <a:spcBef>
                <a:spcPts val="0"/>
              </a:spcBef>
              <a:spcAft>
                <a:spcPts val="0"/>
              </a:spcAft>
              <a:buSzPts val="1000"/>
              <a:buChar char="●"/>
            </a:pPr>
            <a:r>
              <a:rPr lang="en" sz="1000"/>
              <a:t>10x CutSmart buffer - 2uL</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900" u="sng"/>
              <a:t>cfDNA Normalization to 5ng (X)</a:t>
            </a:r>
            <a:endParaRPr sz="900" u="sng"/>
          </a:p>
          <a:p>
            <a:pPr marL="0" lvl="0" indent="0" algn="l" rtl="0">
              <a:spcBef>
                <a:spcPts val="0"/>
              </a:spcBef>
              <a:spcAft>
                <a:spcPts val="0"/>
              </a:spcAft>
              <a:buNone/>
            </a:pPr>
            <a:r>
              <a:rPr lang="en" sz="900"/>
              <a:t>5ng / concentration of cfDNA samples in ng/µL = Volume of cfDNA required in µL (X)</a:t>
            </a:r>
            <a:endParaRPr sz="900"/>
          </a:p>
          <a:p>
            <a:pPr marL="0" lvl="0" indent="0" algn="l" rtl="0">
              <a:spcBef>
                <a:spcPts val="0"/>
              </a:spcBef>
              <a:spcAft>
                <a:spcPts val="0"/>
              </a:spcAft>
              <a:buNone/>
            </a:pPr>
            <a:r>
              <a:rPr lang="en" sz="900" u="sng"/>
              <a:t>Volume of H2O (Y)</a:t>
            </a:r>
            <a:endParaRPr sz="900" u="sng"/>
          </a:p>
          <a:p>
            <a:pPr marL="0" lvl="0" indent="0" algn="l" rtl="0">
              <a:spcBef>
                <a:spcPts val="0"/>
              </a:spcBef>
              <a:spcAft>
                <a:spcPts val="0"/>
              </a:spcAft>
              <a:buNone/>
            </a:pPr>
            <a:r>
              <a:rPr lang="en" sz="900"/>
              <a:t>20µL Final Volume - 2µL Cutsmart Buffer - 1µL HpaII Enzyme (or water) = volume of H2O (Y)</a:t>
            </a:r>
            <a:endParaRPr sz="1000"/>
          </a:p>
        </p:txBody>
      </p:sp>
      <p:sp>
        <p:nvSpPr>
          <p:cNvPr id="148" name="Google Shape;148;p16"/>
          <p:cNvSpPr/>
          <p:nvPr/>
        </p:nvSpPr>
        <p:spPr>
          <a:xfrm>
            <a:off x="4110500" y="1674131"/>
            <a:ext cx="3519300" cy="2973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1000"/>
          </a:p>
          <a:p>
            <a:pPr marL="91440" lvl="0" indent="-96520" algn="l" rtl="0">
              <a:lnSpc>
                <a:spcPct val="115000"/>
              </a:lnSpc>
              <a:spcBef>
                <a:spcPts val="0"/>
              </a:spcBef>
              <a:spcAft>
                <a:spcPts val="0"/>
              </a:spcAft>
              <a:buSzPts val="800"/>
              <a:buChar char="●"/>
            </a:pPr>
            <a:r>
              <a:rPr lang="en" sz="800"/>
              <a:t>Determine the volume of eluted cfDNA required to load 5ng of cfDNA into a HpaII reaction using data from cfDNA quantification step</a:t>
            </a:r>
            <a:endParaRPr sz="800"/>
          </a:p>
          <a:p>
            <a:pPr marL="91440" lvl="0" indent="-96520" algn="l" rtl="0">
              <a:lnSpc>
                <a:spcPct val="115000"/>
              </a:lnSpc>
              <a:spcBef>
                <a:spcPts val="0"/>
              </a:spcBef>
              <a:spcAft>
                <a:spcPts val="0"/>
              </a:spcAft>
              <a:buSzPts val="800"/>
              <a:buChar char="●"/>
            </a:pPr>
            <a:r>
              <a:rPr lang="en" sz="800"/>
              <a:t>Prepare two HpaII reaction wells per sample, label the wells “MSRE +” and “MSRE -”</a:t>
            </a:r>
            <a:endParaRPr sz="800"/>
          </a:p>
          <a:p>
            <a:pPr marL="91440" lvl="0" indent="-96520" algn="l" rtl="0">
              <a:lnSpc>
                <a:spcPct val="115000"/>
              </a:lnSpc>
              <a:spcBef>
                <a:spcPts val="0"/>
              </a:spcBef>
              <a:spcAft>
                <a:spcPts val="0"/>
              </a:spcAft>
              <a:buSzPts val="800"/>
              <a:buChar char="●"/>
            </a:pPr>
            <a:r>
              <a:rPr lang="en" sz="800"/>
              <a:t>To the “MSRE +” wels:</a:t>
            </a:r>
            <a:endParaRPr sz="800"/>
          </a:p>
          <a:p>
            <a:pPr marL="274320" lvl="0" indent="-96520" algn="l" rtl="0">
              <a:lnSpc>
                <a:spcPct val="115000"/>
              </a:lnSpc>
              <a:spcBef>
                <a:spcPts val="0"/>
              </a:spcBef>
              <a:spcAft>
                <a:spcPts val="0"/>
              </a:spcAft>
              <a:buSzPts val="800"/>
              <a:buChar char="●"/>
            </a:pPr>
            <a:r>
              <a:rPr lang="en" sz="800"/>
              <a:t>Add 5ng of cfDNA (volume should not exceed 17 µL)</a:t>
            </a:r>
            <a:endParaRPr sz="800"/>
          </a:p>
          <a:p>
            <a:pPr marL="274320" lvl="0" indent="-96520" algn="l" rtl="0">
              <a:lnSpc>
                <a:spcPct val="115000"/>
              </a:lnSpc>
              <a:spcBef>
                <a:spcPts val="0"/>
              </a:spcBef>
              <a:spcAft>
                <a:spcPts val="0"/>
              </a:spcAft>
              <a:buSzPts val="800"/>
              <a:buChar char="●"/>
            </a:pPr>
            <a:r>
              <a:rPr lang="en" sz="800"/>
              <a:t>Add a volume of NF H2O sufficient to adjust the cfDNA volume to 17µL</a:t>
            </a:r>
            <a:endParaRPr sz="800"/>
          </a:p>
          <a:p>
            <a:pPr marL="274320" lvl="0" indent="-96520" algn="l" rtl="0">
              <a:lnSpc>
                <a:spcPct val="115000"/>
              </a:lnSpc>
              <a:spcBef>
                <a:spcPts val="0"/>
              </a:spcBef>
              <a:spcAft>
                <a:spcPts val="0"/>
              </a:spcAft>
              <a:buSzPts val="800"/>
              <a:buChar char="●"/>
            </a:pPr>
            <a:r>
              <a:rPr lang="en" sz="800"/>
              <a:t>Add 2µL of 10x CutSmart buffer</a:t>
            </a:r>
            <a:endParaRPr sz="800"/>
          </a:p>
          <a:p>
            <a:pPr marL="274320" lvl="0" indent="-96520" algn="l" rtl="0">
              <a:lnSpc>
                <a:spcPct val="115000"/>
              </a:lnSpc>
              <a:spcBef>
                <a:spcPts val="0"/>
              </a:spcBef>
              <a:spcAft>
                <a:spcPts val="0"/>
              </a:spcAft>
              <a:buSzPts val="800"/>
              <a:buChar char="●"/>
            </a:pPr>
            <a:r>
              <a:rPr lang="en" sz="800"/>
              <a:t>Add 1µL of HpaII</a:t>
            </a:r>
            <a:endParaRPr sz="800"/>
          </a:p>
          <a:p>
            <a:pPr marL="91440" lvl="0" indent="-96520" algn="l" rtl="0">
              <a:lnSpc>
                <a:spcPct val="115000"/>
              </a:lnSpc>
              <a:spcBef>
                <a:spcPts val="0"/>
              </a:spcBef>
              <a:spcAft>
                <a:spcPts val="0"/>
              </a:spcAft>
              <a:buSzPts val="800"/>
              <a:buChar char="●"/>
            </a:pPr>
            <a:r>
              <a:rPr lang="en" sz="800"/>
              <a:t>To the “MSRE -” wells:</a:t>
            </a:r>
            <a:endParaRPr sz="800"/>
          </a:p>
          <a:p>
            <a:pPr marL="274320" lvl="0" indent="-96520" algn="l" rtl="0">
              <a:lnSpc>
                <a:spcPct val="115000"/>
              </a:lnSpc>
              <a:spcBef>
                <a:spcPts val="0"/>
              </a:spcBef>
              <a:spcAft>
                <a:spcPts val="0"/>
              </a:spcAft>
              <a:buSzPts val="800"/>
              <a:buChar char="●"/>
            </a:pPr>
            <a:r>
              <a:rPr lang="en" sz="800"/>
              <a:t>Add 5ng of cfDNA (volume should not exceed 17 µL)</a:t>
            </a:r>
            <a:endParaRPr sz="800"/>
          </a:p>
          <a:p>
            <a:pPr marL="274320" lvl="0" indent="-96520" algn="l" rtl="0">
              <a:lnSpc>
                <a:spcPct val="115000"/>
              </a:lnSpc>
              <a:spcBef>
                <a:spcPts val="0"/>
              </a:spcBef>
              <a:spcAft>
                <a:spcPts val="0"/>
              </a:spcAft>
              <a:buSzPts val="800"/>
              <a:buChar char="●"/>
            </a:pPr>
            <a:r>
              <a:rPr lang="en" sz="800"/>
              <a:t>Add a volume of NF H2O sufficient to adjust the cfDNA volume to 18µL</a:t>
            </a:r>
            <a:endParaRPr sz="800"/>
          </a:p>
          <a:p>
            <a:pPr marL="274320" lvl="0" indent="-96520" algn="l" rtl="0">
              <a:lnSpc>
                <a:spcPct val="115000"/>
              </a:lnSpc>
              <a:spcBef>
                <a:spcPts val="0"/>
              </a:spcBef>
              <a:spcAft>
                <a:spcPts val="0"/>
              </a:spcAft>
              <a:buSzPts val="800"/>
              <a:buChar char="●"/>
            </a:pPr>
            <a:r>
              <a:rPr lang="en" sz="800"/>
              <a:t>Add 2µL of 10x CutSmart buffer</a:t>
            </a:r>
            <a:endParaRPr sz="800"/>
          </a:p>
          <a:p>
            <a:pPr marL="91440" lvl="0" indent="-96520" algn="l" rtl="0">
              <a:lnSpc>
                <a:spcPct val="115000"/>
              </a:lnSpc>
              <a:spcBef>
                <a:spcPts val="0"/>
              </a:spcBef>
              <a:spcAft>
                <a:spcPts val="0"/>
              </a:spcAft>
              <a:buSzPts val="800"/>
              <a:buChar char="●"/>
            </a:pPr>
            <a:r>
              <a:rPr lang="en" sz="800"/>
              <a:t>Incubate the HpaII reaction tubes at 37°C for 1 hour</a:t>
            </a:r>
            <a:endParaRPr sz="800"/>
          </a:p>
          <a:p>
            <a:pPr marL="91440" lvl="0" indent="-96520" algn="l" rtl="0">
              <a:lnSpc>
                <a:spcPct val="115000"/>
              </a:lnSpc>
              <a:spcBef>
                <a:spcPts val="0"/>
              </a:spcBef>
              <a:spcAft>
                <a:spcPts val="0"/>
              </a:spcAft>
              <a:buSzPts val="800"/>
              <a:buChar char="●"/>
            </a:pPr>
            <a:r>
              <a:rPr lang="en" sz="800"/>
              <a:t>Use the resulting samples for ddPCR step</a:t>
            </a:r>
            <a:endParaRPr sz="1000"/>
          </a:p>
        </p:txBody>
      </p:sp>
      <p:sp>
        <p:nvSpPr>
          <p:cNvPr id="149" name="Google Shape;149;p16"/>
          <p:cNvSpPr/>
          <p:nvPr/>
        </p:nvSpPr>
        <p:spPr>
          <a:xfrm>
            <a:off x="7629800" y="1677781"/>
            <a:ext cx="1360500" cy="2969700"/>
          </a:xfrm>
          <a:prstGeom prst="round1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91440" lvl="0" indent="-102870" algn="l" rtl="0">
              <a:lnSpc>
                <a:spcPct val="115000"/>
              </a:lnSpc>
              <a:spcBef>
                <a:spcPts val="0"/>
              </a:spcBef>
              <a:spcAft>
                <a:spcPts val="0"/>
              </a:spcAft>
              <a:buClr>
                <a:schemeClr val="dk1"/>
              </a:buClr>
              <a:buSzPts val="900"/>
              <a:buChar char="●"/>
            </a:pPr>
            <a:r>
              <a:rPr lang="en" sz="1000">
                <a:solidFill>
                  <a:schemeClr val="dk1"/>
                </a:solidFill>
              </a:rPr>
              <a:t>HpaII Plate Setup</a:t>
            </a:r>
            <a:endParaRPr sz="1000">
              <a:solidFill>
                <a:schemeClr val="dk1"/>
              </a:solidFill>
            </a:endParaRPr>
          </a:p>
          <a:p>
            <a:pPr marL="91440" lvl="0" indent="-102870" algn="l" rtl="0">
              <a:lnSpc>
                <a:spcPct val="115000"/>
              </a:lnSpc>
              <a:spcBef>
                <a:spcPts val="0"/>
              </a:spcBef>
              <a:spcAft>
                <a:spcPts val="0"/>
              </a:spcAft>
              <a:buClr>
                <a:schemeClr val="dk1"/>
              </a:buClr>
              <a:buSzPts val="900"/>
              <a:buChar char="●"/>
            </a:pPr>
            <a:r>
              <a:rPr lang="en" sz="1000">
                <a:solidFill>
                  <a:schemeClr val="dk1"/>
                </a:solidFill>
              </a:rPr>
              <a:t>Reagents used</a:t>
            </a:r>
            <a:r>
              <a:rPr lang="en" sz="1000" b="1">
                <a:solidFill>
                  <a:schemeClr val="dk1"/>
                </a:solidFill>
              </a:rPr>
              <a:t> </a:t>
            </a:r>
            <a:endParaRPr sz="1000" b="1">
              <a:solidFill>
                <a:schemeClr val="dk1"/>
              </a:solidFill>
            </a:endParaRPr>
          </a:p>
          <a:p>
            <a:pPr marL="91440" lvl="0" indent="-102870" algn="l" rtl="0">
              <a:lnSpc>
                <a:spcPct val="115000"/>
              </a:lnSpc>
              <a:spcBef>
                <a:spcPts val="0"/>
              </a:spcBef>
              <a:spcAft>
                <a:spcPts val="0"/>
              </a:spcAft>
              <a:buClr>
                <a:schemeClr val="dk1"/>
              </a:buClr>
              <a:buSzPts val="900"/>
              <a:buChar char="●"/>
            </a:pPr>
            <a:r>
              <a:rPr lang="en" sz="1000">
                <a:solidFill>
                  <a:schemeClr val="dk1"/>
                </a:solidFill>
              </a:rPr>
              <a:t>Calculate volumes used for n samples</a:t>
            </a:r>
            <a:endParaRPr sz="1000">
              <a:solidFill>
                <a:schemeClr val="dk1"/>
              </a:solidFill>
            </a:endParaRPr>
          </a:p>
          <a:p>
            <a:pPr marL="91440" lvl="0" indent="-102870" algn="l" rtl="0">
              <a:lnSpc>
                <a:spcPct val="115000"/>
              </a:lnSpc>
              <a:spcBef>
                <a:spcPts val="0"/>
              </a:spcBef>
              <a:spcAft>
                <a:spcPts val="0"/>
              </a:spcAft>
              <a:buClr>
                <a:schemeClr val="dk1"/>
              </a:buClr>
              <a:buSzPts val="900"/>
              <a:buChar char="●"/>
            </a:pPr>
            <a:r>
              <a:rPr lang="en" sz="1000">
                <a:solidFill>
                  <a:schemeClr val="dk1"/>
                </a:solidFill>
              </a:rPr>
              <a:t>Substrat volumes used from available inventory</a:t>
            </a:r>
            <a:r>
              <a:rPr lang="en" sz="1100">
                <a:solidFill>
                  <a:schemeClr val="dk1"/>
                </a:solidFill>
              </a:rPr>
              <a:t> </a:t>
            </a:r>
            <a:endParaRPr sz="1100">
              <a:solidFill>
                <a:schemeClr val="dk1"/>
              </a:solidFill>
            </a:endParaRPr>
          </a:p>
          <a:p>
            <a:pPr marL="457200" lvl="0" indent="0" algn="l" rtl="0">
              <a:lnSpc>
                <a:spcPct val="115000"/>
              </a:lnSpc>
              <a:spcBef>
                <a:spcPts val="0"/>
              </a:spcBef>
              <a:spcAft>
                <a:spcPts val="0"/>
              </a:spcAft>
              <a:buNone/>
            </a:pPr>
            <a:endParaRPr sz="1100">
              <a:solidFill>
                <a:schemeClr val="dk1"/>
              </a:solidFill>
            </a:endParaRPr>
          </a:p>
          <a:p>
            <a:pPr marL="0" lvl="0" indent="0" algn="ctr" rtl="0">
              <a:spcBef>
                <a:spcPts val="0"/>
              </a:spcBef>
              <a:spcAft>
                <a:spcPts val="0"/>
              </a:spcAft>
              <a:buNone/>
            </a:pPr>
            <a:r>
              <a:rPr lang="en"/>
              <a:t> </a:t>
            </a:r>
            <a:endParaRPr/>
          </a:p>
        </p:txBody>
      </p:sp>
      <p:sp>
        <p:nvSpPr>
          <p:cNvPr id="150" name="Google Shape;150;p16"/>
          <p:cNvSpPr/>
          <p:nvPr/>
        </p:nvSpPr>
        <p:spPr>
          <a:xfrm>
            <a:off x="535850" y="399150"/>
            <a:ext cx="1097400" cy="805200"/>
          </a:xfrm>
          <a:prstGeom prst="round2DiagRect">
            <a:avLst>
              <a:gd name="adj1" fmla="val 16667"/>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rPr>
              <a:t>Receiving</a:t>
            </a:r>
            <a:endParaRPr/>
          </a:p>
        </p:txBody>
      </p:sp>
      <p:sp>
        <p:nvSpPr>
          <p:cNvPr id="151" name="Google Shape;151;p16"/>
          <p:cNvSpPr/>
          <p:nvPr/>
        </p:nvSpPr>
        <p:spPr>
          <a:xfrm>
            <a:off x="1951300" y="399150"/>
            <a:ext cx="1097400" cy="805200"/>
          </a:xfrm>
          <a:prstGeom prst="round2DiagRect">
            <a:avLst>
              <a:gd name="adj1" fmla="val 16667"/>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rPr>
              <a:t>cfDNA Extraction</a:t>
            </a:r>
            <a:endParaRPr sz="1200">
              <a:solidFill>
                <a:schemeClr val="dk1"/>
              </a:solidFill>
            </a:endParaRPr>
          </a:p>
        </p:txBody>
      </p:sp>
      <p:sp>
        <p:nvSpPr>
          <p:cNvPr id="152" name="Google Shape;152;p16"/>
          <p:cNvSpPr/>
          <p:nvPr/>
        </p:nvSpPr>
        <p:spPr>
          <a:xfrm>
            <a:off x="3366750" y="399150"/>
            <a:ext cx="1097400" cy="805200"/>
          </a:xfrm>
          <a:prstGeom prst="round2DiagRect">
            <a:avLst>
              <a:gd name="adj1" fmla="val 16667"/>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rPr>
              <a:t>cfDNA Quantification</a:t>
            </a:r>
            <a:endParaRPr sz="1000">
              <a:solidFill>
                <a:schemeClr val="dk1"/>
              </a:solidFill>
            </a:endParaRPr>
          </a:p>
          <a:p>
            <a:pPr marL="0" lvl="0" indent="0" algn="ctr" rtl="0">
              <a:spcBef>
                <a:spcPts val="0"/>
              </a:spcBef>
              <a:spcAft>
                <a:spcPts val="0"/>
              </a:spcAft>
              <a:buNone/>
            </a:pPr>
            <a:endParaRPr sz="1000">
              <a:solidFill>
                <a:schemeClr val="dk1"/>
              </a:solidFill>
            </a:endParaRPr>
          </a:p>
        </p:txBody>
      </p:sp>
      <p:sp>
        <p:nvSpPr>
          <p:cNvPr id="153" name="Google Shape;153;p16"/>
          <p:cNvSpPr/>
          <p:nvPr/>
        </p:nvSpPr>
        <p:spPr>
          <a:xfrm>
            <a:off x="4782200" y="399150"/>
            <a:ext cx="1097400" cy="805200"/>
          </a:xfrm>
          <a:prstGeom prst="round2DiagRect">
            <a:avLst>
              <a:gd name="adj1" fmla="val 16667"/>
              <a:gd name="adj2" fmla="val 0"/>
            </a:avLst>
          </a:prstGeom>
          <a:solidFill>
            <a:srgbClr val="6D9EEB"/>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rPr>
              <a:t>HpaII Digestion</a:t>
            </a:r>
            <a:endParaRPr sz="1000">
              <a:solidFill>
                <a:schemeClr val="dk1"/>
              </a:solidFill>
            </a:endParaRPr>
          </a:p>
          <a:p>
            <a:pPr marL="0" lvl="0" indent="0" algn="l" rtl="0">
              <a:spcBef>
                <a:spcPts val="0"/>
              </a:spcBef>
              <a:spcAft>
                <a:spcPts val="0"/>
              </a:spcAft>
              <a:buNone/>
            </a:pPr>
            <a:endParaRPr sz="1000">
              <a:solidFill>
                <a:schemeClr val="dk1"/>
              </a:solidFill>
            </a:endParaRPr>
          </a:p>
        </p:txBody>
      </p:sp>
      <p:sp>
        <p:nvSpPr>
          <p:cNvPr id="154" name="Google Shape;154;p16"/>
          <p:cNvSpPr/>
          <p:nvPr/>
        </p:nvSpPr>
        <p:spPr>
          <a:xfrm>
            <a:off x="6197650" y="399150"/>
            <a:ext cx="1097400" cy="805200"/>
          </a:xfrm>
          <a:prstGeom prst="round2DiagRect">
            <a:avLst>
              <a:gd name="adj1" fmla="val 16667"/>
              <a:gd name="adj2" fmla="val 0"/>
            </a:avLst>
          </a:prstGeom>
          <a:solidFill>
            <a:schemeClr val="lt2"/>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rPr>
              <a:t>ddPCR</a:t>
            </a:r>
            <a:endParaRPr sz="1000">
              <a:solidFill>
                <a:schemeClr val="dk1"/>
              </a:solidFill>
            </a:endParaRPr>
          </a:p>
          <a:p>
            <a:pPr marL="0" lvl="0" indent="0" algn="l" rtl="0">
              <a:spcBef>
                <a:spcPts val="0"/>
              </a:spcBef>
              <a:spcAft>
                <a:spcPts val="0"/>
              </a:spcAft>
              <a:buNone/>
            </a:pPr>
            <a:endParaRPr sz="1000">
              <a:solidFill>
                <a:schemeClr val="dk1"/>
              </a:solidFill>
            </a:endParaRPr>
          </a:p>
        </p:txBody>
      </p:sp>
      <p:sp>
        <p:nvSpPr>
          <p:cNvPr id="155" name="Google Shape;155;p16"/>
          <p:cNvSpPr/>
          <p:nvPr/>
        </p:nvSpPr>
        <p:spPr>
          <a:xfrm>
            <a:off x="7613100" y="399150"/>
            <a:ext cx="1097400" cy="805200"/>
          </a:xfrm>
          <a:prstGeom prst="round2DiagRect">
            <a:avLst>
              <a:gd name="adj1" fmla="val 16667"/>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rPr>
              <a:t>QC</a:t>
            </a:r>
            <a:endParaRPr sz="1000">
              <a:solidFill>
                <a:schemeClr val="dk1"/>
              </a:solidFill>
            </a:endParaRPr>
          </a:p>
          <a:p>
            <a:pPr marL="0" lvl="0" indent="0" algn="ctr" rtl="0">
              <a:spcBef>
                <a:spcPts val="0"/>
              </a:spcBef>
              <a:spcAft>
                <a:spcPts val="0"/>
              </a:spcAft>
              <a:buNone/>
            </a:pPr>
            <a:r>
              <a:rPr lang="en" sz="1000">
                <a:solidFill>
                  <a:schemeClr val="dk1"/>
                </a:solidFill>
              </a:rPr>
              <a:t>Results</a:t>
            </a:r>
            <a:endParaRPr sz="1000">
              <a:solidFill>
                <a:schemeClr val="dk1"/>
              </a:solidFill>
            </a:endParaRPr>
          </a:p>
          <a:p>
            <a:pPr marL="0" lvl="0" indent="0" algn="l" rtl="0">
              <a:spcBef>
                <a:spcPts val="0"/>
              </a:spcBef>
              <a:spcAft>
                <a:spcPts val="0"/>
              </a:spcAft>
              <a:buNone/>
            </a:pPr>
            <a:endParaRPr sz="1000">
              <a:solidFill>
                <a:schemeClr val="dk1"/>
              </a:solidFill>
            </a:endParaRPr>
          </a:p>
        </p:txBody>
      </p:sp>
      <p:cxnSp>
        <p:nvCxnSpPr>
          <p:cNvPr id="156" name="Google Shape;156;p16"/>
          <p:cNvCxnSpPr>
            <a:stCxn id="150" idx="0"/>
            <a:endCxn id="151" idx="2"/>
          </p:cNvCxnSpPr>
          <p:nvPr/>
        </p:nvCxnSpPr>
        <p:spPr>
          <a:xfrm>
            <a:off x="1633250" y="801750"/>
            <a:ext cx="318000" cy="0"/>
          </a:xfrm>
          <a:prstGeom prst="straightConnector1">
            <a:avLst/>
          </a:prstGeom>
          <a:noFill/>
          <a:ln w="19050" cap="flat" cmpd="sng">
            <a:solidFill>
              <a:srgbClr val="3C78D8"/>
            </a:solidFill>
            <a:prstDash val="solid"/>
            <a:round/>
            <a:headEnd type="none" w="med" len="med"/>
            <a:tailEnd type="triangle" w="med" len="med"/>
          </a:ln>
        </p:spPr>
      </p:cxnSp>
      <p:cxnSp>
        <p:nvCxnSpPr>
          <p:cNvPr id="157" name="Google Shape;157;p16"/>
          <p:cNvCxnSpPr>
            <a:stCxn id="151" idx="0"/>
            <a:endCxn id="152" idx="2"/>
          </p:cNvCxnSpPr>
          <p:nvPr/>
        </p:nvCxnSpPr>
        <p:spPr>
          <a:xfrm>
            <a:off x="3048700" y="801750"/>
            <a:ext cx="318000" cy="0"/>
          </a:xfrm>
          <a:prstGeom prst="straightConnector1">
            <a:avLst/>
          </a:prstGeom>
          <a:noFill/>
          <a:ln w="19050" cap="flat" cmpd="sng">
            <a:solidFill>
              <a:srgbClr val="3C78D8"/>
            </a:solidFill>
            <a:prstDash val="solid"/>
            <a:round/>
            <a:headEnd type="none" w="med" len="med"/>
            <a:tailEnd type="triangle" w="med" len="med"/>
          </a:ln>
        </p:spPr>
      </p:cxnSp>
      <p:cxnSp>
        <p:nvCxnSpPr>
          <p:cNvPr id="158" name="Google Shape;158;p16"/>
          <p:cNvCxnSpPr>
            <a:stCxn id="153" idx="0"/>
            <a:endCxn id="154" idx="2"/>
          </p:cNvCxnSpPr>
          <p:nvPr/>
        </p:nvCxnSpPr>
        <p:spPr>
          <a:xfrm>
            <a:off x="5879600" y="801750"/>
            <a:ext cx="318000" cy="0"/>
          </a:xfrm>
          <a:prstGeom prst="straightConnector1">
            <a:avLst/>
          </a:prstGeom>
          <a:noFill/>
          <a:ln w="19050" cap="flat" cmpd="sng">
            <a:solidFill>
              <a:srgbClr val="3C78D8"/>
            </a:solidFill>
            <a:prstDash val="solid"/>
            <a:round/>
            <a:headEnd type="none" w="med" len="med"/>
            <a:tailEnd type="triangle" w="med" len="med"/>
          </a:ln>
        </p:spPr>
      </p:cxnSp>
      <p:cxnSp>
        <p:nvCxnSpPr>
          <p:cNvPr id="159" name="Google Shape;159;p16"/>
          <p:cNvCxnSpPr>
            <a:stCxn id="154" idx="0"/>
            <a:endCxn id="155" idx="2"/>
          </p:cNvCxnSpPr>
          <p:nvPr/>
        </p:nvCxnSpPr>
        <p:spPr>
          <a:xfrm>
            <a:off x="7295050" y="801750"/>
            <a:ext cx="318000" cy="0"/>
          </a:xfrm>
          <a:prstGeom prst="straightConnector1">
            <a:avLst/>
          </a:prstGeom>
          <a:noFill/>
          <a:ln w="19050" cap="flat" cmpd="sng">
            <a:solidFill>
              <a:srgbClr val="FF0000"/>
            </a:solidFill>
            <a:prstDash val="solid"/>
            <a:round/>
            <a:headEnd type="none" w="med" len="med"/>
            <a:tailEnd type="triangle" w="med" len="med"/>
          </a:ln>
        </p:spPr>
      </p:cxnSp>
      <p:sp>
        <p:nvSpPr>
          <p:cNvPr id="160" name="Google Shape;160;p16"/>
          <p:cNvSpPr/>
          <p:nvPr/>
        </p:nvSpPr>
        <p:spPr>
          <a:xfrm>
            <a:off x="1796600" y="1677777"/>
            <a:ext cx="2313900" cy="243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t>Volumes/Calculations</a:t>
            </a:r>
            <a:endParaRPr sz="1200" b="1"/>
          </a:p>
        </p:txBody>
      </p:sp>
      <p:sp>
        <p:nvSpPr>
          <p:cNvPr id="161" name="Google Shape;161;p16"/>
          <p:cNvSpPr/>
          <p:nvPr/>
        </p:nvSpPr>
        <p:spPr>
          <a:xfrm>
            <a:off x="436225" y="1677777"/>
            <a:ext cx="1360500" cy="243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t>Tubes/Plates</a:t>
            </a:r>
            <a:endParaRPr sz="1200" b="1"/>
          </a:p>
        </p:txBody>
      </p:sp>
      <p:sp>
        <p:nvSpPr>
          <p:cNvPr id="162" name="Google Shape;162;p16"/>
          <p:cNvSpPr/>
          <p:nvPr/>
        </p:nvSpPr>
        <p:spPr>
          <a:xfrm>
            <a:off x="4110500" y="1677781"/>
            <a:ext cx="3519300" cy="243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t>Protocol</a:t>
            </a:r>
            <a:endParaRPr sz="1200" b="1"/>
          </a:p>
        </p:txBody>
      </p:sp>
      <p:sp>
        <p:nvSpPr>
          <p:cNvPr id="163" name="Google Shape;163;p16"/>
          <p:cNvSpPr/>
          <p:nvPr/>
        </p:nvSpPr>
        <p:spPr>
          <a:xfrm>
            <a:off x="7629800" y="1677781"/>
            <a:ext cx="1187100" cy="243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t>Data</a:t>
            </a:r>
            <a:endParaRPr sz="1200" b="1"/>
          </a:p>
        </p:txBody>
      </p:sp>
      <p:cxnSp>
        <p:nvCxnSpPr>
          <p:cNvPr id="164" name="Google Shape;164;p16"/>
          <p:cNvCxnSpPr/>
          <p:nvPr/>
        </p:nvCxnSpPr>
        <p:spPr>
          <a:xfrm>
            <a:off x="2499925" y="1208025"/>
            <a:ext cx="2835600" cy="335700"/>
          </a:xfrm>
          <a:prstGeom prst="bentConnector3">
            <a:avLst>
              <a:gd name="adj1" fmla="val 295"/>
            </a:avLst>
          </a:prstGeom>
          <a:noFill/>
          <a:ln w="19050" cap="flat" cmpd="sng">
            <a:solidFill>
              <a:srgbClr val="3C78D8"/>
            </a:solidFill>
            <a:prstDash val="solid"/>
            <a:round/>
            <a:headEnd type="none" w="med" len="med"/>
            <a:tailEnd type="none" w="med" len="med"/>
          </a:ln>
        </p:spPr>
      </p:cxnSp>
      <p:cxnSp>
        <p:nvCxnSpPr>
          <p:cNvPr id="165" name="Google Shape;165;p16"/>
          <p:cNvCxnSpPr>
            <a:endCxn id="153" idx="1"/>
          </p:cNvCxnSpPr>
          <p:nvPr/>
        </p:nvCxnSpPr>
        <p:spPr>
          <a:xfrm rot="10800000">
            <a:off x="5330900" y="1204350"/>
            <a:ext cx="12900" cy="347700"/>
          </a:xfrm>
          <a:prstGeom prst="straightConnector1">
            <a:avLst/>
          </a:prstGeom>
          <a:noFill/>
          <a:ln w="19050" cap="flat" cmpd="sng">
            <a:solidFill>
              <a:srgbClr val="3C78D8"/>
            </a:solidFill>
            <a:prstDash val="solid"/>
            <a:round/>
            <a:headEnd type="none" w="med" len="med"/>
            <a:tailEnd type="triangle" w="med" len="med"/>
          </a:ln>
        </p:spPr>
      </p:cxnSp>
      <p:cxnSp>
        <p:nvCxnSpPr>
          <p:cNvPr id="166" name="Google Shape;166;p16"/>
          <p:cNvCxnSpPr>
            <a:stCxn id="152" idx="0"/>
            <a:endCxn id="153" idx="2"/>
          </p:cNvCxnSpPr>
          <p:nvPr/>
        </p:nvCxnSpPr>
        <p:spPr>
          <a:xfrm>
            <a:off x="4464150" y="801750"/>
            <a:ext cx="318000" cy="0"/>
          </a:xfrm>
          <a:prstGeom prst="straightConnector1">
            <a:avLst/>
          </a:prstGeom>
          <a:noFill/>
          <a:ln w="19050" cap="flat" cmpd="sng">
            <a:solidFill>
              <a:srgbClr val="FF0000"/>
            </a:solidFill>
            <a:prstDash val="solid"/>
            <a:round/>
            <a:headEnd type="none" w="med" len="med"/>
            <a:tailEnd type="triangle" w="med" len="med"/>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7"/>
          <p:cNvSpPr/>
          <p:nvPr/>
        </p:nvSpPr>
        <p:spPr>
          <a:xfrm>
            <a:off x="535850" y="399150"/>
            <a:ext cx="1097400" cy="805200"/>
          </a:xfrm>
          <a:prstGeom prst="round2DiagRect">
            <a:avLst>
              <a:gd name="adj1" fmla="val 16667"/>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rPr>
              <a:t>Receiving</a:t>
            </a:r>
            <a:endParaRPr/>
          </a:p>
        </p:txBody>
      </p:sp>
      <p:sp>
        <p:nvSpPr>
          <p:cNvPr id="172" name="Google Shape;172;p17"/>
          <p:cNvSpPr/>
          <p:nvPr/>
        </p:nvSpPr>
        <p:spPr>
          <a:xfrm>
            <a:off x="1951300" y="399150"/>
            <a:ext cx="1097400" cy="805200"/>
          </a:xfrm>
          <a:prstGeom prst="round2DiagRect">
            <a:avLst>
              <a:gd name="adj1" fmla="val 16667"/>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rPr>
              <a:t>cfDNA Extraction</a:t>
            </a:r>
            <a:endParaRPr sz="1200">
              <a:solidFill>
                <a:schemeClr val="dk1"/>
              </a:solidFill>
            </a:endParaRPr>
          </a:p>
        </p:txBody>
      </p:sp>
      <p:sp>
        <p:nvSpPr>
          <p:cNvPr id="173" name="Google Shape;173;p17"/>
          <p:cNvSpPr/>
          <p:nvPr/>
        </p:nvSpPr>
        <p:spPr>
          <a:xfrm>
            <a:off x="3366750" y="399150"/>
            <a:ext cx="1097400" cy="805200"/>
          </a:xfrm>
          <a:prstGeom prst="round2DiagRect">
            <a:avLst>
              <a:gd name="adj1" fmla="val 16667"/>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rPr>
              <a:t>cfDNA Quantification</a:t>
            </a:r>
            <a:endParaRPr sz="1000">
              <a:solidFill>
                <a:schemeClr val="dk1"/>
              </a:solidFill>
            </a:endParaRPr>
          </a:p>
          <a:p>
            <a:pPr marL="0" lvl="0" indent="0" algn="ctr" rtl="0">
              <a:spcBef>
                <a:spcPts val="0"/>
              </a:spcBef>
              <a:spcAft>
                <a:spcPts val="0"/>
              </a:spcAft>
              <a:buNone/>
            </a:pPr>
            <a:endParaRPr sz="1000">
              <a:solidFill>
                <a:schemeClr val="dk1"/>
              </a:solidFill>
            </a:endParaRPr>
          </a:p>
        </p:txBody>
      </p:sp>
      <p:sp>
        <p:nvSpPr>
          <p:cNvPr id="174" name="Google Shape;174;p17"/>
          <p:cNvSpPr/>
          <p:nvPr/>
        </p:nvSpPr>
        <p:spPr>
          <a:xfrm>
            <a:off x="4782200" y="399150"/>
            <a:ext cx="1097400" cy="805200"/>
          </a:xfrm>
          <a:prstGeom prst="round2DiagRect">
            <a:avLst>
              <a:gd name="adj1" fmla="val 16667"/>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rPr>
              <a:t>HpaII Digestion</a:t>
            </a:r>
            <a:endParaRPr sz="1000">
              <a:solidFill>
                <a:schemeClr val="dk1"/>
              </a:solidFill>
            </a:endParaRPr>
          </a:p>
          <a:p>
            <a:pPr marL="0" lvl="0" indent="0" algn="l" rtl="0">
              <a:spcBef>
                <a:spcPts val="0"/>
              </a:spcBef>
              <a:spcAft>
                <a:spcPts val="0"/>
              </a:spcAft>
              <a:buNone/>
            </a:pPr>
            <a:endParaRPr sz="1000">
              <a:solidFill>
                <a:schemeClr val="dk1"/>
              </a:solidFill>
            </a:endParaRPr>
          </a:p>
        </p:txBody>
      </p:sp>
      <p:sp>
        <p:nvSpPr>
          <p:cNvPr id="175" name="Google Shape;175;p17"/>
          <p:cNvSpPr/>
          <p:nvPr/>
        </p:nvSpPr>
        <p:spPr>
          <a:xfrm>
            <a:off x="6197650" y="399150"/>
            <a:ext cx="1097400" cy="805200"/>
          </a:xfrm>
          <a:prstGeom prst="round2DiagRect">
            <a:avLst>
              <a:gd name="adj1" fmla="val 16667"/>
              <a:gd name="adj2" fmla="val 0"/>
            </a:avLst>
          </a:prstGeom>
          <a:solidFill>
            <a:srgbClr val="6D9EEB"/>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rPr>
              <a:t>ddPCR</a:t>
            </a:r>
            <a:endParaRPr sz="1000">
              <a:solidFill>
                <a:schemeClr val="dk1"/>
              </a:solidFill>
            </a:endParaRPr>
          </a:p>
          <a:p>
            <a:pPr marL="0" lvl="0" indent="0" algn="l" rtl="0">
              <a:spcBef>
                <a:spcPts val="0"/>
              </a:spcBef>
              <a:spcAft>
                <a:spcPts val="0"/>
              </a:spcAft>
              <a:buNone/>
            </a:pPr>
            <a:endParaRPr sz="1000">
              <a:solidFill>
                <a:schemeClr val="dk1"/>
              </a:solidFill>
            </a:endParaRPr>
          </a:p>
        </p:txBody>
      </p:sp>
      <p:sp>
        <p:nvSpPr>
          <p:cNvPr id="176" name="Google Shape;176;p17"/>
          <p:cNvSpPr/>
          <p:nvPr/>
        </p:nvSpPr>
        <p:spPr>
          <a:xfrm>
            <a:off x="227200" y="1921050"/>
            <a:ext cx="1769700" cy="31506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b="1"/>
          </a:p>
          <a:p>
            <a:pPr marL="0" lvl="0" indent="0" algn="l" rtl="0">
              <a:spcBef>
                <a:spcPts val="0"/>
              </a:spcBef>
              <a:spcAft>
                <a:spcPts val="0"/>
              </a:spcAft>
              <a:buNone/>
            </a:pPr>
            <a:endParaRPr sz="800" b="1"/>
          </a:p>
          <a:p>
            <a:pPr marL="0" lvl="0" indent="0" algn="l" rtl="0">
              <a:spcBef>
                <a:spcPts val="0"/>
              </a:spcBef>
              <a:spcAft>
                <a:spcPts val="0"/>
              </a:spcAft>
              <a:buNone/>
            </a:pPr>
            <a:r>
              <a:rPr lang="en" sz="800" b="1"/>
              <a:t>IN:</a:t>
            </a:r>
            <a:endParaRPr sz="800" b="1"/>
          </a:p>
          <a:p>
            <a:pPr marL="182880" lvl="0" indent="0" algn="l" rtl="0">
              <a:spcBef>
                <a:spcPts val="0"/>
              </a:spcBef>
              <a:spcAft>
                <a:spcPts val="0"/>
              </a:spcAft>
              <a:buNone/>
            </a:pPr>
            <a:r>
              <a:rPr lang="en" sz="800" b="1"/>
              <a:t>ddPCR Master Mix</a:t>
            </a:r>
            <a:endParaRPr sz="800" b="1"/>
          </a:p>
          <a:p>
            <a:pPr marL="182880" lvl="0" indent="0" algn="l" rtl="0">
              <a:spcBef>
                <a:spcPts val="0"/>
              </a:spcBef>
              <a:spcAft>
                <a:spcPts val="0"/>
              </a:spcAft>
              <a:buNone/>
            </a:pPr>
            <a:r>
              <a:rPr lang="en" sz="800" i="1"/>
              <a:t>MasterMix Label</a:t>
            </a:r>
            <a:r>
              <a:rPr lang="en" sz="800"/>
              <a:t>s:</a:t>
            </a:r>
            <a:endParaRPr sz="800"/>
          </a:p>
          <a:p>
            <a:pPr marL="182880" lvl="0" indent="0" algn="l" rtl="0">
              <a:spcBef>
                <a:spcPts val="0"/>
              </a:spcBef>
              <a:spcAft>
                <a:spcPts val="0"/>
              </a:spcAft>
              <a:buNone/>
            </a:pPr>
            <a:endParaRPr sz="800"/>
          </a:p>
          <a:p>
            <a:pPr marL="182880" lvl="0" indent="0" algn="l" rtl="0">
              <a:spcBef>
                <a:spcPts val="0"/>
              </a:spcBef>
              <a:spcAft>
                <a:spcPts val="0"/>
              </a:spcAft>
              <a:buClr>
                <a:schemeClr val="dk1"/>
              </a:buClr>
              <a:buSzPts val="1100"/>
              <a:buFont typeface="Arial"/>
              <a:buNone/>
            </a:pPr>
            <a:r>
              <a:rPr lang="en" sz="800" b="1">
                <a:solidFill>
                  <a:schemeClr val="dk1"/>
                </a:solidFill>
              </a:rPr>
              <a:t>Samples Generated in the HpaII Digestion step</a:t>
            </a:r>
            <a:endParaRPr sz="800" b="1">
              <a:solidFill>
                <a:schemeClr val="dk1"/>
              </a:solidFill>
            </a:endParaRPr>
          </a:p>
          <a:p>
            <a:pPr marL="182880" lvl="0" indent="0" algn="l" rtl="0">
              <a:spcBef>
                <a:spcPts val="0"/>
              </a:spcBef>
              <a:spcAft>
                <a:spcPts val="0"/>
              </a:spcAft>
              <a:buNone/>
            </a:pPr>
            <a:endParaRPr sz="800"/>
          </a:p>
          <a:p>
            <a:pPr marL="0" lvl="0" indent="0" algn="l" rtl="0">
              <a:spcBef>
                <a:spcPts val="0"/>
              </a:spcBef>
              <a:spcAft>
                <a:spcPts val="0"/>
              </a:spcAft>
              <a:buNone/>
            </a:pPr>
            <a:r>
              <a:rPr lang="en" sz="800" b="1"/>
              <a:t>GENERATE::</a:t>
            </a:r>
            <a:endParaRPr sz="800" b="1"/>
          </a:p>
          <a:p>
            <a:pPr marL="182880" lvl="0" indent="0" algn="l" rtl="0">
              <a:spcBef>
                <a:spcPts val="0"/>
              </a:spcBef>
              <a:spcAft>
                <a:spcPts val="0"/>
              </a:spcAft>
              <a:buNone/>
            </a:pPr>
            <a:r>
              <a:rPr lang="en" sz="800" b="1"/>
              <a:t>ddPCR Plate</a:t>
            </a:r>
            <a:endParaRPr sz="800" b="1"/>
          </a:p>
          <a:p>
            <a:pPr marL="182880" lvl="0" indent="0" algn="l" rtl="0">
              <a:spcBef>
                <a:spcPts val="0"/>
              </a:spcBef>
              <a:spcAft>
                <a:spcPts val="0"/>
              </a:spcAft>
              <a:buNone/>
            </a:pPr>
            <a:r>
              <a:rPr lang="en" sz="800" i="1"/>
              <a:t>Plate Labels / Map</a:t>
            </a:r>
            <a:endParaRPr sz="800" i="1"/>
          </a:p>
          <a:p>
            <a:pPr marL="182880" lvl="0" indent="0" algn="l" rtl="0">
              <a:spcBef>
                <a:spcPts val="0"/>
              </a:spcBef>
              <a:spcAft>
                <a:spcPts val="0"/>
              </a:spcAft>
              <a:buNone/>
            </a:pPr>
            <a:r>
              <a:rPr lang="en" sz="800" i="1"/>
              <a:t>Samples Labels</a:t>
            </a:r>
            <a:r>
              <a:rPr lang="en" sz="800"/>
              <a:t>:</a:t>
            </a:r>
            <a:endParaRPr sz="800"/>
          </a:p>
          <a:p>
            <a:pPr marL="182880" lvl="0" indent="0" algn="l" rtl="0">
              <a:spcBef>
                <a:spcPts val="0"/>
              </a:spcBef>
              <a:spcAft>
                <a:spcPts val="0"/>
              </a:spcAft>
              <a:buNone/>
            </a:pPr>
            <a:r>
              <a:rPr lang="en" sz="800" i="1"/>
              <a:t>Controls Labels:</a:t>
            </a:r>
            <a:endParaRPr sz="800" i="1"/>
          </a:p>
          <a:p>
            <a:pPr marL="0" lvl="0" indent="0" algn="l" rtl="0">
              <a:spcBef>
                <a:spcPts val="0"/>
              </a:spcBef>
              <a:spcAft>
                <a:spcPts val="0"/>
              </a:spcAft>
              <a:buNone/>
            </a:pPr>
            <a:endParaRPr sz="800" b="1">
              <a:solidFill>
                <a:schemeClr val="dk1"/>
              </a:solidFill>
            </a:endParaRPr>
          </a:p>
          <a:p>
            <a:pPr marL="0" lvl="0" indent="0" algn="l" rtl="0">
              <a:spcBef>
                <a:spcPts val="0"/>
              </a:spcBef>
              <a:spcAft>
                <a:spcPts val="0"/>
              </a:spcAft>
              <a:buClr>
                <a:schemeClr val="dk1"/>
              </a:buClr>
              <a:buSzPts val="1100"/>
              <a:buFont typeface="Arial"/>
              <a:buNone/>
            </a:pPr>
            <a:r>
              <a:rPr lang="en" sz="800" b="1">
                <a:solidFill>
                  <a:schemeClr val="dk1"/>
                </a:solidFill>
              </a:rPr>
              <a:t>OUT:</a:t>
            </a:r>
            <a:endParaRPr sz="800" b="1">
              <a:solidFill>
                <a:schemeClr val="dk1"/>
              </a:solidFill>
            </a:endParaRPr>
          </a:p>
          <a:p>
            <a:pPr marL="91440" lvl="0" indent="0" algn="l" rtl="0">
              <a:spcBef>
                <a:spcPts val="0"/>
              </a:spcBef>
              <a:spcAft>
                <a:spcPts val="0"/>
              </a:spcAft>
              <a:buNone/>
            </a:pPr>
            <a:r>
              <a:rPr lang="en" sz="800" b="1">
                <a:solidFill>
                  <a:schemeClr val="dk1"/>
                </a:solidFill>
              </a:rPr>
              <a:t>None</a:t>
            </a:r>
            <a:endParaRPr sz="800" b="1">
              <a:solidFill>
                <a:schemeClr val="dk1"/>
              </a:solidFill>
            </a:endParaRPr>
          </a:p>
          <a:p>
            <a:pPr marL="91440" lvl="0" indent="0" algn="l" rtl="0">
              <a:spcBef>
                <a:spcPts val="0"/>
              </a:spcBef>
              <a:spcAft>
                <a:spcPts val="0"/>
              </a:spcAft>
              <a:buNone/>
            </a:pPr>
            <a:r>
              <a:rPr lang="en" sz="1000" i="1">
                <a:solidFill>
                  <a:srgbClr val="FF0000"/>
                </a:solidFill>
              </a:rPr>
              <a:t>  </a:t>
            </a:r>
            <a:endParaRPr sz="1000" i="1">
              <a:solidFill>
                <a:srgbClr val="FF0000"/>
              </a:solidFill>
            </a:endParaRPr>
          </a:p>
          <a:p>
            <a:pPr marL="0" lvl="0" indent="0" algn="l" rtl="0">
              <a:spcBef>
                <a:spcPts val="0"/>
              </a:spcBef>
              <a:spcAft>
                <a:spcPts val="0"/>
              </a:spcAft>
              <a:buClr>
                <a:schemeClr val="dk1"/>
              </a:buClr>
              <a:buSzPts val="1100"/>
              <a:buFont typeface="Arial"/>
              <a:buNone/>
            </a:pPr>
            <a:r>
              <a:rPr lang="en" sz="1000" i="1">
                <a:solidFill>
                  <a:srgbClr val="FF0000"/>
                </a:solidFill>
              </a:rPr>
              <a:t>need help- labels / Plate Maps</a:t>
            </a:r>
            <a:endParaRPr sz="800" i="1"/>
          </a:p>
        </p:txBody>
      </p:sp>
      <p:sp>
        <p:nvSpPr>
          <p:cNvPr id="177" name="Google Shape;177;p17"/>
          <p:cNvSpPr/>
          <p:nvPr/>
        </p:nvSpPr>
        <p:spPr>
          <a:xfrm>
            <a:off x="1796600" y="1921048"/>
            <a:ext cx="2313900" cy="3150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000" b="1"/>
              <a:t>MasterMix for 1 well:</a:t>
            </a:r>
            <a:endParaRPr sz="1000" b="1"/>
          </a:p>
          <a:p>
            <a:pPr marL="182880" lvl="0" indent="-109219" algn="l" rtl="0">
              <a:spcBef>
                <a:spcPts val="0"/>
              </a:spcBef>
              <a:spcAft>
                <a:spcPts val="0"/>
              </a:spcAft>
              <a:buSzPts val="1000"/>
              <a:buChar char="●"/>
            </a:pPr>
            <a:r>
              <a:rPr lang="en" sz="1000"/>
              <a:t>4 x Multiplex Supermix - 6.25 uL</a:t>
            </a:r>
            <a:endParaRPr sz="1000"/>
          </a:p>
          <a:p>
            <a:pPr marL="182880" lvl="0" indent="-109219" algn="l" rtl="0">
              <a:spcBef>
                <a:spcPts val="0"/>
              </a:spcBef>
              <a:spcAft>
                <a:spcPts val="0"/>
              </a:spcAft>
              <a:buSzPts val="1000"/>
              <a:buChar char="●"/>
            </a:pPr>
            <a:r>
              <a:rPr lang="en" sz="1000"/>
              <a:t>10x gINS PnP mix - 2.5 uL</a:t>
            </a:r>
            <a:endParaRPr sz="1000"/>
          </a:p>
          <a:p>
            <a:pPr marL="182880" lvl="0" indent="-109219" algn="l" rtl="0">
              <a:spcBef>
                <a:spcPts val="0"/>
              </a:spcBef>
              <a:spcAft>
                <a:spcPts val="0"/>
              </a:spcAft>
              <a:buSzPts val="1000"/>
              <a:buChar char="●"/>
            </a:pPr>
            <a:r>
              <a:rPr lang="en" sz="1000"/>
              <a:t>20x TTC5 PnP mix - 1.25 uL</a:t>
            </a:r>
            <a:endParaRPr sz="1000"/>
          </a:p>
          <a:p>
            <a:pPr marL="182880" lvl="0" indent="-109219" algn="l" rtl="0">
              <a:spcBef>
                <a:spcPts val="0"/>
              </a:spcBef>
              <a:spcAft>
                <a:spcPts val="0"/>
              </a:spcAft>
              <a:buSzPts val="1000"/>
              <a:buChar char="●"/>
            </a:pPr>
            <a:r>
              <a:rPr lang="en" sz="1000"/>
              <a:t>NF H2O - 7uL</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000" b="1">
                <a:solidFill>
                  <a:schemeClr val="dk1"/>
                </a:solidFill>
              </a:rPr>
              <a:t>Calculate volume needed for n wells  </a:t>
            </a:r>
            <a:r>
              <a:rPr lang="en" sz="1000" i="1">
                <a:solidFill>
                  <a:srgbClr val="FF0000"/>
                </a:solidFill>
              </a:rPr>
              <a:t>need help - calculations (we can use a separate spreadsheet for all calculations )</a:t>
            </a:r>
            <a:endParaRPr sz="1000" i="1">
              <a:solidFill>
                <a:srgbClr val="FF0000"/>
              </a:solidFill>
            </a:endParaRPr>
          </a:p>
          <a:p>
            <a:pPr marL="0" lvl="0" indent="0" algn="l" rtl="0">
              <a:spcBef>
                <a:spcPts val="0"/>
              </a:spcBef>
              <a:spcAft>
                <a:spcPts val="0"/>
              </a:spcAft>
              <a:buNone/>
            </a:pPr>
            <a:endParaRPr sz="1000" b="1"/>
          </a:p>
          <a:p>
            <a:pPr marL="0" lvl="0" indent="0" algn="l" rtl="0">
              <a:spcBef>
                <a:spcPts val="0"/>
              </a:spcBef>
              <a:spcAft>
                <a:spcPts val="0"/>
              </a:spcAft>
              <a:buNone/>
            </a:pPr>
            <a:r>
              <a:rPr lang="en" sz="1000" b="1"/>
              <a:t>ddPCR Plate setup:</a:t>
            </a:r>
            <a:endParaRPr sz="1000" b="1"/>
          </a:p>
          <a:p>
            <a:pPr marL="182880" lvl="0" indent="-109219" algn="l" rtl="0">
              <a:spcBef>
                <a:spcPts val="0"/>
              </a:spcBef>
              <a:spcAft>
                <a:spcPts val="0"/>
              </a:spcAft>
              <a:buSzPts val="1000"/>
              <a:buChar char="●"/>
            </a:pPr>
            <a:r>
              <a:rPr lang="en" sz="1000"/>
              <a:t>MasterMix - 17uL</a:t>
            </a:r>
            <a:endParaRPr sz="1000"/>
          </a:p>
          <a:p>
            <a:pPr marL="182880" lvl="0" indent="-109219" algn="l" rtl="0">
              <a:spcBef>
                <a:spcPts val="0"/>
              </a:spcBef>
              <a:spcAft>
                <a:spcPts val="0"/>
              </a:spcAft>
              <a:buSzPts val="1000"/>
              <a:buChar char="●"/>
            </a:pPr>
            <a:r>
              <a:rPr lang="en" sz="1000"/>
              <a:t>Samples/Controls - 8uL</a:t>
            </a:r>
            <a:endParaRPr sz="1000"/>
          </a:p>
          <a:p>
            <a:pPr marL="0" lvl="0" indent="0" algn="l" rtl="0">
              <a:spcBef>
                <a:spcPts val="0"/>
              </a:spcBef>
              <a:spcAft>
                <a:spcPts val="0"/>
              </a:spcAft>
              <a:buClr>
                <a:schemeClr val="dk1"/>
              </a:buClr>
              <a:buSzPts val="1100"/>
              <a:buFont typeface="Arial"/>
              <a:buNone/>
            </a:pPr>
            <a:r>
              <a:rPr lang="en" sz="1000" b="1" i="1">
                <a:solidFill>
                  <a:srgbClr val="FF0000"/>
                </a:solidFill>
              </a:rPr>
              <a:t>          </a:t>
            </a:r>
            <a:r>
              <a:rPr lang="en" sz="1000" i="1">
                <a:solidFill>
                  <a:srgbClr val="FF0000"/>
                </a:solidFill>
              </a:rPr>
              <a:t>need help - plate map/setup</a:t>
            </a:r>
            <a:endParaRPr sz="1000"/>
          </a:p>
        </p:txBody>
      </p:sp>
      <p:sp>
        <p:nvSpPr>
          <p:cNvPr id="178" name="Google Shape;178;p17"/>
          <p:cNvSpPr/>
          <p:nvPr/>
        </p:nvSpPr>
        <p:spPr>
          <a:xfrm>
            <a:off x="4110500" y="1921050"/>
            <a:ext cx="3506700" cy="3150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0"/>
              </a:spcBef>
              <a:spcAft>
                <a:spcPts val="0"/>
              </a:spcAft>
              <a:buNone/>
            </a:pPr>
            <a:endParaRPr sz="1000"/>
          </a:p>
          <a:p>
            <a:pPr marL="457200" lvl="0" indent="0" algn="l" rtl="0">
              <a:lnSpc>
                <a:spcPct val="115000"/>
              </a:lnSpc>
              <a:spcBef>
                <a:spcPts val="0"/>
              </a:spcBef>
              <a:spcAft>
                <a:spcPts val="0"/>
              </a:spcAft>
              <a:buNone/>
            </a:pPr>
            <a:endParaRPr sz="1000"/>
          </a:p>
          <a:p>
            <a:pPr marL="457200" lvl="0" indent="0" algn="l" rtl="0">
              <a:lnSpc>
                <a:spcPct val="115000"/>
              </a:lnSpc>
              <a:spcBef>
                <a:spcPts val="0"/>
              </a:spcBef>
              <a:spcAft>
                <a:spcPts val="0"/>
              </a:spcAft>
              <a:buNone/>
            </a:pPr>
            <a:endParaRPr sz="1000"/>
          </a:p>
          <a:p>
            <a:pPr marL="91440" lvl="0" indent="-109220" algn="l" rtl="0">
              <a:lnSpc>
                <a:spcPct val="115000"/>
              </a:lnSpc>
              <a:spcBef>
                <a:spcPts val="0"/>
              </a:spcBef>
              <a:spcAft>
                <a:spcPts val="0"/>
              </a:spcAft>
              <a:buSzPts val="1000"/>
              <a:buChar char="●"/>
            </a:pPr>
            <a:r>
              <a:rPr lang="en" sz="1000"/>
              <a:t>Prepare MasterMix for ddPCR according to the provided volumes, mix well</a:t>
            </a:r>
            <a:endParaRPr sz="1000"/>
          </a:p>
          <a:p>
            <a:pPr marL="91440" lvl="0" indent="-109220" algn="l" rtl="0">
              <a:lnSpc>
                <a:spcPct val="115000"/>
              </a:lnSpc>
              <a:spcBef>
                <a:spcPts val="0"/>
              </a:spcBef>
              <a:spcAft>
                <a:spcPts val="0"/>
              </a:spcAft>
              <a:buSzPts val="1000"/>
              <a:buChar char="●"/>
            </a:pPr>
            <a:r>
              <a:rPr lang="en" sz="1000"/>
              <a:t>Generate Plate Map including Samples and Controls</a:t>
            </a:r>
            <a:endParaRPr sz="1000"/>
          </a:p>
          <a:p>
            <a:pPr marL="91440" lvl="0" indent="-109220" algn="l" rtl="0">
              <a:lnSpc>
                <a:spcPct val="115000"/>
              </a:lnSpc>
              <a:spcBef>
                <a:spcPts val="0"/>
              </a:spcBef>
              <a:spcAft>
                <a:spcPts val="0"/>
              </a:spcAft>
              <a:buSzPts val="1000"/>
              <a:buChar char="●"/>
            </a:pPr>
            <a:r>
              <a:rPr lang="en" sz="1000"/>
              <a:t>Add MasterMix, Samples and Controls per Plate Map and volumes described </a:t>
            </a:r>
            <a:endParaRPr sz="1000"/>
          </a:p>
          <a:p>
            <a:pPr marL="91440" lvl="0" indent="-109220" algn="l" rtl="0">
              <a:lnSpc>
                <a:spcPct val="115000"/>
              </a:lnSpc>
              <a:spcBef>
                <a:spcPts val="0"/>
              </a:spcBef>
              <a:spcAft>
                <a:spcPts val="0"/>
              </a:spcAft>
              <a:buSzPts val="1000"/>
              <a:buChar char="●"/>
            </a:pPr>
            <a:r>
              <a:rPr lang="en" sz="1000"/>
              <a:t>Seal, vortex for 15 seconds on each end, and spin the plate</a:t>
            </a:r>
            <a:endParaRPr sz="1000"/>
          </a:p>
          <a:p>
            <a:pPr marL="91440" lvl="0" indent="-109220" algn="l" rtl="0">
              <a:lnSpc>
                <a:spcPct val="115000"/>
              </a:lnSpc>
              <a:spcBef>
                <a:spcPts val="0"/>
              </a:spcBef>
              <a:spcAft>
                <a:spcPts val="0"/>
              </a:spcAft>
              <a:buSzPts val="1000"/>
              <a:buChar char="●"/>
            </a:pPr>
            <a:r>
              <a:rPr lang="en" sz="1000"/>
              <a:t>Generate droplets using the Bio-Rad Automated Droplet Generator</a:t>
            </a:r>
            <a:endParaRPr sz="1000"/>
          </a:p>
          <a:p>
            <a:pPr marL="91440" lvl="0" indent="-109220" algn="l" rtl="0">
              <a:lnSpc>
                <a:spcPct val="115000"/>
              </a:lnSpc>
              <a:spcBef>
                <a:spcPts val="0"/>
              </a:spcBef>
              <a:spcAft>
                <a:spcPts val="0"/>
              </a:spcAft>
              <a:buSzPts val="1000"/>
              <a:buChar char="●"/>
            </a:pPr>
            <a:r>
              <a:rPr lang="en" sz="1000"/>
              <a:t>After cycling, read the droplets using the QX200 Droplet Reader with the specified thresholds</a:t>
            </a:r>
            <a:endParaRPr sz="1000"/>
          </a:p>
          <a:p>
            <a:pPr marL="91440" lvl="0" indent="-109220" algn="l" rtl="0">
              <a:lnSpc>
                <a:spcPct val="115000"/>
              </a:lnSpc>
              <a:spcBef>
                <a:spcPts val="0"/>
              </a:spcBef>
              <a:spcAft>
                <a:spcPts val="0"/>
              </a:spcAft>
              <a:buSzPts val="1000"/>
              <a:buChar char="●"/>
            </a:pPr>
            <a:r>
              <a:rPr lang="en" sz="1000"/>
              <a:t>Export data as a .csv file for analysis</a:t>
            </a:r>
            <a:endParaRPr sz="1000"/>
          </a:p>
          <a:p>
            <a:pPr marL="0" lvl="0" indent="0" algn="l" rtl="0">
              <a:spcBef>
                <a:spcPts val="0"/>
              </a:spcBef>
              <a:spcAft>
                <a:spcPts val="0"/>
              </a:spcAft>
              <a:buNone/>
            </a:pPr>
            <a:r>
              <a:rPr lang="en" sz="1000" b="1">
                <a:solidFill>
                  <a:schemeClr val="dk1"/>
                </a:solidFill>
              </a:rPr>
              <a:t>QC Decisions:</a:t>
            </a:r>
            <a:endParaRPr sz="1000" b="1">
              <a:solidFill>
                <a:schemeClr val="dk1"/>
              </a:solidFill>
            </a:endParaRPr>
          </a:p>
          <a:p>
            <a:pPr marL="0" lvl="0" indent="0" algn="l" rtl="0">
              <a:spcBef>
                <a:spcPts val="0"/>
              </a:spcBef>
              <a:spcAft>
                <a:spcPts val="0"/>
              </a:spcAft>
              <a:buNone/>
            </a:pPr>
            <a:r>
              <a:rPr lang="en" sz="1000" b="1">
                <a:solidFill>
                  <a:schemeClr val="dk1"/>
                </a:solidFill>
              </a:rPr>
              <a:t>IF NTC = positive THEN Repeat ddPCR due to contamination OTHERWISE </a:t>
            </a:r>
            <a:endParaRPr sz="1000" b="1">
              <a:solidFill>
                <a:schemeClr val="dk1"/>
              </a:solidFill>
            </a:endParaRPr>
          </a:p>
          <a:p>
            <a:pPr marL="0" lvl="0" indent="0" algn="l" rtl="0">
              <a:spcBef>
                <a:spcPts val="0"/>
              </a:spcBef>
              <a:spcAft>
                <a:spcPts val="0"/>
              </a:spcAft>
              <a:buNone/>
            </a:pPr>
            <a:r>
              <a:rPr lang="en" sz="1000" b="1">
                <a:solidFill>
                  <a:schemeClr val="dk1"/>
                </a:solidFill>
              </a:rPr>
              <a:t>IF PC+ OR PC -  = negative THEN Repeat ddPCR due to PCR Fail OTHERWISE Pass Run and calculate Results</a:t>
            </a:r>
            <a:endParaRPr sz="1000" b="1">
              <a:solidFill>
                <a:schemeClr val="dk1"/>
              </a:solidFill>
            </a:endParaRPr>
          </a:p>
          <a:p>
            <a:pPr marL="0" lvl="0" indent="0" algn="l" rtl="0">
              <a:lnSpc>
                <a:spcPct val="115000"/>
              </a:lnSpc>
              <a:spcBef>
                <a:spcPts val="0"/>
              </a:spcBef>
              <a:spcAft>
                <a:spcPts val="0"/>
              </a:spcAft>
              <a:buNone/>
            </a:pPr>
            <a:endParaRPr sz="1000"/>
          </a:p>
          <a:p>
            <a:pPr marL="0" lvl="0" indent="0" algn="ctr" rtl="0">
              <a:spcBef>
                <a:spcPts val="0"/>
              </a:spcBef>
              <a:spcAft>
                <a:spcPts val="0"/>
              </a:spcAft>
              <a:buNone/>
            </a:pPr>
            <a:endParaRPr sz="1000"/>
          </a:p>
        </p:txBody>
      </p:sp>
      <p:sp>
        <p:nvSpPr>
          <p:cNvPr id="179" name="Google Shape;179;p17"/>
          <p:cNvSpPr/>
          <p:nvPr/>
        </p:nvSpPr>
        <p:spPr>
          <a:xfrm>
            <a:off x="7617225" y="1921048"/>
            <a:ext cx="1409400" cy="2031000"/>
          </a:xfrm>
          <a:prstGeom prst="round1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1100" b="1"/>
          </a:p>
          <a:p>
            <a:pPr marL="0" lvl="0" indent="0" algn="l" rtl="0">
              <a:lnSpc>
                <a:spcPct val="115000"/>
              </a:lnSpc>
              <a:spcBef>
                <a:spcPts val="0"/>
              </a:spcBef>
              <a:spcAft>
                <a:spcPts val="0"/>
              </a:spcAft>
              <a:buClr>
                <a:schemeClr val="dk1"/>
              </a:buClr>
              <a:buSzPts val="1100"/>
              <a:buFont typeface="Arial"/>
              <a:buNone/>
            </a:pPr>
            <a:r>
              <a:rPr lang="en" sz="1100" b="1" u="sng"/>
              <a:t>QX200 csv file</a:t>
            </a:r>
            <a:endParaRPr sz="1100" b="1" u="sng"/>
          </a:p>
          <a:p>
            <a:pPr marL="91440" lvl="0" indent="-96520" algn="l" rtl="0">
              <a:lnSpc>
                <a:spcPct val="115000"/>
              </a:lnSpc>
              <a:spcBef>
                <a:spcPts val="0"/>
              </a:spcBef>
              <a:spcAft>
                <a:spcPts val="0"/>
              </a:spcAft>
              <a:buSzPts val="800"/>
              <a:buChar char="●"/>
            </a:pPr>
            <a:r>
              <a:rPr lang="en" sz="800"/>
              <a:t>Well ID</a:t>
            </a:r>
            <a:endParaRPr sz="800"/>
          </a:p>
          <a:p>
            <a:pPr marL="91440" lvl="0" indent="-96520" algn="l" rtl="0">
              <a:lnSpc>
                <a:spcPct val="115000"/>
              </a:lnSpc>
              <a:spcBef>
                <a:spcPts val="0"/>
              </a:spcBef>
              <a:spcAft>
                <a:spcPts val="0"/>
              </a:spcAft>
              <a:buSzPts val="800"/>
              <a:buChar char="●"/>
            </a:pPr>
            <a:r>
              <a:rPr lang="en" sz="800"/>
              <a:t>Sample / Controls ID</a:t>
            </a:r>
            <a:endParaRPr sz="800"/>
          </a:p>
          <a:p>
            <a:pPr marL="91440" lvl="0" indent="-96520" algn="l" rtl="0">
              <a:lnSpc>
                <a:spcPct val="115000"/>
              </a:lnSpc>
              <a:spcBef>
                <a:spcPts val="0"/>
              </a:spcBef>
              <a:spcAft>
                <a:spcPts val="0"/>
              </a:spcAft>
              <a:buSzPts val="800"/>
              <a:buChar char="●"/>
            </a:pPr>
            <a:r>
              <a:rPr lang="en" sz="800"/>
              <a:t>Target 1(FAM) / 2 (HEX)</a:t>
            </a:r>
            <a:endParaRPr sz="800"/>
          </a:p>
          <a:p>
            <a:pPr marL="91440" lvl="0" indent="-96520" algn="l" rtl="0">
              <a:lnSpc>
                <a:spcPct val="115000"/>
              </a:lnSpc>
              <a:spcBef>
                <a:spcPts val="0"/>
              </a:spcBef>
              <a:spcAft>
                <a:spcPts val="0"/>
              </a:spcAft>
              <a:buSzPts val="800"/>
              <a:buChar char="●"/>
            </a:pPr>
            <a:r>
              <a:rPr lang="en" sz="800"/>
              <a:t>Conc (copies/uL)</a:t>
            </a:r>
            <a:endParaRPr sz="800"/>
          </a:p>
          <a:p>
            <a:pPr marL="91440" lvl="0" indent="-96520" algn="l" rtl="0">
              <a:lnSpc>
                <a:spcPct val="115000"/>
              </a:lnSpc>
              <a:spcBef>
                <a:spcPts val="0"/>
              </a:spcBef>
              <a:spcAft>
                <a:spcPts val="0"/>
              </a:spcAft>
              <a:buSzPts val="800"/>
              <a:buChar char="●"/>
            </a:pPr>
            <a:r>
              <a:rPr lang="en" sz="800"/>
              <a:t>Accepted Droplets </a:t>
            </a:r>
            <a:endParaRPr sz="800"/>
          </a:p>
          <a:p>
            <a:pPr marL="91440" lvl="0" indent="-96520" algn="l" rtl="0">
              <a:lnSpc>
                <a:spcPct val="115000"/>
              </a:lnSpc>
              <a:spcBef>
                <a:spcPts val="0"/>
              </a:spcBef>
              <a:spcAft>
                <a:spcPts val="0"/>
              </a:spcAft>
              <a:buSzPts val="800"/>
              <a:buChar char="●"/>
            </a:pPr>
            <a:r>
              <a:rPr lang="en" sz="800"/>
              <a:t>Positives</a:t>
            </a:r>
            <a:endParaRPr sz="800"/>
          </a:p>
          <a:p>
            <a:pPr marL="91440" lvl="0" indent="-96520" algn="l" rtl="0">
              <a:lnSpc>
                <a:spcPct val="115000"/>
              </a:lnSpc>
              <a:spcBef>
                <a:spcPts val="0"/>
              </a:spcBef>
              <a:spcAft>
                <a:spcPts val="0"/>
              </a:spcAft>
              <a:buSzPts val="800"/>
              <a:buChar char="●"/>
            </a:pPr>
            <a:r>
              <a:rPr lang="en" sz="800"/>
              <a:t>Negatives</a:t>
            </a:r>
            <a:endParaRPr sz="800"/>
          </a:p>
          <a:p>
            <a:pPr marL="0" lvl="0" indent="0" algn="l" rtl="0">
              <a:spcBef>
                <a:spcPts val="0"/>
              </a:spcBef>
              <a:spcAft>
                <a:spcPts val="0"/>
              </a:spcAft>
              <a:buNone/>
            </a:pPr>
            <a:r>
              <a:rPr lang="en" sz="1000" b="1">
                <a:solidFill>
                  <a:schemeClr val="dk1"/>
                </a:solidFill>
              </a:rPr>
              <a:t>Use these data to calculate Results</a:t>
            </a:r>
            <a:endParaRPr sz="800"/>
          </a:p>
        </p:txBody>
      </p:sp>
      <p:sp>
        <p:nvSpPr>
          <p:cNvPr id="180" name="Google Shape;180;p17"/>
          <p:cNvSpPr/>
          <p:nvPr/>
        </p:nvSpPr>
        <p:spPr>
          <a:xfrm>
            <a:off x="7622175" y="4266458"/>
            <a:ext cx="1399500" cy="805200"/>
          </a:xfrm>
          <a:prstGeom prst="snip2DiagRect">
            <a:avLst>
              <a:gd name="adj1" fmla="val 0"/>
              <a:gd name="adj2"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QC Decisions</a:t>
            </a:r>
            <a:endParaRPr sz="1200"/>
          </a:p>
          <a:p>
            <a:pPr marL="0" lvl="0" indent="0" algn="ctr" rtl="0">
              <a:spcBef>
                <a:spcPts val="0"/>
              </a:spcBef>
              <a:spcAft>
                <a:spcPts val="0"/>
              </a:spcAft>
              <a:buClr>
                <a:schemeClr val="dk1"/>
              </a:buClr>
              <a:buSzPts val="1100"/>
              <a:buFont typeface="Arial"/>
              <a:buNone/>
            </a:pPr>
            <a:r>
              <a:rPr lang="en" sz="1000" b="1">
                <a:solidFill>
                  <a:schemeClr val="dk1"/>
                </a:solidFill>
              </a:rPr>
              <a:t>See Protocol</a:t>
            </a:r>
            <a:r>
              <a:rPr lang="en" sz="1200">
                <a:solidFill>
                  <a:schemeClr val="dk1"/>
                </a:solidFill>
              </a:rPr>
              <a:t> </a:t>
            </a:r>
            <a:endParaRPr sz="1200"/>
          </a:p>
        </p:txBody>
      </p:sp>
      <p:sp>
        <p:nvSpPr>
          <p:cNvPr id="181" name="Google Shape;181;p17"/>
          <p:cNvSpPr/>
          <p:nvPr/>
        </p:nvSpPr>
        <p:spPr>
          <a:xfrm>
            <a:off x="1796600" y="1921058"/>
            <a:ext cx="2313900" cy="243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t>Volumes/Calculations</a:t>
            </a:r>
            <a:endParaRPr sz="1200" b="1"/>
          </a:p>
        </p:txBody>
      </p:sp>
      <p:sp>
        <p:nvSpPr>
          <p:cNvPr id="182" name="Google Shape;182;p17"/>
          <p:cNvSpPr/>
          <p:nvPr/>
        </p:nvSpPr>
        <p:spPr>
          <a:xfrm>
            <a:off x="436225" y="1921058"/>
            <a:ext cx="1360500" cy="243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t>Tubes/Plates</a:t>
            </a:r>
            <a:endParaRPr sz="1200" b="1"/>
          </a:p>
        </p:txBody>
      </p:sp>
      <p:sp>
        <p:nvSpPr>
          <p:cNvPr id="183" name="Google Shape;183;p17"/>
          <p:cNvSpPr/>
          <p:nvPr/>
        </p:nvSpPr>
        <p:spPr>
          <a:xfrm>
            <a:off x="4110500" y="1921058"/>
            <a:ext cx="3506700" cy="243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t>Protocol</a:t>
            </a:r>
            <a:endParaRPr sz="1200" b="1"/>
          </a:p>
        </p:txBody>
      </p:sp>
      <p:sp>
        <p:nvSpPr>
          <p:cNvPr id="184" name="Google Shape;184;p17"/>
          <p:cNvSpPr/>
          <p:nvPr/>
        </p:nvSpPr>
        <p:spPr>
          <a:xfrm>
            <a:off x="7617200" y="1921058"/>
            <a:ext cx="1199700" cy="243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t>Data </a:t>
            </a:r>
            <a:endParaRPr sz="1200" b="1"/>
          </a:p>
        </p:txBody>
      </p:sp>
      <p:sp>
        <p:nvSpPr>
          <p:cNvPr id="185" name="Google Shape;185;p17"/>
          <p:cNvSpPr/>
          <p:nvPr/>
        </p:nvSpPr>
        <p:spPr>
          <a:xfrm>
            <a:off x="7613100" y="399150"/>
            <a:ext cx="1097400" cy="805200"/>
          </a:xfrm>
          <a:prstGeom prst="round2DiagRect">
            <a:avLst>
              <a:gd name="adj1" fmla="val 16667"/>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rPr>
              <a:t>QC</a:t>
            </a:r>
            <a:endParaRPr sz="1000">
              <a:solidFill>
                <a:schemeClr val="dk1"/>
              </a:solidFill>
            </a:endParaRPr>
          </a:p>
          <a:p>
            <a:pPr marL="0" lvl="0" indent="0" algn="ctr" rtl="0">
              <a:spcBef>
                <a:spcPts val="0"/>
              </a:spcBef>
              <a:spcAft>
                <a:spcPts val="0"/>
              </a:spcAft>
              <a:buNone/>
            </a:pPr>
            <a:r>
              <a:rPr lang="en" sz="1000">
                <a:solidFill>
                  <a:schemeClr val="dk1"/>
                </a:solidFill>
              </a:rPr>
              <a:t>Results</a:t>
            </a:r>
            <a:endParaRPr sz="1000">
              <a:solidFill>
                <a:schemeClr val="dk1"/>
              </a:solidFill>
            </a:endParaRPr>
          </a:p>
          <a:p>
            <a:pPr marL="0" lvl="0" indent="0" algn="l" rtl="0">
              <a:spcBef>
                <a:spcPts val="0"/>
              </a:spcBef>
              <a:spcAft>
                <a:spcPts val="0"/>
              </a:spcAft>
              <a:buNone/>
            </a:pPr>
            <a:endParaRPr sz="1000">
              <a:solidFill>
                <a:schemeClr val="dk1"/>
              </a:solidFill>
            </a:endParaRPr>
          </a:p>
        </p:txBody>
      </p:sp>
      <p:cxnSp>
        <p:nvCxnSpPr>
          <p:cNvPr id="186" name="Google Shape;186;p17"/>
          <p:cNvCxnSpPr/>
          <p:nvPr/>
        </p:nvCxnSpPr>
        <p:spPr>
          <a:xfrm>
            <a:off x="1633250" y="801750"/>
            <a:ext cx="318000" cy="0"/>
          </a:xfrm>
          <a:prstGeom prst="straightConnector1">
            <a:avLst/>
          </a:prstGeom>
          <a:noFill/>
          <a:ln w="19050" cap="flat" cmpd="sng">
            <a:solidFill>
              <a:srgbClr val="3C78D8"/>
            </a:solidFill>
            <a:prstDash val="solid"/>
            <a:round/>
            <a:headEnd type="none" w="med" len="med"/>
            <a:tailEnd type="triangle" w="med" len="med"/>
          </a:ln>
        </p:spPr>
      </p:cxnSp>
      <p:cxnSp>
        <p:nvCxnSpPr>
          <p:cNvPr id="187" name="Google Shape;187;p17"/>
          <p:cNvCxnSpPr/>
          <p:nvPr/>
        </p:nvCxnSpPr>
        <p:spPr>
          <a:xfrm>
            <a:off x="3048700" y="801750"/>
            <a:ext cx="318000" cy="0"/>
          </a:xfrm>
          <a:prstGeom prst="straightConnector1">
            <a:avLst/>
          </a:prstGeom>
          <a:noFill/>
          <a:ln w="19050" cap="flat" cmpd="sng">
            <a:solidFill>
              <a:srgbClr val="3C78D8"/>
            </a:solidFill>
            <a:prstDash val="solid"/>
            <a:round/>
            <a:headEnd type="none" w="med" len="med"/>
            <a:tailEnd type="triangle" w="med" len="med"/>
          </a:ln>
        </p:spPr>
      </p:cxnSp>
      <p:cxnSp>
        <p:nvCxnSpPr>
          <p:cNvPr id="188" name="Google Shape;188;p17"/>
          <p:cNvCxnSpPr/>
          <p:nvPr/>
        </p:nvCxnSpPr>
        <p:spPr>
          <a:xfrm>
            <a:off x="5879600" y="801750"/>
            <a:ext cx="318000" cy="0"/>
          </a:xfrm>
          <a:prstGeom prst="straightConnector1">
            <a:avLst/>
          </a:prstGeom>
          <a:noFill/>
          <a:ln w="19050" cap="flat" cmpd="sng">
            <a:solidFill>
              <a:srgbClr val="3C78D8"/>
            </a:solidFill>
            <a:prstDash val="solid"/>
            <a:round/>
            <a:headEnd type="none" w="med" len="med"/>
            <a:tailEnd type="triangle" w="med" len="med"/>
          </a:ln>
        </p:spPr>
      </p:cxnSp>
      <p:cxnSp>
        <p:nvCxnSpPr>
          <p:cNvPr id="189" name="Google Shape;189;p17"/>
          <p:cNvCxnSpPr/>
          <p:nvPr/>
        </p:nvCxnSpPr>
        <p:spPr>
          <a:xfrm>
            <a:off x="7295050" y="801750"/>
            <a:ext cx="318000" cy="0"/>
          </a:xfrm>
          <a:prstGeom prst="straightConnector1">
            <a:avLst/>
          </a:prstGeom>
          <a:noFill/>
          <a:ln w="19050" cap="flat" cmpd="sng">
            <a:solidFill>
              <a:srgbClr val="FF0000"/>
            </a:solidFill>
            <a:prstDash val="solid"/>
            <a:round/>
            <a:headEnd type="none" w="med" len="med"/>
            <a:tailEnd type="triangle" w="med" len="med"/>
          </a:ln>
        </p:spPr>
      </p:cxnSp>
      <p:cxnSp>
        <p:nvCxnSpPr>
          <p:cNvPr id="190" name="Google Shape;190;p17"/>
          <p:cNvCxnSpPr/>
          <p:nvPr/>
        </p:nvCxnSpPr>
        <p:spPr>
          <a:xfrm>
            <a:off x="2499925" y="1208025"/>
            <a:ext cx="2835600" cy="335700"/>
          </a:xfrm>
          <a:prstGeom prst="bentConnector3">
            <a:avLst>
              <a:gd name="adj1" fmla="val 295"/>
            </a:avLst>
          </a:prstGeom>
          <a:noFill/>
          <a:ln w="19050" cap="flat" cmpd="sng">
            <a:solidFill>
              <a:srgbClr val="3C78D8"/>
            </a:solidFill>
            <a:prstDash val="solid"/>
            <a:round/>
            <a:headEnd type="none" w="med" len="med"/>
            <a:tailEnd type="none" w="med" len="med"/>
          </a:ln>
        </p:spPr>
      </p:cxnSp>
      <p:cxnSp>
        <p:nvCxnSpPr>
          <p:cNvPr id="191" name="Google Shape;191;p17"/>
          <p:cNvCxnSpPr/>
          <p:nvPr/>
        </p:nvCxnSpPr>
        <p:spPr>
          <a:xfrm rot="10800000">
            <a:off x="5330900" y="1204350"/>
            <a:ext cx="12900" cy="347700"/>
          </a:xfrm>
          <a:prstGeom prst="straightConnector1">
            <a:avLst/>
          </a:prstGeom>
          <a:noFill/>
          <a:ln w="19050" cap="flat" cmpd="sng">
            <a:solidFill>
              <a:srgbClr val="3C78D8"/>
            </a:solidFill>
            <a:prstDash val="solid"/>
            <a:round/>
            <a:headEnd type="none" w="med" len="med"/>
            <a:tailEnd type="triangle" w="med" len="med"/>
          </a:ln>
        </p:spPr>
      </p:cxnSp>
      <p:cxnSp>
        <p:nvCxnSpPr>
          <p:cNvPr id="192" name="Google Shape;192;p17"/>
          <p:cNvCxnSpPr/>
          <p:nvPr/>
        </p:nvCxnSpPr>
        <p:spPr>
          <a:xfrm>
            <a:off x="4464150" y="801750"/>
            <a:ext cx="318000" cy="0"/>
          </a:xfrm>
          <a:prstGeom prst="straightConnector1">
            <a:avLst/>
          </a:prstGeom>
          <a:noFill/>
          <a:ln w="19050" cap="flat" cmpd="sng">
            <a:solidFill>
              <a:srgbClr val="FF0000"/>
            </a:solidFill>
            <a:prstDash val="solid"/>
            <a:round/>
            <a:headEnd type="none" w="med" len="med"/>
            <a:tailEnd type="triangle" w="med" len="med"/>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8"/>
          <p:cNvSpPr/>
          <p:nvPr/>
        </p:nvSpPr>
        <p:spPr>
          <a:xfrm>
            <a:off x="227200" y="1820390"/>
            <a:ext cx="1724100" cy="15183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b="1"/>
          </a:p>
          <a:p>
            <a:pPr marL="0" lvl="0" indent="0" algn="l" rtl="0">
              <a:spcBef>
                <a:spcPts val="0"/>
              </a:spcBef>
              <a:spcAft>
                <a:spcPts val="0"/>
              </a:spcAft>
              <a:buNone/>
            </a:pPr>
            <a:r>
              <a:rPr lang="en" sz="1000" b="1"/>
              <a:t>No Samples</a:t>
            </a:r>
            <a:endParaRPr sz="1000" i="1"/>
          </a:p>
        </p:txBody>
      </p:sp>
      <p:sp>
        <p:nvSpPr>
          <p:cNvPr id="198" name="Google Shape;198;p18"/>
          <p:cNvSpPr/>
          <p:nvPr/>
        </p:nvSpPr>
        <p:spPr>
          <a:xfrm>
            <a:off x="1796600" y="2063700"/>
            <a:ext cx="2313900" cy="3011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000" b="1"/>
              <a:t>Results Calculations:</a:t>
            </a:r>
            <a:endParaRPr sz="1000" b="1"/>
          </a:p>
          <a:p>
            <a:pPr marL="0" lvl="0" indent="0" algn="l" rtl="0">
              <a:spcBef>
                <a:spcPts val="0"/>
              </a:spcBef>
              <a:spcAft>
                <a:spcPts val="0"/>
              </a:spcAft>
              <a:buNone/>
            </a:pPr>
            <a:endParaRPr sz="1000" b="1"/>
          </a:p>
          <a:p>
            <a:pPr marL="0" lvl="0" indent="0" algn="l" rtl="0">
              <a:spcBef>
                <a:spcPts val="0"/>
              </a:spcBef>
              <a:spcAft>
                <a:spcPts val="0"/>
              </a:spcAft>
              <a:buNone/>
            </a:pPr>
            <a:r>
              <a:rPr lang="en" sz="900" u="sng"/>
              <a:t>Copies of INS/µL present in eluted cfDNA</a:t>
            </a:r>
            <a:endParaRPr sz="900" u="sng"/>
          </a:p>
          <a:p>
            <a:pPr marL="0" lvl="0" indent="0" algn="l" rtl="0">
              <a:spcBef>
                <a:spcPts val="0"/>
              </a:spcBef>
              <a:spcAft>
                <a:spcPts val="0"/>
              </a:spcAft>
              <a:buNone/>
            </a:pPr>
            <a:r>
              <a:rPr lang="en" sz="900"/>
              <a:t>Copies/µL from raw data * (25µL PCR reaction / 8µL of loaded sample) * (20µL HpaII reaction volume / X µL of cfDNA loaded into the HpaII reaction)</a:t>
            </a:r>
            <a:endParaRPr sz="900"/>
          </a:p>
          <a:p>
            <a:pPr marL="0" lvl="0" indent="0" algn="l" rtl="0">
              <a:spcBef>
                <a:spcPts val="0"/>
              </a:spcBef>
              <a:spcAft>
                <a:spcPts val="0"/>
              </a:spcAft>
              <a:buNone/>
            </a:pPr>
            <a:endParaRPr sz="900"/>
          </a:p>
          <a:p>
            <a:pPr marL="0" lvl="0" indent="0" algn="l" rtl="0">
              <a:spcBef>
                <a:spcPts val="0"/>
              </a:spcBef>
              <a:spcAft>
                <a:spcPts val="0"/>
              </a:spcAft>
              <a:buNone/>
            </a:pPr>
            <a:r>
              <a:rPr lang="en" sz="900" u="sng"/>
              <a:t>Copies of TTC5/µL present in eluted cfDNA</a:t>
            </a:r>
            <a:endParaRPr sz="900" u="sng"/>
          </a:p>
          <a:p>
            <a:pPr marL="0" lvl="0" indent="0" algn="l" rtl="0">
              <a:spcBef>
                <a:spcPts val="0"/>
              </a:spcBef>
              <a:spcAft>
                <a:spcPts val="0"/>
              </a:spcAft>
              <a:buNone/>
            </a:pPr>
            <a:r>
              <a:rPr lang="en" sz="900"/>
              <a:t>Same as above</a:t>
            </a:r>
            <a:endParaRPr sz="900"/>
          </a:p>
          <a:p>
            <a:pPr marL="0" lvl="0" indent="0" algn="l" rtl="0">
              <a:spcBef>
                <a:spcPts val="0"/>
              </a:spcBef>
              <a:spcAft>
                <a:spcPts val="0"/>
              </a:spcAft>
              <a:buNone/>
            </a:pPr>
            <a:endParaRPr sz="900"/>
          </a:p>
          <a:p>
            <a:pPr marL="0" lvl="0" indent="0" algn="l" rtl="0">
              <a:spcBef>
                <a:spcPts val="0"/>
              </a:spcBef>
              <a:spcAft>
                <a:spcPts val="0"/>
              </a:spcAft>
              <a:buNone/>
            </a:pPr>
            <a:r>
              <a:rPr lang="en" sz="900" u="sng"/>
              <a:t>% Methylated copies of INS</a:t>
            </a:r>
            <a:endParaRPr sz="900" u="sng"/>
          </a:p>
          <a:p>
            <a:pPr marL="0" lvl="0" indent="0" algn="l" rtl="0">
              <a:spcBef>
                <a:spcPts val="0"/>
              </a:spcBef>
              <a:spcAft>
                <a:spcPts val="0"/>
              </a:spcAft>
              <a:buNone/>
            </a:pPr>
            <a:r>
              <a:rPr lang="en" sz="900"/>
              <a:t>[(Copies INS / µL) / (Copies TTC5 / µL)] MSRE+ / </a:t>
            </a:r>
            <a:r>
              <a:rPr lang="en" sz="900">
                <a:solidFill>
                  <a:schemeClr val="dk1"/>
                </a:solidFill>
              </a:rPr>
              <a:t>[(Copies INS / µL) / (Copies TTC5 / µL)] MSRE-</a:t>
            </a:r>
            <a:endParaRPr sz="900">
              <a:solidFill>
                <a:schemeClr val="dk1"/>
              </a:solidFill>
            </a:endParaRPr>
          </a:p>
          <a:p>
            <a:pPr marL="0" lvl="0" indent="0" algn="l" rtl="0">
              <a:spcBef>
                <a:spcPts val="0"/>
              </a:spcBef>
              <a:spcAft>
                <a:spcPts val="0"/>
              </a:spcAft>
              <a:buNone/>
            </a:pPr>
            <a:endParaRPr sz="900">
              <a:solidFill>
                <a:schemeClr val="dk1"/>
              </a:solidFill>
            </a:endParaRPr>
          </a:p>
          <a:p>
            <a:pPr marL="0" lvl="0" indent="0" algn="l" rtl="0">
              <a:spcBef>
                <a:spcPts val="0"/>
              </a:spcBef>
              <a:spcAft>
                <a:spcPts val="0"/>
              </a:spcAft>
              <a:buNone/>
            </a:pPr>
            <a:r>
              <a:rPr lang="en" sz="900" u="sng">
                <a:solidFill>
                  <a:schemeClr val="dk1"/>
                </a:solidFill>
              </a:rPr>
              <a:t>% Unmethylated copies of INS</a:t>
            </a:r>
            <a:endParaRPr sz="900" u="sng">
              <a:solidFill>
                <a:schemeClr val="dk1"/>
              </a:solidFill>
            </a:endParaRPr>
          </a:p>
          <a:p>
            <a:pPr marL="0" lvl="0" indent="0" algn="l" rtl="0">
              <a:spcBef>
                <a:spcPts val="0"/>
              </a:spcBef>
              <a:spcAft>
                <a:spcPts val="0"/>
              </a:spcAft>
              <a:buClr>
                <a:schemeClr val="dk1"/>
              </a:buClr>
              <a:buSzPts val="1100"/>
              <a:buFont typeface="Arial"/>
              <a:buNone/>
            </a:pPr>
            <a:r>
              <a:rPr lang="en" sz="900">
                <a:solidFill>
                  <a:schemeClr val="dk1"/>
                </a:solidFill>
              </a:rPr>
              <a:t>100% - % Methylated copies of INS</a:t>
            </a:r>
            <a:endParaRPr sz="900">
              <a:solidFill>
                <a:schemeClr val="dk1"/>
              </a:solidFill>
            </a:endParaRPr>
          </a:p>
          <a:p>
            <a:pPr marL="0" lvl="0" indent="0" algn="l" rtl="0">
              <a:spcBef>
                <a:spcPts val="0"/>
              </a:spcBef>
              <a:spcAft>
                <a:spcPts val="0"/>
              </a:spcAft>
              <a:buNone/>
            </a:pPr>
            <a:endParaRPr sz="1000"/>
          </a:p>
          <a:p>
            <a:pPr marL="0" lvl="0" indent="0" algn="l" rtl="0">
              <a:spcBef>
                <a:spcPts val="0"/>
              </a:spcBef>
              <a:spcAft>
                <a:spcPts val="0"/>
              </a:spcAft>
              <a:buNone/>
            </a:pPr>
            <a:endParaRPr sz="1000"/>
          </a:p>
        </p:txBody>
      </p:sp>
      <p:sp>
        <p:nvSpPr>
          <p:cNvPr id="199" name="Google Shape;199;p18"/>
          <p:cNvSpPr/>
          <p:nvPr/>
        </p:nvSpPr>
        <p:spPr>
          <a:xfrm>
            <a:off x="4110500" y="1820390"/>
            <a:ext cx="3506700" cy="2617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91440" lvl="0" indent="-109220" algn="l" rtl="0">
              <a:lnSpc>
                <a:spcPct val="115000"/>
              </a:lnSpc>
              <a:spcBef>
                <a:spcPts val="0"/>
              </a:spcBef>
              <a:spcAft>
                <a:spcPts val="0"/>
              </a:spcAft>
              <a:buSzPts val="1000"/>
              <a:buChar char="●"/>
            </a:pPr>
            <a:r>
              <a:rPr lang="en" sz="1000"/>
              <a:t>Use data from the QX200 csv file</a:t>
            </a:r>
            <a:endParaRPr sz="1000"/>
          </a:p>
          <a:p>
            <a:pPr marL="91440" lvl="0" indent="-109220" algn="l" rtl="0">
              <a:lnSpc>
                <a:spcPct val="115000"/>
              </a:lnSpc>
              <a:spcBef>
                <a:spcPts val="0"/>
              </a:spcBef>
              <a:spcAft>
                <a:spcPts val="0"/>
              </a:spcAft>
              <a:buSzPts val="1000"/>
              <a:buChar char="●"/>
            </a:pPr>
            <a:r>
              <a:rPr lang="en" sz="1000"/>
              <a:t>Verify the Controls for QC</a:t>
            </a:r>
            <a:endParaRPr sz="1000"/>
          </a:p>
          <a:p>
            <a:pPr marL="91440" lvl="0" indent="-109220" algn="l" rtl="0">
              <a:lnSpc>
                <a:spcPct val="115000"/>
              </a:lnSpc>
              <a:spcBef>
                <a:spcPts val="0"/>
              </a:spcBef>
              <a:spcAft>
                <a:spcPts val="0"/>
              </a:spcAft>
              <a:buSzPts val="1000"/>
              <a:buChar char="●"/>
            </a:pPr>
            <a:r>
              <a:rPr lang="en" sz="1000"/>
              <a:t>Calculate the final ddPCR results</a:t>
            </a:r>
            <a:endParaRPr sz="1000"/>
          </a:p>
          <a:p>
            <a:pPr marL="91440" lvl="0" indent="-109220" algn="l" rtl="0">
              <a:lnSpc>
                <a:spcPct val="115000"/>
              </a:lnSpc>
              <a:spcBef>
                <a:spcPts val="0"/>
              </a:spcBef>
              <a:spcAft>
                <a:spcPts val="0"/>
              </a:spcAft>
              <a:buSzPts val="1000"/>
              <a:buChar char="●"/>
            </a:pPr>
            <a:r>
              <a:rPr lang="en" sz="1000"/>
              <a:t>Generate the Reporting Results</a:t>
            </a:r>
            <a:endParaRPr sz="1000"/>
          </a:p>
          <a:p>
            <a:pPr marL="0" lvl="0" indent="0" algn="l" rtl="0">
              <a:lnSpc>
                <a:spcPct val="115000"/>
              </a:lnSpc>
              <a:spcBef>
                <a:spcPts val="0"/>
              </a:spcBef>
              <a:spcAft>
                <a:spcPts val="0"/>
              </a:spcAft>
              <a:buNone/>
            </a:pPr>
            <a:endParaRPr sz="1000"/>
          </a:p>
          <a:p>
            <a:pPr marL="0" lvl="0" indent="0" algn="l" rtl="0">
              <a:spcBef>
                <a:spcPts val="0"/>
              </a:spcBef>
              <a:spcAft>
                <a:spcPts val="0"/>
              </a:spcAft>
              <a:buNone/>
            </a:pPr>
            <a:r>
              <a:rPr lang="en" sz="1000" b="1"/>
              <a:t>QC Decisions:</a:t>
            </a:r>
            <a:endParaRPr sz="1000" b="1"/>
          </a:p>
          <a:p>
            <a:pPr marL="0" lvl="0" indent="0" algn="l" rtl="0">
              <a:spcBef>
                <a:spcPts val="0"/>
              </a:spcBef>
              <a:spcAft>
                <a:spcPts val="0"/>
              </a:spcAft>
              <a:buNone/>
            </a:pPr>
            <a:r>
              <a:rPr lang="en" sz="1000" b="1"/>
              <a:t>IF NTC = positive THEN Repeat ddPCR due to contamination OTHERWISE </a:t>
            </a:r>
            <a:endParaRPr sz="1000" b="1"/>
          </a:p>
          <a:p>
            <a:pPr marL="0" lvl="0" indent="0" algn="l" rtl="0">
              <a:spcBef>
                <a:spcPts val="0"/>
              </a:spcBef>
              <a:spcAft>
                <a:spcPts val="0"/>
              </a:spcAft>
              <a:buNone/>
            </a:pPr>
            <a:r>
              <a:rPr lang="en" sz="1000" b="1"/>
              <a:t>IF PC+ OR PC -  = negative THEN Repeat ddPCR due to PCR Fail OTHERWISE Pass Run and calculate Results</a:t>
            </a:r>
            <a:endParaRPr sz="1000" b="1"/>
          </a:p>
          <a:p>
            <a:pPr marL="0" lvl="0" indent="0" algn="l" rtl="0">
              <a:spcBef>
                <a:spcPts val="0"/>
              </a:spcBef>
              <a:spcAft>
                <a:spcPts val="0"/>
              </a:spcAft>
              <a:buNone/>
            </a:pPr>
            <a:endParaRPr sz="1000" b="1"/>
          </a:p>
          <a:p>
            <a:pPr marL="0" lvl="0" indent="0" algn="ctr" rtl="0">
              <a:spcBef>
                <a:spcPts val="0"/>
              </a:spcBef>
              <a:spcAft>
                <a:spcPts val="0"/>
              </a:spcAft>
              <a:buNone/>
            </a:pPr>
            <a:endParaRPr sz="1000"/>
          </a:p>
        </p:txBody>
      </p:sp>
      <p:sp>
        <p:nvSpPr>
          <p:cNvPr id="200" name="Google Shape;200;p18"/>
          <p:cNvSpPr/>
          <p:nvPr/>
        </p:nvSpPr>
        <p:spPr>
          <a:xfrm>
            <a:off x="7617225" y="1820390"/>
            <a:ext cx="1409400" cy="1619100"/>
          </a:xfrm>
          <a:prstGeom prst="round1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1000" b="1" u="sng"/>
          </a:p>
          <a:p>
            <a:pPr marL="0" lvl="0" indent="0" algn="l" rtl="0">
              <a:lnSpc>
                <a:spcPct val="115000"/>
              </a:lnSpc>
              <a:spcBef>
                <a:spcPts val="0"/>
              </a:spcBef>
              <a:spcAft>
                <a:spcPts val="0"/>
              </a:spcAft>
              <a:buNone/>
            </a:pPr>
            <a:r>
              <a:rPr lang="en" sz="1000" b="1"/>
              <a:t>Calculated</a:t>
            </a:r>
            <a:endParaRPr sz="1000" b="1"/>
          </a:p>
          <a:p>
            <a:pPr marL="0" lvl="0" indent="0" algn="l" rtl="0">
              <a:lnSpc>
                <a:spcPct val="115000"/>
              </a:lnSpc>
              <a:spcBef>
                <a:spcPts val="0"/>
              </a:spcBef>
              <a:spcAft>
                <a:spcPts val="0"/>
              </a:spcAft>
              <a:buNone/>
            </a:pPr>
            <a:r>
              <a:rPr lang="en" sz="1000" b="1"/>
              <a:t>% Unmethylated Ins cfDNA as </a:t>
            </a:r>
            <a:endParaRPr sz="1000" b="1"/>
          </a:p>
          <a:p>
            <a:pPr marL="0" lvl="0" indent="0" algn="l" rtl="0">
              <a:lnSpc>
                <a:spcPct val="115000"/>
              </a:lnSpc>
              <a:spcBef>
                <a:spcPts val="0"/>
              </a:spcBef>
              <a:spcAft>
                <a:spcPts val="0"/>
              </a:spcAft>
              <a:buNone/>
            </a:pPr>
            <a:r>
              <a:rPr lang="en" sz="1000" b="1"/>
              <a:t>0 - 100 score</a:t>
            </a:r>
            <a:endParaRPr sz="1000" b="1"/>
          </a:p>
        </p:txBody>
      </p:sp>
      <p:sp>
        <p:nvSpPr>
          <p:cNvPr id="201" name="Google Shape;201;p18"/>
          <p:cNvSpPr/>
          <p:nvPr/>
        </p:nvSpPr>
        <p:spPr>
          <a:xfrm>
            <a:off x="7622175" y="3632690"/>
            <a:ext cx="1399500" cy="805200"/>
          </a:xfrm>
          <a:prstGeom prst="snip2DiagRect">
            <a:avLst>
              <a:gd name="adj1" fmla="val 0"/>
              <a:gd name="adj2"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QC Decisions</a:t>
            </a:r>
            <a:endParaRPr sz="1200"/>
          </a:p>
          <a:p>
            <a:pPr marL="0" lvl="0" indent="0" algn="ctr" rtl="0">
              <a:spcBef>
                <a:spcPts val="0"/>
              </a:spcBef>
              <a:spcAft>
                <a:spcPts val="0"/>
              </a:spcAft>
              <a:buNone/>
            </a:pPr>
            <a:r>
              <a:rPr lang="en" sz="1000" b="1"/>
              <a:t>See Protocol</a:t>
            </a:r>
            <a:r>
              <a:rPr lang="en" sz="1200"/>
              <a:t> </a:t>
            </a:r>
            <a:endParaRPr sz="1200"/>
          </a:p>
          <a:p>
            <a:pPr marL="0" lvl="0" indent="0" algn="l" rtl="0">
              <a:spcBef>
                <a:spcPts val="0"/>
              </a:spcBef>
              <a:spcAft>
                <a:spcPts val="0"/>
              </a:spcAft>
              <a:buNone/>
            </a:pPr>
            <a:endParaRPr sz="1200"/>
          </a:p>
        </p:txBody>
      </p:sp>
      <p:sp>
        <p:nvSpPr>
          <p:cNvPr id="202" name="Google Shape;202;p18"/>
          <p:cNvSpPr/>
          <p:nvPr/>
        </p:nvSpPr>
        <p:spPr>
          <a:xfrm>
            <a:off x="1796600" y="1820390"/>
            <a:ext cx="2313900" cy="243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t>Volumes/Calculations</a:t>
            </a:r>
            <a:endParaRPr sz="1200" b="1"/>
          </a:p>
        </p:txBody>
      </p:sp>
      <p:sp>
        <p:nvSpPr>
          <p:cNvPr id="203" name="Google Shape;203;p18"/>
          <p:cNvSpPr/>
          <p:nvPr/>
        </p:nvSpPr>
        <p:spPr>
          <a:xfrm>
            <a:off x="436225" y="1820390"/>
            <a:ext cx="1360500" cy="243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t>Tubes/Plates</a:t>
            </a:r>
            <a:endParaRPr sz="1200" b="1"/>
          </a:p>
        </p:txBody>
      </p:sp>
      <p:sp>
        <p:nvSpPr>
          <p:cNvPr id="204" name="Google Shape;204;p18"/>
          <p:cNvSpPr/>
          <p:nvPr/>
        </p:nvSpPr>
        <p:spPr>
          <a:xfrm>
            <a:off x="4110500" y="1820390"/>
            <a:ext cx="3506700" cy="243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t>Protocol</a:t>
            </a:r>
            <a:endParaRPr sz="1200" b="1"/>
          </a:p>
        </p:txBody>
      </p:sp>
      <p:sp>
        <p:nvSpPr>
          <p:cNvPr id="205" name="Google Shape;205;p18"/>
          <p:cNvSpPr/>
          <p:nvPr/>
        </p:nvSpPr>
        <p:spPr>
          <a:xfrm>
            <a:off x="7617200" y="1820390"/>
            <a:ext cx="1199700" cy="243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t>Data</a:t>
            </a:r>
            <a:endParaRPr sz="1200" b="1"/>
          </a:p>
        </p:txBody>
      </p:sp>
      <p:sp>
        <p:nvSpPr>
          <p:cNvPr id="206" name="Google Shape;206;p18"/>
          <p:cNvSpPr/>
          <p:nvPr/>
        </p:nvSpPr>
        <p:spPr>
          <a:xfrm>
            <a:off x="535850" y="399150"/>
            <a:ext cx="1097400" cy="805200"/>
          </a:xfrm>
          <a:prstGeom prst="round2DiagRect">
            <a:avLst>
              <a:gd name="adj1" fmla="val 16667"/>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rPr>
              <a:t>Receiving</a:t>
            </a:r>
            <a:endParaRPr/>
          </a:p>
        </p:txBody>
      </p:sp>
      <p:sp>
        <p:nvSpPr>
          <p:cNvPr id="207" name="Google Shape;207;p18"/>
          <p:cNvSpPr/>
          <p:nvPr/>
        </p:nvSpPr>
        <p:spPr>
          <a:xfrm>
            <a:off x="1951300" y="399150"/>
            <a:ext cx="1097400" cy="805200"/>
          </a:xfrm>
          <a:prstGeom prst="round2DiagRect">
            <a:avLst>
              <a:gd name="adj1" fmla="val 16667"/>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rPr>
              <a:t>cfDNA Extraction</a:t>
            </a:r>
            <a:endParaRPr sz="1200">
              <a:solidFill>
                <a:schemeClr val="dk1"/>
              </a:solidFill>
            </a:endParaRPr>
          </a:p>
        </p:txBody>
      </p:sp>
      <p:sp>
        <p:nvSpPr>
          <p:cNvPr id="208" name="Google Shape;208;p18"/>
          <p:cNvSpPr/>
          <p:nvPr/>
        </p:nvSpPr>
        <p:spPr>
          <a:xfrm>
            <a:off x="3366750" y="399150"/>
            <a:ext cx="1097400" cy="805200"/>
          </a:xfrm>
          <a:prstGeom prst="round2DiagRect">
            <a:avLst>
              <a:gd name="adj1" fmla="val 16667"/>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rPr>
              <a:t>cfDNA Quantification</a:t>
            </a:r>
            <a:endParaRPr sz="1000">
              <a:solidFill>
                <a:schemeClr val="dk1"/>
              </a:solidFill>
            </a:endParaRPr>
          </a:p>
          <a:p>
            <a:pPr marL="0" lvl="0" indent="0" algn="ctr" rtl="0">
              <a:spcBef>
                <a:spcPts val="0"/>
              </a:spcBef>
              <a:spcAft>
                <a:spcPts val="0"/>
              </a:spcAft>
              <a:buNone/>
            </a:pPr>
            <a:endParaRPr sz="1000">
              <a:solidFill>
                <a:schemeClr val="dk1"/>
              </a:solidFill>
            </a:endParaRPr>
          </a:p>
        </p:txBody>
      </p:sp>
      <p:sp>
        <p:nvSpPr>
          <p:cNvPr id="209" name="Google Shape;209;p18"/>
          <p:cNvSpPr/>
          <p:nvPr/>
        </p:nvSpPr>
        <p:spPr>
          <a:xfrm>
            <a:off x="4782200" y="399150"/>
            <a:ext cx="1097400" cy="805200"/>
          </a:xfrm>
          <a:prstGeom prst="round2DiagRect">
            <a:avLst>
              <a:gd name="adj1" fmla="val 16667"/>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rPr>
              <a:t>HpaII Digestion</a:t>
            </a:r>
            <a:endParaRPr sz="1000">
              <a:solidFill>
                <a:schemeClr val="dk1"/>
              </a:solidFill>
            </a:endParaRPr>
          </a:p>
          <a:p>
            <a:pPr marL="0" lvl="0" indent="0" algn="l" rtl="0">
              <a:spcBef>
                <a:spcPts val="0"/>
              </a:spcBef>
              <a:spcAft>
                <a:spcPts val="0"/>
              </a:spcAft>
              <a:buNone/>
            </a:pPr>
            <a:endParaRPr sz="1000">
              <a:solidFill>
                <a:schemeClr val="dk1"/>
              </a:solidFill>
            </a:endParaRPr>
          </a:p>
        </p:txBody>
      </p:sp>
      <p:sp>
        <p:nvSpPr>
          <p:cNvPr id="210" name="Google Shape;210;p18"/>
          <p:cNvSpPr/>
          <p:nvPr/>
        </p:nvSpPr>
        <p:spPr>
          <a:xfrm>
            <a:off x="6197650" y="399150"/>
            <a:ext cx="1097400" cy="805200"/>
          </a:xfrm>
          <a:prstGeom prst="round2DiagRect">
            <a:avLst>
              <a:gd name="adj1" fmla="val 16667"/>
              <a:gd name="adj2" fmla="val 0"/>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rPr>
              <a:t>ddPCR</a:t>
            </a:r>
            <a:endParaRPr sz="1000">
              <a:solidFill>
                <a:schemeClr val="dk1"/>
              </a:solidFill>
            </a:endParaRPr>
          </a:p>
          <a:p>
            <a:pPr marL="0" lvl="0" indent="0" algn="l" rtl="0">
              <a:spcBef>
                <a:spcPts val="0"/>
              </a:spcBef>
              <a:spcAft>
                <a:spcPts val="0"/>
              </a:spcAft>
              <a:buNone/>
            </a:pPr>
            <a:endParaRPr sz="1000">
              <a:solidFill>
                <a:schemeClr val="dk1"/>
              </a:solidFill>
            </a:endParaRPr>
          </a:p>
        </p:txBody>
      </p:sp>
      <p:sp>
        <p:nvSpPr>
          <p:cNvPr id="211" name="Google Shape;211;p18"/>
          <p:cNvSpPr/>
          <p:nvPr/>
        </p:nvSpPr>
        <p:spPr>
          <a:xfrm>
            <a:off x="7613100" y="399150"/>
            <a:ext cx="1097400" cy="805200"/>
          </a:xfrm>
          <a:prstGeom prst="round2DiagRect">
            <a:avLst>
              <a:gd name="adj1" fmla="val 16667"/>
              <a:gd name="adj2" fmla="val 0"/>
            </a:avLst>
          </a:prstGeom>
          <a:solidFill>
            <a:srgbClr val="6D9EEB"/>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rPr>
              <a:t>QC</a:t>
            </a:r>
            <a:endParaRPr sz="1000">
              <a:solidFill>
                <a:schemeClr val="dk1"/>
              </a:solidFill>
            </a:endParaRPr>
          </a:p>
          <a:p>
            <a:pPr marL="0" lvl="0" indent="0" algn="ctr" rtl="0">
              <a:spcBef>
                <a:spcPts val="0"/>
              </a:spcBef>
              <a:spcAft>
                <a:spcPts val="0"/>
              </a:spcAft>
              <a:buNone/>
            </a:pPr>
            <a:r>
              <a:rPr lang="en" sz="1000">
                <a:solidFill>
                  <a:schemeClr val="dk1"/>
                </a:solidFill>
              </a:rPr>
              <a:t>Results</a:t>
            </a:r>
            <a:endParaRPr sz="1000">
              <a:solidFill>
                <a:schemeClr val="dk1"/>
              </a:solidFill>
            </a:endParaRPr>
          </a:p>
          <a:p>
            <a:pPr marL="0" lvl="0" indent="0" algn="l" rtl="0">
              <a:spcBef>
                <a:spcPts val="0"/>
              </a:spcBef>
              <a:spcAft>
                <a:spcPts val="0"/>
              </a:spcAft>
              <a:buNone/>
            </a:pPr>
            <a:endParaRPr sz="1000">
              <a:solidFill>
                <a:schemeClr val="dk1"/>
              </a:solidFill>
            </a:endParaRPr>
          </a:p>
        </p:txBody>
      </p:sp>
      <p:cxnSp>
        <p:nvCxnSpPr>
          <p:cNvPr id="212" name="Google Shape;212;p18"/>
          <p:cNvCxnSpPr/>
          <p:nvPr/>
        </p:nvCxnSpPr>
        <p:spPr>
          <a:xfrm>
            <a:off x="1633250" y="801750"/>
            <a:ext cx="318000" cy="0"/>
          </a:xfrm>
          <a:prstGeom prst="straightConnector1">
            <a:avLst/>
          </a:prstGeom>
          <a:noFill/>
          <a:ln w="19050" cap="flat" cmpd="sng">
            <a:solidFill>
              <a:srgbClr val="3C78D8"/>
            </a:solidFill>
            <a:prstDash val="solid"/>
            <a:round/>
            <a:headEnd type="none" w="med" len="med"/>
            <a:tailEnd type="triangle" w="med" len="med"/>
          </a:ln>
        </p:spPr>
      </p:cxnSp>
      <p:cxnSp>
        <p:nvCxnSpPr>
          <p:cNvPr id="213" name="Google Shape;213;p18"/>
          <p:cNvCxnSpPr/>
          <p:nvPr/>
        </p:nvCxnSpPr>
        <p:spPr>
          <a:xfrm>
            <a:off x="3048700" y="801750"/>
            <a:ext cx="318000" cy="0"/>
          </a:xfrm>
          <a:prstGeom prst="straightConnector1">
            <a:avLst/>
          </a:prstGeom>
          <a:noFill/>
          <a:ln w="19050" cap="flat" cmpd="sng">
            <a:solidFill>
              <a:srgbClr val="3C78D8"/>
            </a:solidFill>
            <a:prstDash val="solid"/>
            <a:round/>
            <a:headEnd type="none" w="med" len="med"/>
            <a:tailEnd type="triangle" w="med" len="med"/>
          </a:ln>
        </p:spPr>
      </p:cxnSp>
      <p:cxnSp>
        <p:nvCxnSpPr>
          <p:cNvPr id="214" name="Google Shape;214;p18"/>
          <p:cNvCxnSpPr/>
          <p:nvPr/>
        </p:nvCxnSpPr>
        <p:spPr>
          <a:xfrm>
            <a:off x="5879600" y="801750"/>
            <a:ext cx="318000" cy="0"/>
          </a:xfrm>
          <a:prstGeom prst="straightConnector1">
            <a:avLst/>
          </a:prstGeom>
          <a:noFill/>
          <a:ln w="19050" cap="flat" cmpd="sng">
            <a:solidFill>
              <a:srgbClr val="3C78D8"/>
            </a:solidFill>
            <a:prstDash val="solid"/>
            <a:round/>
            <a:headEnd type="none" w="med" len="med"/>
            <a:tailEnd type="triangle" w="med" len="med"/>
          </a:ln>
        </p:spPr>
      </p:cxnSp>
      <p:cxnSp>
        <p:nvCxnSpPr>
          <p:cNvPr id="215" name="Google Shape;215;p18"/>
          <p:cNvCxnSpPr/>
          <p:nvPr/>
        </p:nvCxnSpPr>
        <p:spPr>
          <a:xfrm>
            <a:off x="7295050" y="801750"/>
            <a:ext cx="318000" cy="0"/>
          </a:xfrm>
          <a:prstGeom prst="straightConnector1">
            <a:avLst/>
          </a:prstGeom>
          <a:noFill/>
          <a:ln w="19050" cap="flat" cmpd="sng">
            <a:solidFill>
              <a:srgbClr val="FF0000"/>
            </a:solidFill>
            <a:prstDash val="solid"/>
            <a:round/>
            <a:headEnd type="none" w="med" len="med"/>
            <a:tailEnd type="triangle" w="med" len="med"/>
          </a:ln>
        </p:spPr>
      </p:cxnSp>
      <p:cxnSp>
        <p:nvCxnSpPr>
          <p:cNvPr id="216" name="Google Shape;216;p18"/>
          <p:cNvCxnSpPr/>
          <p:nvPr/>
        </p:nvCxnSpPr>
        <p:spPr>
          <a:xfrm>
            <a:off x="2499925" y="1208025"/>
            <a:ext cx="2835600" cy="335700"/>
          </a:xfrm>
          <a:prstGeom prst="bentConnector3">
            <a:avLst>
              <a:gd name="adj1" fmla="val 295"/>
            </a:avLst>
          </a:prstGeom>
          <a:noFill/>
          <a:ln w="19050" cap="flat" cmpd="sng">
            <a:solidFill>
              <a:srgbClr val="3C78D8"/>
            </a:solidFill>
            <a:prstDash val="solid"/>
            <a:round/>
            <a:headEnd type="none" w="med" len="med"/>
            <a:tailEnd type="none" w="med" len="med"/>
          </a:ln>
        </p:spPr>
      </p:cxnSp>
      <p:cxnSp>
        <p:nvCxnSpPr>
          <p:cNvPr id="217" name="Google Shape;217;p18"/>
          <p:cNvCxnSpPr/>
          <p:nvPr/>
        </p:nvCxnSpPr>
        <p:spPr>
          <a:xfrm rot="10800000">
            <a:off x="5330900" y="1204350"/>
            <a:ext cx="12900" cy="347700"/>
          </a:xfrm>
          <a:prstGeom prst="straightConnector1">
            <a:avLst/>
          </a:prstGeom>
          <a:noFill/>
          <a:ln w="19050" cap="flat" cmpd="sng">
            <a:solidFill>
              <a:srgbClr val="3C78D8"/>
            </a:solidFill>
            <a:prstDash val="solid"/>
            <a:round/>
            <a:headEnd type="none" w="med" len="med"/>
            <a:tailEnd type="triangle" w="med" len="med"/>
          </a:ln>
        </p:spPr>
      </p:cxnSp>
      <p:cxnSp>
        <p:nvCxnSpPr>
          <p:cNvPr id="218" name="Google Shape;218;p18"/>
          <p:cNvCxnSpPr/>
          <p:nvPr/>
        </p:nvCxnSpPr>
        <p:spPr>
          <a:xfrm>
            <a:off x="4464150" y="801750"/>
            <a:ext cx="318000" cy="0"/>
          </a:xfrm>
          <a:prstGeom prst="straightConnector1">
            <a:avLst/>
          </a:prstGeom>
          <a:noFill/>
          <a:ln w="19050" cap="flat" cmpd="sng">
            <a:solidFill>
              <a:srgbClr val="FF0000"/>
            </a:solidFill>
            <a:prstDash val="solid"/>
            <a:round/>
            <a:headEnd type="none" w="med" len="med"/>
            <a:tailEnd type="triangle" w="med" len="med"/>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9"/>
          <p:cNvSpPr/>
          <p:nvPr/>
        </p:nvSpPr>
        <p:spPr>
          <a:xfrm>
            <a:off x="2128225" y="1173625"/>
            <a:ext cx="1097400" cy="805200"/>
          </a:xfrm>
          <a:prstGeom prst="round2DiagRect">
            <a:avLst>
              <a:gd name="adj1" fmla="val 16667"/>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rPr>
              <a:t>Patients Samples Inventory</a:t>
            </a:r>
            <a:endParaRPr sz="1000"/>
          </a:p>
        </p:txBody>
      </p:sp>
      <p:sp>
        <p:nvSpPr>
          <p:cNvPr id="224" name="Google Shape;224;p19"/>
          <p:cNvSpPr/>
          <p:nvPr/>
        </p:nvSpPr>
        <p:spPr>
          <a:xfrm>
            <a:off x="5626475" y="1173625"/>
            <a:ext cx="1097400" cy="805200"/>
          </a:xfrm>
          <a:prstGeom prst="round2DiagRect">
            <a:avLst>
              <a:gd name="adj1" fmla="val 16667"/>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rPr>
              <a:t>Reagents Inventory</a:t>
            </a:r>
            <a:endParaRPr sz="1200">
              <a:solidFill>
                <a:schemeClr val="dk1"/>
              </a:solidFill>
            </a:endParaRPr>
          </a:p>
        </p:txBody>
      </p:sp>
      <p:sp>
        <p:nvSpPr>
          <p:cNvPr id="225" name="Google Shape;225;p19"/>
          <p:cNvSpPr/>
          <p:nvPr/>
        </p:nvSpPr>
        <p:spPr>
          <a:xfrm>
            <a:off x="1459075" y="2436275"/>
            <a:ext cx="2457600" cy="15336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91440" lvl="0" indent="0" algn="l" rtl="0">
              <a:spcBef>
                <a:spcPts val="0"/>
              </a:spcBef>
              <a:spcAft>
                <a:spcPts val="0"/>
              </a:spcAft>
              <a:buNone/>
            </a:pPr>
            <a:endParaRPr sz="800" b="1">
              <a:solidFill>
                <a:schemeClr val="dk1"/>
              </a:solidFill>
            </a:endParaRPr>
          </a:p>
          <a:p>
            <a:pPr marL="91440" lvl="0" indent="0" algn="l" rtl="0">
              <a:spcBef>
                <a:spcPts val="0"/>
              </a:spcBef>
              <a:spcAft>
                <a:spcPts val="0"/>
              </a:spcAft>
              <a:buNone/>
            </a:pPr>
            <a:endParaRPr sz="800" b="1">
              <a:solidFill>
                <a:schemeClr val="dk1"/>
              </a:solidFill>
            </a:endParaRPr>
          </a:p>
          <a:p>
            <a:pPr marL="91440" lvl="0" indent="0" algn="l" rtl="0">
              <a:spcBef>
                <a:spcPts val="0"/>
              </a:spcBef>
              <a:spcAft>
                <a:spcPts val="0"/>
              </a:spcAft>
              <a:buNone/>
            </a:pPr>
            <a:endParaRPr sz="800" b="1">
              <a:solidFill>
                <a:schemeClr val="dk1"/>
              </a:solidFill>
            </a:endParaRPr>
          </a:p>
          <a:p>
            <a:pPr marL="91440" lvl="0" indent="0" algn="l" rtl="0">
              <a:spcBef>
                <a:spcPts val="0"/>
              </a:spcBef>
              <a:spcAft>
                <a:spcPts val="0"/>
              </a:spcAft>
              <a:buNone/>
            </a:pPr>
            <a:endParaRPr sz="800" b="1">
              <a:solidFill>
                <a:schemeClr val="dk1"/>
              </a:solidFill>
            </a:endParaRPr>
          </a:p>
          <a:p>
            <a:pPr marL="91440" lvl="0" indent="0" algn="l" rtl="0">
              <a:spcBef>
                <a:spcPts val="0"/>
              </a:spcBef>
              <a:spcAft>
                <a:spcPts val="0"/>
              </a:spcAft>
              <a:buNone/>
            </a:pPr>
            <a:endParaRPr sz="800" b="1">
              <a:solidFill>
                <a:schemeClr val="dk1"/>
              </a:solidFill>
            </a:endParaRPr>
          </a:p>
          <a:p>
            <a:pPr marL="91440" lvl="0" indent="0" algn="l" rtl="0">
              <a:spcBef>
                <a:spcPts val="0"/>
              </a:spcBef>
              <a:spcAft>
                <a:spcPts val="0"/>
              </a:spcAft>
              <a:buClr>
                <a:schemeClr val="dk1"/>
              </a:buClr>
              <a:buSzPts val="1100"/>
              <a:buFont typeface="Arial"/>
              <a:buNone/>
            </a:pPr>
            <a:r>
              <a:rPr lang="en" sz="800" b="1">
                <a:solidFill>
                  <a:schemeClr val="dk1"/>
                </a:solidFill>
              </a:rPr>
              <a:t>Patients Blood Tubes/Aliquots</a:t>
            </a:r>
            <a:endParaRPr sz="800" b="1">
              <a:solidFill>
                <a:schemeClr val="dk1"/>
              </a:solidFill>
            </a:endParaRPr>
          </a:p>
          <a:p>
            <a:pPr marL="91440" lvl="0" indent="0" algn="l" rtl="0">
              <a:spcBef>
                <a:spcPts val="0"/>
              </a:spcBef>
              <a:spcAft>
                <a:spcPts val="0"/>
              </a:spcAft>
              <a:buNone/>
            </a:pPr>
            <a:r>
              <a:rPr lang="en" sz="800" i="1">
                <a:solidFill>
                  <a:schemeClr val="dk1"/>
                </a:solidFill>
              </a:rPr>
              <a:t>Tube Labels </a:t>
            </a:r>
            <a:endParaRPr sz="800" i="1">
              <a:solidFill>
                <a:schemeClr val="dk1"/>
              </a:solidFill>
            </a:endParaRPr>
          </a:p>
          <a:p>
            <a:pPr marL="91440" lvl="0" indent="0" algn="l" rtl="0">
              <a:spcBef>
                <a:spcPts val="0"/>
              </a:spcBef>
              <a:spcAft>
                <a:spcPts val="0"/>
              </a:spcAft>
              <a:buNone/>
            </a:pPr>
            <a:endParaRPr sz="800" i="1">
              <a:solidFill>
                <a:schemeClr val="dk1"/>
              </a:solidFill>
            </a:endParaRPr>
          </a:p>
          <a:p>
            <a:pPr marL="0" lvl="0" indent="0" algn="l" rtl="0">
              <a:spcBef>
                <a:spcPts val="0"/>
              </a:spcBef>
              <a:spcAft>
                <a:spcPts val="0"/>
              </a:spcAft>
              <a:buClr>
                <a:schemeClr val="dk1"/>
              </a:buClr>
              <a:buSzPts val="1100"/>
              <a:buFont typeface="Arial"/>
              <a:buNone/>
            </a:pPr>
            <a:r>
              <a:rPr lang="en" sz="800">
                <a:solidFill>
                  <a:schemeClr val="dk1"/>
                </a:solidFill>
              </a:rPr>
              <a:t>    Keep track of available Patients samples  </a:t>
            </a:r>
            <a:endParaRPr sz="800" i="1">
              <a:solidFill>
                <a:schemeClr val="dk1"/>
              </a:solidFill>
            </a:endParaRPr>
          </a:p>
          <a:p>
            <a:pPr marL="91440" lvl="0" indent="0" algn="l" rtl="0">
              <a:spcBef>
                <a:spcPts val="0"/>
              </a:spcBef>
              <a:spcAft>
                <a:spcPts val="0"/>
              </a:spcAft>
              <a:buNone/>
            </a:pPr>
            <a:endParaRPr sz="800" i="1">
              <a:solidFill>
                <a:schemeClr val="dk1"/>
              </a:solidFill>
            </a:endParaRPr>
          </a:p>
          <a:p>
            <a:pPr marL="91440" lvl="0" indent="0" algn="l" rtl="0">
              <a:spcBef>
                <a:spcPts val="0"/>
              </a:spcBef>
              <a:spcAft>
                <a:spcPts val="0"/>
              </a:spcAft>
              <a:buNone/>
            </a:pPr>
            <a:endParaRPr sz="800" i="1">
              <a:solidFill>
                <a:schemeClr val="dk1"/>
              </a:solidFill>
            </a:endParaRPr>
          </a:p>
          <a:p>
            <a:pPr marL="0" lvl="0" indent="0" algn="l" rtl="0">
              <a:spcBef>
                <a:spcPts val="0"/>
              </a:spcBef>
              <a:spcAft>
                <a:spcPts val="0"/>
              </a:spcAft>
              <a:buNone/>
            </a:pPr>
            <a:endParaRPr sz="800"/>
          </a:p>
        </p:txBody>
      </p:sp>
      <p:sp>
        <p:nvSpPr>
          <p:cNvPr id="226" name="Google Shape;226;p19"/>
          <p:cNvSpPr/>
          <p:nvPr/>
        </p:nvSpPr>
        <p:spPr>
          <a:xfrm>
            <a:off x="1661875" y="2436275"/>
            <a:ext cx="1068000" cy="243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t>4°C</a:t>
            </a:r>
            <a:endParaRPr sz="1200" b="1"/>
          </a:p>
        </p:txBody>
      </p:sp>
      <p:sp>
        <p:nvSpPr>
          <p:cNvPr id="227" name="Google Shape;227;p19"/>
          <p:cNvSpPr/>
          <p:nvPr/>
        </p:nvSpPr>
        <p:spPr>
          <a:xfrm>
            <a:off x="2665875" y="2436275"/>
            <a:ext cx="1068000" cy="243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t>-</a:t>
            </a:r>
            <a:r>
              <a:rPr lang="en" sz="1200" b="1">
                <a:solidFill>
                  <a:schemeClr val="dk1"/>
                </a:solidFill>
              </a:rPr>
              <a:t>20°C</a:t>
            </a:r>
            <a:endParaRPr sz="1200" b="1"/>
          </a:p>
        </p:txBody>
      </p:sp>
      <p:sp>
        <p:nvSpPr>
          <p:cNvPr id="228" name="Google Shape;228;p19"/>
          <p:cNvSpPr/>
          <p:nvPr/>
        </p:nvSpPr>
        <p:spPr>
          <a:xfrm>
            <a:off x="4979325" y="2436275"/>
            <a:ext cx="2457600" cy="15336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91440" lvl="0" indent="0" algn="l" rtl="0">
              <a:spcBef>
                <a:spcPts val="0"/>
              </a:spcBef>
              <a:spcAft>
                <a:spcPts val="0"/>
              </a:spcAft>
              <a:buNone/>
            </a:pPr>
            <a:endParaRPr sz="800" b="1">
              <a:solidFill>
                <a:schemeClr val="dk1"/>
              </a:solidFill>
            </a:endParaRPr>
          </a:p>
          <a:p>
            <a:pPr marL="91440" lvl="0" indent="0" algn="l" rtl="0">
              <a:spcBef>
                <a:spcPts val="0"/>
              </a:spcBef>
              <a:spcAft>
                <a:spcPts val="0"/>
              </a:spcAft>
              <a:buNone/>
            </a:pPr>
            <a:endParaRPr sz="800" b="1">
              <a:solidFill>
                <a:schemeClr val="dk1"/>
              </a:solidFill>
            </a:endParaRPr>
          </a:p>
          <a:p>
            <a:pPr marL="91440" lvl="0" indent="0" algn="l" rtl="0">
              <a:spcBef>
                <a:spcPts val="0"/>
              </a:spcBef>
              <a:spcAft>
                <a:spcPts val="0"/>
              </a:spcAft>
              <a:buNone/>
            </a:pPr>
            <a:endParaRPr sz="800" b="1">
              <a:solidFill>
                <a:schemeClr val="dk1"/>
              </a:solidFill>
            </a:endParaRPr>
          </a:p>
          <a:p>
            <a:pPr marL="91440" lvl="0" indent="0" algn="l" rtl="0">
              <a:spcBef>
                <a:spcPts val="0"/>
              </a:spcBef>
              <a:spcAft>
                <a:spcPts val="0"/>
              </a:spcAft>
              <a:buNone/>
            </a:pPr>
            <a:endParaRPr sz="800" b="1">
              <a:solidFill>
                <a:schemeClr val="dk1"/>
              </a:solidFill>
            </a:endParaRPr>
          </a:p>
          <a:p>
            <a:pPr marL="91440" lvl="0" indent="0" algn="l" rtl="0">
              <a:spcBef>
                <a:spcPts val="0"/>
              </a:spcBef>
              <a:spcAft>
                <a:spcPts val="0"/>
              </a:spcAft>
              <a:buNone/>
            </a:pPr>
            <a:endParaRPr sz="800" b="1">
              <a:solidFill>
                <a:schemeClr val="dk1"/>
              </a:solidFill>
            </a:endParaRPr>
          </a:p>
          <a:p>
            <a:pPr marL="91440" lvl="0" indent="0" algn="l" rtl="0">
              <a:spcBef>
                <a:spcPts val="0"/>
              </a:spcBef>
              <a:spcAft>
                <a:spcPts val="0"/>
              </a:spcAft>
              <a:buNone/>
            </a:pPr>
            <a:r>
              <a:rPr lang="en" sz="800" b="1">
                <a:solidFill>
                  <a:schemeClr val="dk1"/>
                </a:solidFill>
              </a:rPr>
              <a:t>Reagents</a:t>
            </a:r>
            <a:endParaRPr sz="800" b="1">
              <a:solidFill>
                <a:schemeClr val="dk1"/>
              </a:solidFill>
            </a:endParaRPr>
          </a:p>
          <a:p>
            <a:pPr marL="91440" lvl="0" indent="0" algn="l" rtl="0">
              <a:spcBef>
                <a:spcPts val="0"/>
              </a:spcBef>
              <a:spcAft>
                <a:spcPts val="0"/>
              </a:spcAft>
              <a:buNone/>
            </a:pPr>
            <a:r>
              <a:rPr lang="en" sz="800" i="1">
                <a:solidFill>
                  <a:schemeClr val="dk1"/>
                </a:solidFill>
              </a:rPr>
              <a:t>Name / Catalog Number / Vendor </a:t>
            </a:r>
            <a:endParaRPr sz="800" i="1">
              <a:solidFill>
                <a:schemeClr val="dk1"/>
              </a:solidFill>
            </a:endParaRPr>
          </a:p>
          <a:p>
            <a:pPr marL="91440" lvl="0" indent="0" algn="l" rtl="0">
              <a:spcBef>
                <a:spcPts val="0"/>
              </a:spcBef>
              <a:spcAft>
                <a:spcPts val="0"/>
              </a:spcAft>
              <a:buNone/>
            </a:pPr>
            <a:r>
              <a:rPr lang="en" sz="800" i="1">
                <a:solidFill>
                  <a:schemeClr val="dk1"/>
                </a:solidFill>
              </a:rPr>
              <a:t>Lot Number / Expiration Date</a:t>
            </a:r>
            <a:endParaRPr sz="800" i="1">
              <a:solidFill>
                <a:schemeClr val="dk1"/>
              </a:solidFill>
            </a:endParaRPr>
          </a:p>
          <a:p>
            <a:pPr marL="91440" lvl="0" indent="0" algn="l" rtl="0">
              <a:spcBef>
                <a:spcPts val="0"/>
              </a:spcBef>
              <a:spcAft>
                <a:spcPts val="0"/>
              </a:spcAft>
              <a:buNone/>
            </a:pPr>
            <a:r>
              <a:rPr lang="en" sz="800" i="1">
                <a:solidFill>
                  <a:schemeClr val="dk1"/>
                </a:solidFill>
              </a:rPr>
              <a:t>Volume Available</a:t>
            </a:r>
            <a:endParaRPr sz="800" i="1">
              <a:solidFill>
                <a:schemeClr val="dk1"/>
              </a:solidFill>
            </a:endParaRPr>
          </a:p>
          <a:p>
            <a:pPr marL="91440" lvl="0" indent="0" algn="l" rtl="0">
              <a:spcBef>
                <a:spcPts val="0"/>
              </a:spcBef>
              <a:spcAft>
                <a:spcPts val="0"/>
              </a:spcAft>
              <a:buNone/>
            </a:pPr>
            <a:endParaRPr sz="800" i="1">
              <a:solidFill>
                <a:schemeClr val="dk1"/>
              </a:solidFill>
            </a:endParaRPr>
          </a:p>
          <a:p>
            <a:pPr marL="0" lvl="0" indent="0" algn="l" rtl="0">
              <a:spcBef>
                <a:spcPts val="0"/>
              </a:spcBef>
              <a:spcAft>
                <a:spcPts val="0"/>
              </a:spcAft>
              <a:buNone/>
            </a:pPr>
            <a:r>
              <a:rPr lang="en" sz="800">
                <a:solidFill>
                  <a:schemeClr val="dk1"/>
                </a:solidFill>
              </a:rPr>
              <a:t>    Keep track of available Reagents  </a:t>
            </a:r>
            <a:endParaRPr sz="800" i="1">
              <a:solidFill>
                <a:schemeClr val="dk1"/>
              </a:solidFill>
            </a:endParaRPr>
          </a:p>
          <a:p>
            <a:pPr marL="91440" lvl="0" indent="0" algn="l" rtl="0">
              <a:spcBef>
                <a:spcPts val="0"/>
              </a:spcBef>
              <a:spcAft>
                <a:spcPts val="0"/>
              </a:spcAft>
              <a:buNone/>
            </a:pPr>
            <a:endParaRPr sz="800" i="1">
              <a:solidFill>
                <a:schemeClr val="dk1"/>
              </a:solidFill>
            </a:endParaRPr>
          </a:p>
          <a:p>
            <a:pPr marL="0" lvl="0" indent="0" algn="l" rtl="0">
              <a:spcBef>
                <a:spcPts val="0"/>
              </a:spcBef>
              <a:spcAft>
                <a:spcPts val="0"/>
              </a:spcAft>
              <a:buNone/>
            </a:pPr>
            <a:endParaRPr sz="800"/>
          </a:p>
        </p:txBody>
      </p:sp>
      <p:sp>
        <p:nvSpPr>
          <p:cNvPr id="229" name="Google Shape;229;p19"/>
          <p:cNvSpPr/>
          <p:nvPr/>
        </p:nvSpPr>
        <p:spPr>
          <a:xfrm>
            <a:off x="5182125" y="2436275"/>
            <a:ext cx="1004100" cy="243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t>4°C</a:t>
            </a:r>
            <a:endParaRPr sz="1200" b="1"/>
          </a:p>
        </p:txBody>
      </p:sp>
      <p:sp>
        <p:nvSpPr>
          <p:cNvPr id="230" name="Google Shape;230;p19"/>
          <p:cNvSpPr/>
          <p:nvPr/>
        </p:nvSpPr>
        <p:spPr>
          <a:xfrm>
            <a:off x="6186125" y="2436275"/>
            <a:ext cx="1068000" cy="243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t>-</a:t>
            </a:r>
            <a:r>
              <a:rPr lang="en" sz="1200" b="1">
                <a:solidFill>
                  <a:schemeClr val="dk1"/>
                </a:solidFill>
              </a:rPr>
              <a:t>20°C</a:t>
            </a:r>
            <a:endParaRPr sz="1200" b="1"/>
          </a:p>
        </p:txBody>
      </p:sp>
      <p:cxnSp>
        <p:nvCxnSpPr>
          <p:cNvPr id="231" name="Google Shape;231;p19"/>
          <p:cNvCxnSpPr>
            <a:stCxn id="223" idx="1"/>
            <a:endCxn id="227" idx="1"/>
          </p:cNvCxnSpPr>
          <p:nvPr/>
        </p:nvCxnSpPr>
        <p:spPr>
          <a:xfrm flipH="1">
            <a:off x="2665825" y="1978825"/>
            <a:ext cx="11100" cy="579000"/>
          </a:xfrm>
          <a:prstGeom prst="straightConnector1">
            <a:avLst/>
          </a:prstGeom>
          <a:noFill/>
          <a:ln w="9525" cap="flat" cmpd="sng">
            <a:solidFill>
              <a:schemeClr val="dk2"/>
            </a:solidFill>
            <a:prstDash val="solid"/>
            <a:round/>
            <a:headEnd type="none" w="med" len="med"/>
            <a:tailEnd type="none" w="med" len="med"/>
          </a:ln>
        </p:spPr>
      </p:cxnSp>
      <p:cxnSp>
        <p:nvCxnSpPr>
          <p:cNvPr id="232" name="Google Shape;232;p19"/>
          <p:cNvCxnSpPr>
            <a:stCxn id="224" idx="1"/>
            <a:endCxn id="230" idx="1"/>
          </p:cNvCxnSpPr>
          <p:nvPr/>
        </p:nvCxnSpPr>
        <p:spPr>
          <a:xfrm>
            <a:off x="6175175" y="1978825"/>
            <a:ext cx="11100" cy="57900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M1: Data Sources Integrated</a:t>
            </a:r>
          </a:p>
        </p:txBody>
      </p:sp>
      <p:sp>
        <p:nvSpPr>
          <p:cNvPr id="3" name="Text Placeholder 2"/>
          <p:cNvSpPr>
            <a:spLocks noGrp="1"/>
          </p:cNvSpPr>
          <p:nvPr>
            <p:ph type="body" idx="1"/>
          </p:nvPr>
        </p:nvSpPr>
        <p:spPr/>
        <p:txBody>
          <a:bodyPr/>
          <a:lstStyle/>
          <a:p/>
          <a:p>
            <a:pPr/>
            <a:r>
              <a:t>NHANES 2017–2020: 5,090 samples (USA)</a:t>
            </a:r>
          </a:p>
          <a:p>
            <a:pPr/>
            <a:r>
              <a:t>NHANES 2021–2023: 3,996 samples (USA)</a:t>
            </a:r>
          </a:p>
          <a:p>
            <a:pPr/>
            <a:r>
              <a:t>CHNS 2009: 9,549 samples (China)</a:t>
            </a:r>
          </a:p>
          <a:p>
            <a:pPr/>
            <a:r>
              <a:t>Frankfurt: 2,000 samples (excluded from HOMA)</a:t>
            </a:r>
          </a:p>
          <a:p>
            <a:pPr/>
            <a:r>
              <a:t>DiaBD: 1,065 samples (excluded from HOMA)</a:t>
            </a:r>
          </a:p>
          <a:p>
            <a:pPr/>
            <a:r>
              <a:t>Total: 21,700 samples across 2 countries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M1: Key Statistics</a:t>
            </a:r>
          </a:p>
        </p:txBody>
      </p:sp>
      <p:sp>
        <p:nvSpPr>
          <p:cNvPr id="3" name="Text Placeholder 2"/>
          <p:cNvSpPr>
            <a:spLocks noGrp="1"/>
          </p:cNvSpPr>
          <p:nvPr>
            <p:ph type="body" idx="1"/>
          </p:nvPr>
        </p:nvSpPr>
        <p:spPr/>
        <p:txBody>
          <a:bodyPr/>
          <a:lstStyle/>
          <a:p/>
          <a:p>
            <a:pPr/>
            <a:r>
              <a:t>Total samples: 21,700</a:t>
            </a:r>
          </a:p>
          <a:p>
            <a:pPr/>
            <a:r>
              <a:t>HOMA-eligible samples: 18,635</a:t>
            </a:r>
          </a:p>
          <a:p>
            <a:pPr/>
            <a:r>
              <a:t>Countries: 2 (USA, China)</a:t>
            </a:r>
          </a:p>
          <a:p>
            <a:pPr/>
            <a:r>
              <a:t>Variables: 22</a:t>
            </a:r>
          </a:p>
          <a:p>
            <a:pPr/>
            <a:r>
              <a:t>Diabetes prevalence: ~20% overall</a:t>
            </a:r>
          </a:p>
          <a:p>
            <a:pPr/>
            <a:r>
              <a:t>Age range: 7–86 years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M1: Transfer Learning Dataset</a:t>
            </a:r>
          </a:p>
        </p:txBody>
      </p:sp>
      <p:sp>
        <p:nvSpPr>
          <p:cNvPr id="3" name="Text Placeholder 2"/>
          <p:cNvSpPr>
            <a:spLocks noGrp="1"/>
          </p:cNvSpPr>
          <p:nvPr>
            <p:ph type="body" idx="1"/>
          </p:nvPr>
        </p:nvSpPr>
        <p:spPr/>
        <p:txBody>
          <a:bodyPr/>
          <a:lstStyle/>
          <a:p/>
          <a:p>
            <a:pPr/>
            <a:r>
              <a:t>Cross-population validation ready</a:t>
            </a:r>
          </a:p>
          <a:p>
            <a:pPr/>
            <a:r>
              <a:t>USA (NHANES): 9,086 HOMA samples</a:t>
            </a:r>
          </a:p>
          <a:p>
            <a:pPr/>
            <a:r>
              <a:t>China (CHNS): 9,549 HOMA samples</a:t>
            </a:r>
          </a:p>
          <a:p>
            <a:pPr/>
            <a:r>
              <a:t>Benefits:</a:t>
            </a:r>
          </a:p>
          <a:p>
            <a:pPr lvl="1"/>
            <a:r>
              <a:t>• Test generalization across ethnicities</a:t>
            </a:r>
          </a:p>
          <a:p>
            <a:pPr lvl="1"/>
            <a:r>
              <a:t>• Validate across dietary patterns</a:t>
            </a:r>
          </a:p>
          <a:p>
            <a:pPr lvl="1"/>
            <a:r>
              <a:t>• Robust to population differences</a:t>
            </a:r>
          </a:p>
          <a:p>
            <a:pPr lvl="1"/>
            <a:r>
              <a:t>• Strong foundation for methylation integration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M1: Deliverables</a:t>
            </a:r>
          </a:p>
        </p:txBody>
      </p:sp>
      <p:sp>
        <p:nvSpPr>
          <p:cNvPr id="3" name="Text Placeholder 2"/>
          <p:cNvSpPr>
            <a:spLocks noGrp="1"/>
          </p:cNvSpPr>
          <p:nvPr>
            <p:ph type="body" idx="1"/>
          </p:nvPr>
        </p:nvSpPr>
        <p:spPr/>
        <p:txBody>
          <a:bodyPr/>
          <a:lstStyle/>
          <a:p/>
          <a:p>
            <a:pPr/>
            <a:r>
              <a:t>✓ Cross-population dataset (21,700 samples, 2 countries)</a:t>
            </a:r>
          </a:p>
          <a:p>
            <a:pPr/>
            <a:r>
              <a:t>✓ HOMA-eligible samples (18,635)</a:t>
            </a:r>
          </a:p>
          <a:p>
            <a:pPr/>
            <a:r>
              <a:t>✓ ETL pipeline code</a:t>
            </a:r>
          </a:p>
          <a:p>
            <a:pPr/>
            <a:r>
              <a:t>✓ Data exploration notebook</a:t>
            </a:r>
          </a:p>
          <a:p>
            <a:pPr/>
            <a:r>
              <a:t>✓ Comprehensive documentation</a:t>
            </a:r>
          </a:p>
          <a:p>
            <a:pPr/>
            <a:r>
              <a:t>✓ HIPAA compliance package</a:t>
            </a:r>
          </a:p>
          <a:p>
            <a:pPr/>
            <a:r>
              <a:t>✓ Quality validation report</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TotalTime>
  <Words>2384</Words>
  <Application>Microsoft Macintosh PowerPoint</Application>
  <PresentationFormat>On-screen Show (16:9)</PresentationFormat>
  <Paragraphs>563</Paragraphs>
  <Slides>22</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Courier New</vt:lpstr>
      <vt:lpstr>Simple Light</vt:lpstr>
      <vt:lpstr>  Data Workflow Overview  October 2025</vt:lpstr>
      <vt:lpstr>Network Scheme</vt:lpstr>
      <vt:lpstr>PowerPoint Presentation</vt:lpstr>
      <vt:lpstr>I/O</vt:lpstr>
      <vt:lpstr>PowerPoint Presentation</vt:lpstr>
      <vt:lpstr>LIS Workflow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ddPCR Workflow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Clifford Morris PhD</cp:lastModifiedBy>
  <cp:revision>6</cp:revision>
  <dcterms:modified xsi:type="dcterms:W3CDTF">2025-10-15T15:55:06Z</dcterms:modified>
</cp:coreProperties>
</file>